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39"/>
  </p:notesMasterIdLst>
  <p:handoutMasterIdLst>
    <p:handoutMasterId r:id="rId40"/>
  </p:handoutMasterIdLst>
  <p:sldIdLst>
    <p:sldId id="1581" r:id="rId5"/>
    <p:sldId id="1658" r:id="rId6"/>
    <p:sldId id="1582" r:id="rId7"/>
    <p:sldId id="1606" r:id="rId8"/>
    <p:sldId id="1659" r:id="rId9"/>
    <p:sldId id="1795" r:id="rId10"/>
    <p:sldId id="1796" r:id="rId11"/>
    <p:sldId id="1797" r:id="rId12"/>
    <p:sldId id="1798" r:id="rId13"/>
    <p:sldId id="1799" r:id="rId14"/>
    <p:sldId id="1800" r:id="rId15"/>
    <p:sldId id="1801" r:id="rId16"/>
    <p:sldId id="1802" r:id="rId17"/>
    <p:sldId id="1803" r:id="rId18"/>
    <p:sldId id="1804" r:id="rId19"/>
    <p:sldId id="1805" r:id="rId20"/>
    <p:sldId id="1806" r:id="rId21"/>
    <p:sldId id="1807" r:id="rId22"/>
    <p:sldId id="1808" r:id="rId23"/>
    <p:sldId id="1809" r:id="rId24"/>
    <p:sldId id="1810" r:id="rId25"/>
    <p:sldId id="1811" r:id="rId26"/>
    <p:sldId id="1812" r:id="rId27"/>
    <p:sldId id="1813" r:id="rId28"/>
    <p:sldId id="1814" r:id="rId29"/>
    <p:sldId id="1815" r:id="rId30"/>
    <p:sldId id="1816" r:id="rId31"/>
    <p:sldId id="1817" r:id="rId32"/>
    <p:sldId id="1818" r:id="rId33"/>
    <p:sldId id="1819" r:id="rId34"/>
    <p:sldId id="1820" r:id="rId35"/>
    <p:sldId id="1822" r:id="rId36"/>
    <p:sldId id="1823" r:id="rId37"/>
    <p:sldId id="179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8243A8-1F8C-B347-9547-04F49B718BDF}" name="Nemanja Stojanovic" initials="NS" userId="S::nemanja.s.s.s@elfak.rs::b56fb17b-455b-44be-9697-035d4a4f96f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A3AC0"/>
    <a:srgbClr val="376092"/>
    <a:srgbClr val="5C4BC5"/>
    <a:srgbClr val="5867F6"/>
    <a:srgbClr val="0A1BBE"/>
    <a:srgbClr val="0066CC"/>
    <a:srgbClr val="081592"/>
    <a:srgbClr val="192EF3"/>
    <a:srgbClr val="2F40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AFA65-D11F-1604-F17C-067834ED342E}" v="1338" dt="2026-07-08T20:45:31.077"/>
    <p1510:client id="{34879363-CC0F-6B38-B56A-6F161E1D8B50}" v="1078" dt="2026-07-07T23:19:35.725"/>
    <p1510:client id="{C6BE8D90-9EDC-9303-270B-B02E648A1437}" v="14" dt="2026-07-07T12:39:11.4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96374" autoAdjust="0"/>
  </p:normalViewPr>
  <p:slideViewPr>
    <p:cSldViewPr>
      <p:cViewPr varScale="1">
        <p:scale>
          <a:sx n="73" d="100"/>
          <a:sy n="73" d="100"/>
        </p:scale>
        <p:origin x="1172" y="44"/>
      </p:cViewPr>
      <p:guideLst>
        <p:guide orient="horz" pos="2160"/>
        <p:guide pos="2880"/>
      </p:guideLst>
    </p:cSldViewPr>
  </p:slideViewPr>
  <p:outlineViewPr>
    <p:cViewPr>
      <p:scale>
        <a:sx n="33" d="100"/>
        <a:sy n="33" d="100"/>
      </p:scale>
      <p:origin x="0" y="-5718"/>
    </p:cViewPr>
  </p:outlineViewPr>
  <p:notesTextViewPr>
    <p:cViewPr>
      <p:scale>
        <a:sx n="1" d="1"/>
        <a:sy n="1" d="1"/>
      </p:scale>
      <p:origin x="0" y="0"/>
    </p:cViewPr>
  </p:notesTextViewPr>
  <p:notesViewPr>
    <p:cSldViewPr>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D069BB1-D03D-4AE9-8879-A2C9D24ADD23}" type="datetimeFigureOut">
              <a:rPr lang="en-GB" smtClean="0"/>
              <a:t>08/07/2026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22656A-7F69-4A44-87E6-AD76825CE2AF}" type="slidenum">
              <a:rPr lang="en-GB" smtClean="0"/>
              <a:t>‹#›</a:t>
            </a:fld>
            <a:endParaRPr lang="en-GB"/>
          </a:p>
        </p:txBody>
      </p:sp>
    </p:spTree>
    <p:extLst>
      <p:ext uri="{BB962C8B-B14F-4D97-AF65-F5344CB8AC3E}">
        <p14:creationId xmlns:p14="http://schemas.microsoft.com/office/powerpoint/2010/main" val="556629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44FCA0-EB00-4933-A092-B175FFE8760D}" type="datetimeFigureOut">
              <a:rPr lang="en-GB" smtClean="0"/>
              <a:t>08/07/2026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E0F6D8F-52A4-4325-8831-5D637055B7D3}" type="slidenum">
              <a:rPr lang="en-GB" smtClean="0"/>
              <a:t>‹#›</a:t>
            </a:fld>
            <a:endParaRPr lang="en-GB"/>
          </a:p>
        </p:txBody>
      </p:sp>
    </p:spTree>
    <p:extLst>
      <p:ext uri="{BB962C8B-B14F-4D97-AF65-F5344CB8AC3E}">
        <p14:creationId xmlns:p14="http://schemas.microsoft.com/office/powerpoint/2010/main" val="306302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a:t>
            </a:r>
            <a:r>
              <a:rPr lang="en-US" dirty="0" err="1"/>
              <a:t>овог</a:t>
            </a:r>
            <a:r>
              <a:rPr lang="en-US" dirty="0"/>
              <a:t> </a:t>
            </a:r>
            <a:r>
              <a:rPr lang="en-US" dirty="0" err="1"/>
              <a:t>рада</a:t>
            </a:r>
            <a:r>
              <a:rPr lang="en-US" dirty="0"/>
              <a:t> </a:t>
            </a:r>
            <a:r>
              <a:rPr lang="en-US" dirty="0" err="1"/>
              <a:t>је</a:t>
            </a:r>
            <a:r>
              <a:rPr lang="en-US" dirty="0"/>
              <a:t> </a:t>
            </a:r>
            <a:r>
              <a:rPr lang="en-US" dirty="0" err="1"/>
              <a:t>ChatTTS</a:t>
            </a:r>
            <a:r>
              <a:rPr lang="en-US" dirty="0"/>
              <a:t>. </a:t>
            </a:r>
            <a:r>
              <a:rPr lang="en-US" dirty="0" err="1"/>
              <a:t>Најпре</a:t>
            </a:r>
            <a:r>
              <a:rPr lang="en-US" dirty="0"/>
              <a:t> </a:t>
            </a:r>
            <a:r>
              <a:rPr lang="en-US" dirty="0" err="1"/>
              <a:t>ћу</a:t>
            </a:r>
            <a:r>
              <a:rPr lang="en-US" dirty="0"/>
              <a:t> </a:t>
            </a:r>
            <a:r>
              <a:rPr lang="en-US" dirty="0" err="1"/>
              <a:t>показати</a:t>
            </a:r>
            <a:r>
              <a:rPr lang="en-US" dirty="0"/>
              <a:t> </a:t>
            </a:r>
            <a:r>
              <a:rPr lang="en-US" dirty="0" err="1"/>
              <a:t>како</a:t>
            </a:r>
            <a:r>
              <a:rPr lang="en-US" dirty="0"/>
              <a:t> </a:t>
            </a:r>
            <a:r>
              <a:rPr lang="en-US" dirty="0" err="1"/>
              <a:t>систем</a:t>
            </a:r>
            <a:r>
              <a:rPr lang="en-US" dirty="0"/>
              <a:t> </a:t>
            </a:r>
            <a:r>
              <a:rPr lang="en-US" dirty="0" err="1"/>
              <a:t>генерише</a:t>
            </a:r>
            <a:r>
              <a:rPr lang="en-US" dirty="0"/>
              <a:t> </a:t>
            </a:r>
            <a:r>
              <a:rPr lang="en-US" dirty="0" err="1"/>
              <a:t>говор</a:t>
            </a:r>
            <a:r>
              <a:rPr lang="en-US" dirty="0"/>
              <a:t>, а </a:t>
            </a:r>
            <a:r>
              <a:rPr lang="en-US" dirty="0" err="1"/>
              <a:t>затим</a:t>
            </a:r>
            <a:r>
              <a:rPr lang="en-US" dirty="0"/>
              <a:t> и </a:t>
            </a:r>
            <a:r>
              <a:rPr lang="en-US" dirty="0" err="1"/>
              <a:t>шта</a:t>
            </a:r>
            <a:r>
              <a:rPr lang="en-US" dirty="0"/>
              <a:t> </a:t>
            </a:r>
            <a:r>
              <a:rPr lang="en-US" dirty="0" err="1"/>
              <a:t>се</a:t>
            </a:r>
            <a:r>
              <a:rPr lang="en-US" dirty="0"/>
              <a:t> </a:t>
            </a:r>
            <a:r>
              <a:rPr lang="en-US" dirty="0" err="1"/>
              <a:t>догодило</a:t>
            </a:r>
            <a:r>
              <a:rPr lang="en-US" dirty="0"/>
              <a:t> </a:t>
            </a:r>
            <a:r>
              <a:rPr lang="en-US" dirty="0" err="1"/>
              <a:t>када</a:t>
            </a:r>
            <a:r>
              <a:rPr lang="en-US" dirty="0"/>
              <a:t> </a:t>
            </a:r>
            <a:r>
              <a:rPr lang="en-US" dirty="0" err="1"/>
              <a:t>сам</a:t>
            </a:r>
            <a:r>
              <a:rPr lang="en-US" dirty="0"/>
              <a:t> </a:t>
            </a:r>
            <a:r>
              <a:rPr lang="en-US" dirty="0" err="1"/>
              <a:t>мењао</a:t>
            </a:r>
            <a:r>
              <a:rPr lang="en-US" dirty="0"/>
              <a:t> </a:t>
            </a:r>
            <a:r>
              <a:rPr lang="en-US" dirty="0" err="1"/>
              <a:t>дужину</a:t>
            </a:r>
            <a:r>
              <a:rPr lang="en-US" dirty="0"/>
              <a:t>, </a:t>
            </a:r>
            <a:r>
              <a:rPr lang="en-US" dirty="0" err="1"/>
              <a:t>стил</a:t>
            </a:r>
            <a:r>
              <a:rPr lang="en-US" dirty="0"/>
              <a:t> и </a:t>
            </a:r>
            <a:r>
              <a:rPr lang="en-US" dirty="0" err="1"/>
              <a:t>језик</a:t>
            </a:r>
            <a:r>
              <a:rPr lang="en-US" dirty="0"/>
              <a:t> </a:t>
            </a:r>
            <a:r>
              <a:rPr lang="en-US" dirty="0" err="1"/>
              <a:t>текста</a:t>
            </a:r>
            <a:r>
              <a:rPr lang="en-US" dirty="0"/>
              <a:t>. </a:t>
            </a:r>
            <a:r>
              <a:rPr lang="en-US" dirty="0" err="1"/>
              <a:t>Нагласак</a:t>
            </a:r>
            <a:r>
              <a:rPr lang="en-US" dirty="0"/>
              <a:t> </a:t>
            </a:r>
            <a:r>
              <a:rPr lang="en-US" dirty="0" err="1"/>
              <a:t>је</a:t>
            </a:r>
            <a:r>
              <a:rPr lang="en-US" dirty="0"/>
              <a:t> </a:t>
            </a:r>
            <a:r>
              <a:rPr lang="en-US" dirty="0" err="1"/>
              <a:t>на</a:t>
            </a:r>
            <a:r>
              <a:rPr lang="en-US" dirty="0"/>
              <a:t> </a:t>
            </a:r>
            <a:r>
              <a:rPr lang="en-US" dirty="0" err="1"/>
              <a:t>томе</a:t>
            </a:r>
            <a:r>
              <a:rPr lang="en-US" dirty="0"/>
              <a:t> </a:t>
            </a:r>
            <a:r>
              <a:rPr lang="en-US" dirty="0" err="1"/>
              <a:t>да</a:t>
            </a:r>
            <a:r>
              <a:rPr lang="en-US" dirty="0"/>
              <a:t> </a:t>
            </a:r>
            <a:r>
              <a:rPr lang="en-US" dirty="0" err="1"/>
              <a:t>се</a:t>
            </a:r>
            <a:r>
              <a:rPr lang="en-US" dirty="0"/>
              <a:t> </a:t>
            </a:r>
            <a:r>
              <a:rPr lang="en-US" dirty="0" err="1"/>
              <a:t>не</a:t>
            </a:r>
            <a:r>
              <a:rPr lang="en-US" dirty="0"/>
              <a:t> </a:t>
            </a:r>
            <a:r>
              <a:rPr lang="en-US" dirty="0" err="1"/>
              <a:t>приказује</a:t>
            </a:r>
            <a:r>
              <a:rPr lang="en-US" dirty="0"/>
              <a:t> </a:t>
            </a:r>
            <a:r>
              <a:rPr lang="en-US" dirty="0" err="1"/>
              <a:t>само</a:t>
            </a:r>
            <a:r>
              <a:rPr lang="en-US" dirty="0"/>
              <a:t> </a:t>
            </a:r>
            <a:r>
              <a:rPr lang="en-US" dirty="0" err="1"/>
              <a:t>модел</a:t>
            </a:r>
            <a:r>
              <a:rPr lang="en-US" dirty="0"/>
              <a:t>, </a:t>
            </a:r>
            <a:r>
              <a:rPr lang="en-US" dirty="0" err="1"/>
              <a:t>већ</a:t>
            </a:r>
            <a:r>
              <a:rPr lang="en-US" dirty="0"/>
              <a:t> </a:t>
            </a:r>
            <a:r>
              <a:rPr lang="en-US" dirty="0" err="1"/>
              <a:t>цела</a:t>
            </a:r>
            <a:r>
              <a:rPr lang="en-US" dirty="0"/>
              <a:t> </a:t>
            </a:r>
            <a:r>
              <a:rPr lang="en-US" dirty="0" err="1"/>
              <a:t>мала</a:t>
            </a:r>
            <a:r>
              <a:rPr lang="en-US" dirty="0"/>
              <a:t> </a:t>
            </a:r>
            <a:r>
              <a:rPr lang="en-US" dirty="0" err="1"/>
              <a:t>студија</a:t>
            </a:r>
            <a:r>
              <a:rPr lang="en-US" dirty="0"/>
              <a:t>: </a:t>
            </a:r>
            <a:r>
              <a:rPr lang="en-US" dirty="0" err="1"/>
              <a:t>од</a:t>
            </a:r>
            <a:r>
              <a:rPr lang="en-US" dirty="0"/>
              <a:t> </a:t>
            </a:r>
            <a:r>
              <a:rPr lang="en-US" dirty="0" err="1"/>
              <a:t>начина</a:t>
            </a:r>
            <a:r>
              <a:rPr lang="en-US" dirty="0"/>
              <a:t> </a:t>
            </a:r>
            <a:r>
              <a:rPr lang="en-US" dirty="0" err="1"/>
              <a:t>синтезе</a:t>
            </a:r>
            <a:r>
              <a:rPr lang="en-US" dirty="0"/>
              <a:t> </a:t>
            </a:r>
            <a:r>
              <a:rPr lang="en-US" dirty="0" err="1"/>
              <a:t>до</a:t>
            </a:r>
            <a:r>
              <a:rPr lang="en-US" dirty="0"/>
              <a:t> </a:t>
            </a:r>
            <a:r>
              <a:rPr lang="en-US" dirty="0" err="1"/>
              <a:t>мерења</a:t>
            </a:r>
            <a:r>
              <a:rPr lang="en-US" dirty="0"/>
              <a:t> </a:t>
            </a:r>
            <a:r>
              <a:rPr lang="en-US" dirty="0" err="1"/>
              <a:t>квалитета</a:t>
            </a:r>
            <a:r>
              <a:rPr lang="en-US" dirty="0"/>
              <a:t> </a:t>
            </a:r>
            <a:r>
              <a:rPr lang="en-US" dirty="0" err="1"/>
              <a:t>добијеног</a:t>
            </a:r>
            <a:r>
              <a:rPr lang="en-US" dirty="0"/>
              <a:t> </a:t>
            </a:r>
            <a:r>
              <a:rPr lang="en-US" dirty="0" err="1"/>
              <a:t>говора</a:t>
            </a:r>
            <a:r>
              <a:rPr lang="en-US" dirty="0"/>
              <a:t>. Ова </a:t>
            </a:r>
            <a:r>
              <a:rPr lang="en-US" dirty="0" err="1"/>
              <a:t>презентација</a:t>
            </a:r>
            <a:r>
              <a:rPr lang="en-US" dirty="0"/>
              <a:t> </a:t>
            </a:r>
            <a:r>
              <a:rPr lang="en-US" dirty="0" err="1"/>
              <a:t>прати</a:t>
            </a:r>
            <a:r>
              <a:rPr lang="en-US" dirty="0"/>
              <a:t> </a:t>
            </a:r>
            <a:r>
              <a:rPr lang="en-US" dirty="0" err="1"/>
              <a:t>цео</a:t>
            </a:r>
            <a:r>
              <a:rPr lang="en-US" dirty="0"/>
              <a:t> </a:t>
            </a:r>
            <a:r>
              <a:rPr lang="en-US" dirty="0" err="1"/>
              <a:t>пут</a:t>
            </a:r>
            <a:r>
              <a:rPr lang="en-US" dirty="0"/>
              <a:t> </a:t>
            </a:r>
            <a:r>
              <a:rPr lang="en-US" dirty="0" err="1"/>
              <a:t>од</a:t>
            </a:r>
            <a:r>
              <a:rPr lang="en-US" dirty="0"/>
              <a:t> </a:t>
            </a:r>
            <a:r>
              <a:rPr lang="en-US" dirty="0" err="1"/>
              <a:t>текста</a:t>
            </a:r>
            <a:r>
              <a:rPr lang="en-US" dirty="0"/>
              <a:t> </a:t>
            </a:r>
            <a:r>
              <a:rPr lang="en-US" dirty="0" err="1"/>
              <a:t>до</a:t>
            </a:r>
            <a:r>
              <a:rPr lang="en-US" dirty="0"/>
              <a:t> </a:t>
            </a:r>
            <a:r>
              <a:rPr lang="en-US" dirty="0" err="1"/>
              <a:t>звука</a:t>
            </a:r>
            <a:r>
              <a:rPr lang="en-US" dirty="0"/>
              <a:t>, </a:t>
            </a:r>
            <a:r>
              <a:rPr lang="en-US" dirty="0" err="1"/>
              <a:t>са</a:t>
            </a:r>
            <a:r>
              <a:rPr lang="en-US" dirty="0"/>
              <a:t> </a:t>
            </a:r>
            <a:r>
              <a:rPr lang="en-US" dirty="0" err="1"/>
              <a:t>нагласком</a:t>
            </a:r>
            <a:r>
              <a:rPr lang="en-US" dirty="0"/>
              <a:t> </a:t>
            </a:r>
            <a:r>
              <a:rPr lang="en-US" dirty="0" err="1"/>
              <a:t>на</a:t>
            </a:r>
            <a:r>
              <a:rPr lang="en-US" dirty="0"/>
              <a:t> </a:t>
            </a:r>
            <a:r>
              <a:rPr lang="en-US" dirty="0" err="1"/>
              <a:t>то</a:t>
            </a:r>
            <a:r>
              <a:rPr lang="en-US" dirty="0"/>
              <a:t> </a:t>
            </a:r>
            <a:r>
              <a:rPr lang="en-US" dirty="0" err="1"/>
              <a:t>шта</a:t>
            </a:r>
            <a:r>
              <a:rPr lang="en-US" dirty="0"/>
              <a:t> </a:t>
            </a:r>
            <a:r>
              <a:rPr lang="en-US" dirty="0" err="1"/>
              <a:t>се</a:t>
            </a:r>
            <a:r>
              <a:rPr lang="en-US" dirty="0"/>
              <a:t> </a:t>
            </a:r>
            <a:r>
              <a:rPr lang="en-US" dirty="0" err="1"/>
              <a:t>стварно</a:t>
            </a:r>
            <a:r>
              <a:rPr lang="en-US" dirty="0"/>
              <a:t> </a:t>
            </a:r>
            <a:r>
              <a:rPr lang="en-US" dirty="0" err="1"/>
              <a:t>чује</a:t>
            </a:r>
            <a:r>
              <a:rPr lang="en-US" dirty="0"/>
              <a:t> у </a:t>
            </a:r>
            <a:r>
              <a:rPr lang="en-US" dirty="0" err="1"/>
              <a:t>резултату</a:t>
            </a:r>
            <a:r>
              <a:rPr lang="en-US" dirty="0"/>
              <a:t>.</a:t>
            </a:r>
          </a:p>
        </p:txBody>
      </p:sp>
      <p:sp>
        <p:nvSpPr>
          <p:cNvPr id="4" name="Slide Number Placeholder 3"/>
          <p:cNvSpPr>
            <a:spLocks noGrp="1"/>
          </p:cNvSpPr>
          <p:nvPr>
            <p:ph type="sldNum" sz="quarter" idx="5"/>
          </p:nvPr>
        </p:nvSpPr>
        <p:spPr/>
        <p:txBody>
          <a:bodyPr/>
          <a:lstStyle/>
          <a:p>
            <a:fld id="{9E0F6D8F-52A4-4325-8831-5D637055B7D3}" type="slidenum">
              <a:rPr lang="en-GB" smtClean="0"/>
              <a:t>1</a:t>
            </a:fld>
            <a:endParaRPr lang="en-GB"/>
          </a:p>
        </p:txBody>
      </p:sp>
    </p:spTree>
    <p:extLst>
      <p:ext uri="{BB962C8B-B14F-4D97-AF65-F5344CB8AC3E}">
        <p14:creationId xmlns:p14="http://schemas.microsoft.com/office/powerpoint/2010/main" val="5152523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Презентација</a:t>
            </a:r>
            <a:r>
              <a:rPr lang="en-US" dirty="0"/>
              <a:t> </a:t>
            </a:r>
            <a:r>
              <a:rPr lang="en-US" dirty="0" err="1"/>
              <a:t>је</a:t>
            </a:r>
            <a:r>
              <a:rPr lang="en-US" dirty="0"/>
              <a:t> </a:t>
            </a:r>
            <a:r>
              <a:rPr lang="en-US" dirty="0" err="1"/>
              <a:t>организована</a:t>
            </a:r>
            <a:r>
              <a:rPr lang="en-US" dirty="0"/>
              <a:t> </a:t>
            </a:r>
            <a:r>
              <a:rPr lang="en-US" dirty="0" err="1"/>
              <a:t>кроз</a:t>
            </a:r>
            <a:r>
              <a:rPr lang="en-US" dirty="0"/>
              <a:t> </a:t>
            </a:r>
            <a:r>
              <a:rPr lang="en-US" dirty="0" err="1"/>
              <a:t>мотивацију</a:t>
            </a:r>
            <a:r>
              <a:rPr lang="en-US" dirty="0"/>
              <a:t>, </a:t>
            </a:r>
            <a:r>
              <a:rPr lang="en-US" dirty="0" err="1"/>
              <a:t>теоријску</a:t>
            </a:r>
            <a:r>
              <a:rPr lang="en-US" dirty="0"/>
              <a:t> </a:t>
            </a:r>
            <a:r>
              <a:rPr lang="en-US" dirty="0" err="1"/>
              <a:t>основу</a:t>
            </a:r>
            <a:r>
              <a:rPr lang="en-US" dirty="0"/>
              <a:t> </a:t>
            </a:r>
            <a:r>
              <a:rPr lang="en-US" dirty="0" err="1"/>
              <a:t>ChatTTS</a:t>
            </a:r>
            <a:r>
              <a:rPr lang="en-US" dirty="0"/>
              <a:t>-а, </a:t>
            </a:r>
            <a:r>
              <a:rPr lang="en-US" dirty="0" err="1"/>
              <a:t>експеримент</a:t>
            </a:r>
            <a:r>
              <a:rPr lang="en-US" dirty="0"/>
              <a:t>, </a:t>
            </a:r>
            <a:r>
              <a:rPr lang="en-US" dirty="0" err="1"/>
              <a:t>метрике</a:t>
            </a:r>
            <a:r>
              <a:rPr lang="en-US" dirty="0"/>
              <a:t>, </a:t>
            </a:r>
            <a:r>
              <a:rPr lang="en-US" dirty="0" err="1"/>
              <a:t>резултате</a:t>
            </a:r>
            <a:r>
              <a:rPr lang="en-US" dirty="0"/>
              <a:t> и </a:t>
            </a:r>
            <a:r>
              <a:rPr lang="en-US" dirty="0" err="1"/>
              <a:t>закључак</a:t>
            </a:r>
            <a:r>
              <a:rPr lang="en-US" dirty="0"/>
              <a:t>. Овај </a:t>
            </a:r>
            <a:r>
              <a:rPr lang="en-US" dirty="0" err="1"/>
              <a:t>слајд</a:t>
            </a:r>
            <a:r>
              <a:rPr lang="en-US" dirty="0"/>
              <a:t> </a:t>
            </a:r>
            <a:r>
              <a:rPr lang="en-US" dirty="0" err="1"/>
              <a:t>даје</a:t>
            </a:r>
            <a:r>
              <a:rPr lang="en-US" dirty="0"/>
              <a:t> </a:t>
            </a:r>
            <a:r>
              <a:rPr lang="en-US" dirty="0" err="1"/>
              <a:t>редослед</a:t>
            </a:r>
            <a:r>
              <a:rPr lang="en-US" dirty="0"/>
              <a:t> </a:t>
            </a:r>
            <a:r>
              <a:rPr lang="en-US" dirty="0" err="1"/>
              <a:t>приче</a:t>
            </a:r>
            <a:r>
              <a:rPr lang="en-US" dirty="0"/>
              <a:t>, </a:t>
            </a:r>
            <a:r>
              <a:rPr lang="en-US" dirty="0" err="1"/>
              <a:t>па</a:t>
            </a:r>
            <a:r>
              <a:rPr lang="en-US" dirty="0"/>
              <a:t> </a:t>
            </a:r>
            <a:r>
              <a:rPr lang="en-US" dirty="0" err="1"/>
              <a:t>је</a:t>
            </a:r>
            <a:r>
              <a:rPr lang="en-US" dirty="0"/>
              <a:t> </a:t>
            </a:r>
            <a:r>
              <a:rPr lang="en-US" dirty="0" err="1"/>
              <a:t>добро</a:t>
            </a:r>
            <a:r>
              <a:rPr lang="en-US" dirty="0"/>
              <a:t> </a:t>
            </a:r>
            <a:r>
              <a:rPr lang="en-US" dirty="0" err="1"/>
              <a:t>кратко</a:t>
            </a:r>
            <a:r>
              <a:rPr lang="en-US" dirty="0"/>
              <a:t> </a:t>
            </a:r>
            <a:r>
              <a:rPr lang="en-US" dirty="0" err="1"/>
              <a:t>најавити</a:t>
            </a:r>
            <a:r>
              <a:rPr lang="en-US" dirty="0"/>
              <a:t> </a:t>
            </a:r>
            <a:r>
              <a:rPr lang="en-US" dirty="0" err="1"/>
              <a:t>да</a:t>
            </a:r>
            <a:r>
              <a:rPr lang="en-US" dirty="0"/>
              <a:t> </a:t>
            </a:r>
            <a:r>
              <a:rPr lang="en-US" dirty="0" err="1"/>
              <a:t>ће</a:t>
            </a:r>
            <a:r>
              <a:rPr lang="en-US" dirty="0"/>
              <a:t> </a:t>
            </a:r>
            <a:r>
              <a:rPr lang="en-US" dirty="0" err="1"/>
              <a:t>резултати</a:t>
            </a:r>
            <a:r>
              <a:rPr lang="en-US" dirty="0"/>
              <a:t> </a:t>
            </a:r>
            <a:r>
              <a:rPr lang="en-US" dirty="0" err="1"/>
              <a:t>бити</a:t>
            </a:r>
            <a:r>
              <a:rPr lang="en-US" dirty="0"/>
              <a:t> и </a:t>
            </a:r>
            <a:r>
              <a:rPr lang="en-US" dirty="0" err="1"/>
              <a:t>бројчани</a:t>
            </a:r>
            <a:r>
              <a:rPr lang="en-US" dirty="0"/>
              <a:t> и </a:t>
            </a:r>
            <a:r>
              <a:rPr lang="en-US" dirty="0" err="1"/>
              <a:t>слушни</a:t>
            </a:r>
            <a:r>
              <a:rPr lang="en-US" dirty="0"/>
              <a:t>. </a:t>
            </a:r>
            <a:r>
              <a:rPr lang="en-US" dirty="0" err="1"/>
              <a:t>План</a:t>
            </a:r>
            <a:r>
              <a:rPr lang="en-US" dirty="0"/>
              <a:t> </a:t>
            </a:r>
            <a:r>
              <a:rPr lang="en-US" dirty="0" err="1"/>
              <a:t>је</a:t>
            </a:r>
            <a:r>
              <a:rPr lang="en-US" dirty="0"/>
              <a:t> </a:t>
            </a:r>
            <a:r>
              <a:rPr lang="en-US" dirty="0" err="1"/>
              <a:t>постављен</a:t>
            </a:r>
            <a:r>
              <a:rPr lang="en-US" dirty="0"/>
              <a:t> </a:t>
            </a:r>
            <a:r>
              <a:rPr lang="en-US" dirty="0" err="1"/>
              <a:t>тако</a:t>
            </a:r>
            <a:r>
              <a:rPr lang="en-US" dirty="0"/>
              <a:t> </a:t>
            </a:r>
            <a:r>
              <a:rPr lang="en-US" dirty="0" err="1"/>
              <a:t>да</a:t>
            </a:r>
            <a:r>
              <a:rPr lang="en-US" dirty="0"/>
              <a:t> </a:t>
            </a:r>
            <a:r>
              <a:rPr lang="en-US" dirty="0" err="1"/>
              <a:t>се</a:t>
            </a:r>
            <a:r>
              <a:rPr lang="en-US" dirty="0"/>
              <a:t> </a:t>
            </a:r>
            <a:r>
              <a:rPr lang="en-US" dirty="0" err="1"/>
              <a:t>после</a:t>
            </a:r>
            <a:r>
              <a:rPr lang="en-US" dirty="0"/>
              <a:t> </a:t>
            </a:r>
            <a:r>
              <a:rPr lang="en-US" dirty="0" err="1"/>
              <a:t>теорије</a:t>
            </a:r>
            <a:r>
              <a:rPr lang="en-US" dirty="0"/>
              <a:t> </a:t>
            </a:r>
            <a:r>
              <a:rPr lang="en-US" dirty="0" err="1"/>
              <a:t>одмах</a:t>
            </a:r>
            <a:r>
              <a:rPr lang="en-US" dirty="0"/>
              <a:t> </a:t>
            </a:r>
            <a:r>
              <a:rPr lang="en-US" dirty="0" err="1"/>
              <a:t>види</a:t>
            </a:r>
            <a:r>
              <a:rPr lang="en-US" dirty="0"/>
              <a:t> </a:t>
            </a:r>
            <a:r>
              <a:rPr lang="en-US" dirty="0" err="1"/>
              <a:t>како</a:t>
            </a:r>
            <a:r>
              <a:rPr lang="en-US" dirty="0"/>
              <a:t> </a:t>
            </a:r>
            <a:r>
              <a:rPr lang="en-US" dirty="0" err="1"/>
              <a:t>су</a:t>
            </a:r>
            <a:r>
              <a:rPr lang="en-US" dirty="0"/>
              <a:t> </a:t>
            </a:r>
            <a:r>
              <a:rPr lang="en-US" dirty="0" err="1"/>
              <a:t>мерења</a:t>
            </a:r>
            <a:r>
              <a:rPr lang="en-US" dirty="0"/>
              <a:t> </a:t>
            </a:r>
            <a:r>
              <a:rPr lang="en-US" dirty="0" err="1"/>
              <a:t>организована</a:t>
            </a:r>
            <a:r>
              <a:rPr lang="en-US" dirty="0"/>
              <a:t>.</a:t>
            </a:r>
          </a:p>
        </p:txBody>
      </p:sp>
      <p:sp>
        <p:nvSpPr>
          <p:cNvPr id="4" name="Slide Number Placeholder 3"/>
          <p:cNvSpPr>
            <a:spLocks noGrp="1"/>
          </p:cNvSpPr>
          <p:nvPr>
            <p:ph type="sldNum" sz="quarter" idx="5"/>
          </p:nvPr>
        </p:nvSpPr>
        <p:spPr/>
        <p:txBody>
          <a:bodyPr/>
          <a:lstStyle/>
          <a:p>
            <a:fld id="{9E0F6D8F-52A4-4325-8831-5D637055B7D3}" type="slidenum">
              <a:rPr lang="en-GB" smtClean="0"/>
              <a:t>2</a:t>
            </a:fld>
            <a:endParaRPr lang="en-GB"/>
          </a:p>
        </p:txBody>
      </p:sp>
    </p:spTree>
    <p:extLst>
      <p:ext uri="{BB962C8B-B14F-4D97-AF65-F5344CB8AC3E}">
        <p14:creationId xmlns:p14="http://schemas.microsoft.com/office/powerpoint/2010/main" val="3101258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Ово</a:t>
            </a:r>
            <a:r>
              <a:rPr lang="en-US" dirty="0"/>
              <a:t> </a:t>
            </a:r>
            <a:r>
              <a:rPr lang="en-US" dirty="0" err="1"/>
              <a:t>су</a:t>
            </a:r>
            <a:r>
              <a:rPr lang="en-US" dirty="0"/>
              <a:t> </a:t>
            </a:r>
            <a:r>
              <a:rPr lang="en-US" dirty="0" err="1"/>
              <a:t>главни</a:t>
            </a:r>
            <a:r>
              <a:rPr lang="en-US" dirty="0"/>
              <a:t> </a:t>
            </a:r>
            <a:r>
              <a:rPr lang="en-US" dirty="0" err="1"/>
              <a:t>извори</a:t>
            </a:r>
            <a:r>
              <a:rPr lang="en-US" dirty="0"/>
              <a:t> </a:t>
            </a:r>
            <a:r>
              <a:rPr lang="en-US" dirty="0" err="1"/>
              <a:t>коришћени</a:t>
            </a:r>
            <a:r>
              <a:rPr lang="en-US" dirty="0"/>
              <a:t> </a:t>
            </a:r>
            <a:r>
              <a:rPr lang="en-US" dirty="0" err="1"/>
              <a:t>за</a:t>
            </a:r>
            <a:r>
              <a:rPr lang="en-US" dirty="0"/>
              <a:t> </a:t>
            </a:r>
            <a:r>
              <a:rPr lang="en-US" dirty="0" err="1"/>
              <a:t>теоријски</a:t>
            </a:r>
            <a:r>
              <a:rPr lang="en-US" dirty="0"/>
              <a:t> </a:t>
            </a:r>
            <a:r>
              <a:rPr lang="en-US" dirty="0" err="1"/>
              <a:t>део</a:t>
            </a:r>
            <a:r>
              <a:rPr lang="en-US" dirty="0"/>
              <a:t> </a:t>
            </a:r>
            <a:r>
              <a:rPr lang="en-US" dirty="0" err="1"/>
              <a:t>рада</a:t>
            </a:r>
            <a:r>
              <a:rPr lang="en-US" dirty="0"/>
              <a:t>. </a:t>
            </a:r>
            <a:r>
              <a:rPr lang="en-US" dirty="0" err="1"/>
              <a:t>ChatTTS</a:t>
            </a:r>
            <a:r>
              <a:rPr lang="en-US" dirty="0"/>
              <a:t> </a:t>
            </a:r>
            <a:r>
              <a:rPr lang="en-US" dirty="0" err="1"/>
              <a:t>се</a:t>
            </a:r>
            <a:r>
              <a:rPr lang="en-US" dirty="0"/>
              <a:t> </a:t>
            </a:r>
            <a:r>
              <a:rPr lang="en-US" dirty="0" err="1"/>
              <a:t>односи</a:t>
            </a:r>
            <a:r>
              <a:rPr lang="en-US" dirty="0"/>
              <a:t> </a:t>
            </a:r>
            <a:r>
              <a:rPr lang="en-US" dirty="0" err="1"/>
              <a:t>на</a:t>
            </a:r>
            <a:r>
              <a:rPr lang="en-US" dirty="0"/>
              <a:t> </a:t>
            </a:r>
            <a:r>
              <a:rPr lang="en-US" dirty="0" err="1"/>
              <a:t>модел</a:t>
            </a:r>
            <a:r>
              <a:rPr lang="en-US" dirty="0"/>
              <a:t> </a:t>
            </a:r>
            <a:r>
              <a:rPr lang="en-US" dirty="0" err="1"/>
              <a:t>који</a:t>
            </a:r>
            <a:r>
              <a:rPr lang="en-US" dirty="0"/>
              <a:t> </a:t>
            </a:r>
            <a:r>
              <a:rPr lang="en-US" dirty="0" err="1"/>
              <a:t>је</a:t>
            </a:r>
            <a:r>
              <a:rPr lang="en-US" dirty="0"/>
              <a:t> </a:t>
            </a:r>
            <a:r>
              <a:rPr lang="en-US" dirty="0" err="1"/>
              <a:t>анализиран</a:t>
            </a:r>
            <a:r>
              <a:rPr lang="en-US" dirty="0"/>
              <a:t> у </a:t>
            </a:r>
            <a:r>
              <a:rPr lang="en-US" dirty="0" err="1"/>
              <a:t>практичном</a:t>
            </a:r>
            <a:r>
              <a:rPr lang="en-US" dirty="0"/>
              <a:t> </a:t>
            </a:r>
            <a:r>
              <a:rPr lang="en-US" dirty="0" err="1"/>
              <a:t>делу</a:t>
            </a:r>
            <a:r>
              <a:rPr lang="en-US" dirty="0"/>
              <a:t>, </a:t>
            </a:r>
            <a:r>
              <a:rPr lang="en-US" dirty="0" err="1"/>
              <a:t>док</a:t>
            </a:r>
            <a:r>
              <a:rPr lang="en-US" dirty="0"/>
              <a:t> </a:t>
            </a:r>
            <a:r>
              <a:rPr lang="en-US" dirty="0" err="1"/>
              <a:t>књиге</a:t>
            </a:r>
            <a:r>
              <a:rPr lang="en-US" dirty="0"/>
              <a:t> Taylor и Jurafsky/Martin </a:t>
            </a:r>
            <a:r>
              <a:rPr lang="en-US" dirty="0" err="1"/>
              <a:t>дају</a:t>
            </a:r>
            <a:r>
              <a:rPr lang="en-US" dirty="0"/>
              <a:t> </a:t>
            </a:r>
            <a:r>
              <a:rPr lang="en-US" dirty="0" err="1"/>
              <a:t>основни</a:t>
            </a:r>
            <a:r>
              <a:rPr lang="en-US" dirty="0"/>
              <a:t> </a:t>
            </a:r>
            <a:r>
              <a:rPr lang="en-US" dirty="0" err="1"/>
              <a:t>контекст</a:t>
            </a:r>
            <a:r>
              <a:rPr lang="en-US" dirty="0"/>
              <a:t> </a:t>
            </a:r>
            <a:r>
              <a:rPr lang="en-US" dirty="0" err="1"/>
              <a:t>синтезе</a:t>
            </a:r>
            <a:r>
              <a:rPr lang="en-US" dirty="0"/>
              <a:t> </a:t>
            </a:r>
            <a:r>
              <a:rPr lang="en-US" dirty="0" err="1"/>
              <a:t>говора</a:t>
            </a:r>
            <a:r>
              <a:rPr lang="en-US" dirty="0"/>
              <a:t>. Остали </a:t>
            </a:r>
            <a:r>
              <a:rPr lang="en-US" dirty="0" err="1"/>
              <a:t>радови</a:t>
            </a:r>
            <a:r>
              <a:rPr lang="en-US" dirty="0"/>
              <a:t> </a:t>
            </a:r>
            <a:r>
              <a:rPr lang="en-US" dirty="0" err="1"/>
              <a:t>представљају</a:t>
            </a:r>
            <a:r>
              <a:rPr lang="en-US" dirty="0"/>
              <a:t> </a:t>
            </a:r>
            <a:r>
              <a:rPr lang="en-US" dirty="0" err="1"/>
              <a:t>важне</a:t>
            </a:r>
            <a:r>
              <a:rPr lang="en-US" dirty="0"/>
              <a:t> </a:t>
            </a:r>
            <a:r>
              <a:rPr lang="en-US" dirty="0" err="1"/>
              <a:t>неуронске</a:t>
            </a:r>
            <a:r>
              <a:rPr lang="en-US" dirty="0"/>
              <a:t> TTS </a:t>
            </a:r>
            <a:r>
              <a:rPr lang="en-US" dirty="0" err="1"/>
              <a:t>системе</a:t>
            </a:r>
            <a:r>
              <a:rPr lang="en-US" dirty="0"/>
              <a:t> и </a:t>
            </a:r>
            <a:r>
              <a:rPr lang="en-US" dirty="0" err="1"/>
              <a:t>компоненте</a:t>
            </a:r>
            <a:r>
              <a:rPr lang="en-US" dirty="0"/>
              <a:t>, </a:t>
            </a:r>
            <a:r>
              <a:rPr lang="en-US" dirty="0" err="1"/>
              <a:t>као</a:t>
            </a:r>
            <a:r>
              <a:rPr lang="en-US" dirty="0"/>
              <a:t> </a:t>
            </a:r>
            <a:r>
              <a:rPr lang="en-US" dirty="0" err="1"/>
              <a:t>што</a:t>
            </a:r>
            <a:r>
              <a:rPr lang="en-US" dirty="0"/>
              <a:t> </a:t>
            </a:r>
            <a:r>
              <a:rPr lang="en-US" dirty="0" err="1"/>
              <a:t>су</a:t>
            </a:r>
            <a:r>
              <a:rPr lang="en-US" dirty="0"/>
              <a:t> </a:t>
            </a:r>
            <a:r>
              <a:rPr lang="en-US" dirty="0" err="1"/>
              <a:t>WaveNet</a:t>
            </a:r>
            <a:r>
              <a:rPr lang="en-US" dirty="0"/>
              <a:t>, </a:t>
            </a:r>
            <a:r>
              <a:rPr lang="en-US" dirty="0" err="1"/>
              <a:t>Tacotron</a:t>
            </a:r>
            <a:r>
              <a:rPr lang="en-US" dirty="0"/>
              <a:t> 2, </a:t>
            </a:r>
            <a:r>
              <a:rPr lang="en-US" dirty="0" err="1"/>
              <a:t>FastSpeech</a:t>
            </a:r>
            <a:r>
              <a:rPr lang="en-US" dirty="0"/>
              <a:t> и HiFi-GAN.</a:t>
            </a:r>
          </a:p>
        </p:txBody>
      </p:sp>
      <p:sp>
        <p:nvSpPr>
          <p:cNvPr id="4" name="Slide Number Placeholder 3"/>
          <p:cNvSpPr>
            <a:spLocks noGrp="1"/>
          </p:cNvSpPr>
          <p:nvPr>
            <p:ph type="sldNum" sz="quarter" idx="10"/>
          </p:nvPr>
        </p:nvSpPr>
        <p:spPr/>
        <p:txBody>
          <a:bodyPr/>
          <a:lstStyle/>
          <a:p>
            <a:fld id="{9E0F6D8F-52A4-4325-8831-5D637055B7D3}" type="slidenum">
              <a:rPr lang="en-GB" smtClean="0"/>
              <a:t>3</a:t>
            </a:fld>
            <a:endParaRPr lang="en-GB"/>
          </a:p>
        </p:txBody>
      </p:sp>
    </p:spTree>
    <p:extLst>
      <p:ext uri="{BB962C8B-B14F-4D97-AF65-F5344CB8AC3E}">
        <p14:creationId xmlns:p14="http://schemas.microsoft.com/office/powerpoint/2010/main" val="417304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sr-Latn-RS">
                <a:solidFill>
                  <a:schemeClr val="bg2">
                    <a:lumMod val="10000"/>
                  </a:schemeClr>
                </a:solidFill>
              </a:rPr>
              <a:t>На овом слајду су издвојени online извори који су коришћени у практичном делу рада. ChatTTS линкови се односе на сам систем и Python пакет, док PyTorch, TorchAudio, librosa и SoundFile представљају алате коришћене за синтезу, обраду и чување аудио-сигнала.</a:t>
            </a:r>
            <a:endParaRPr lang="en-US">
              <a:solidFill>
                <a:schemeClr val="bg2">
                  <a:lumMod val="10000"/>
                </a:schemeClr>
              </a:solidFill>
            </a:endParaRPr>
          </a:p>
        </p:txBody>
      </p:sp>
      <p:sp>
        <p:nvSpPr>
          <p:cNvPr id="4" name="Slide Number Placeholder 3"/>
          <p:cNvSpPr>
            <a:spLocks noGrp="1"/>
          </p:cNvSpPr>
          <p:nvPr>
            <p:ph type="sldNum" sz="quarter" idx="10"/>
          </p:nvPr>
        </p:nvSpPr>
        <p:spPr/>
        <p:txBody>
          <a:bodyPr/>
          <a:lstStyle/>
          <a:p>
            <a:fld id="{9E0F6D8F-52A4-4325-8831-5D637055B7D3}" type="slidenum">
              <a:rPr lang="en-GB" smtClean="0"/>
              <a:t>4</a:t>
            </a:fld>
            <a:endParaRPr lang="en-GB"/>
          </a:p>
        </p:txBody>
      </p:sp>
    </p:spTree>
    <p:extLst>
      <p:ext uri="{BB962C8B-B14F-4D97-AF65-F5344CB8AC3E}">
        <p14:creationId xmlns:p14="http://schemas.microsoft.com/office/powerpoint/2010/main" val="1551419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sr-Latn-RS">
                <a:solidFill>
                  <a:schemeClr val="bg2">
                    <a:lumMod val="10000"/>
                  </a:schemeClr>
                </a:solidFill>
              </a:rPr>
              <a:t>Генеративни говор је све присутнији у асистентима, образовању, играма и алатима за приступачност. Зато више није довољно да глас буде само разумљив — очекујемо да звучи природно и да реагује брзо. Овде треба повезати тему са свакодневним применама, јер TTS није само технички задатак већ део начина на који људи комуницирају са системима. TTS је занимљив баш зато што се технички резултат одмах осети у људском разговору.</a:t>
            </a:r>
            <a:endParaRPr lang="en-US"/>
          </a:p>
        </p:txBody>
      </p:sp>
      <p:sp>
        <p:nvSpPr>
          <p:cNvPr id="4" name="Slide Number Placeholder 3"/>
          <p:cNvSpPr>
            <a:spLocks noGrp="1"/>
          </p:cNvSpPr>
          <p:nvPr>
            <p:ph type="sldNum" sz="quarter" idx="10"/>
          </p:nvPr>
        </p:nvSpPr>
        <p:spPr/>
        <p:txBody>
          <a:bodyPr/>
          <a:lstStyle/>
          <a:p>
            <a:fld id="{9E0F6D8F-52A4-4325-8831-5D637055B7D3}" type="slidenum">
              <a:rPr lang="en-GB" smtClean="0"/>
              <a:t>5</a:t>
            </a:fld>
            <a:endParaRPr lang="en-GB"/>
          </a:p>
        </p:txBody>
      </p:sp>
    </p:spTree>
    <p:extLst>
      <p:ext uri="{BB962C8B-B14F-4D97-AF65-F5344CB8AC3E}">
        <p14:creationId xmlns:p14="http://schemas.microsoft.com/office/powerpoint/2010/main" val="222782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E490-EB63-8447-AAE2-6AB92E346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8F7C3-8A43-9399-5F50-E25C7C6864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CC264C-B2FA-2138-A0F2-9C32BDADFA23}"/>
              </a:ext>
            </a:extLst>
          </p:cNvPr>
          <p:cNvSpPr>
            <a:spLocks noGrp="1"/>
          </p:cNvSpPr>
          <p:nvPr>
            <p:ph type="body" idx="1"/>
          </p:nvPr>
        </p:nvSpPr>
        <p:spPr/>
        <p:txBody>
          <a:bodyPr/>
          <a:lstStyle/>
          <a:p>
            <a:pPr>
              <a:defRPr/>
            </a:pPr>
            <a:r>
              <a:rPr lang="sr-Latn-RS">
                <a:solidFill>
                  <a:schemeClr val="bg2">
                    <a:lumMod val="10000"/>
                  </a:schemeClr>
                </a:solidFill>
              </a:rPr>
              <a:t>Главно питање је како текст који пошаљемо моделу мења брзину, звучне особине и утисак који синтетизовани говор оставља на слушаоца. Истраживачко питање поставља три осе анализе: дужину, стил и садржај, а резултати касније одговарају управо тим редом. Питање спаја брзину, звук и утисак слушаоца, јер ниједна страна сама није довољна.</a:t>
            </a:r>
            <a:endParaRPr lang="en-US"/>
          </a:p>
        </p:txBody>
      </p:sp>
      <p:sp>
        <p:nvSpPr>
          <p:cNvPr id="4" name="Slide Number Placeholder 3">
            <a:extLst>
              <a:ext uri="{FF2B5EF4-FFF2-40B4-BE49-F238E27FC236}">
                <a16:creationId xmlns:a16="http://schemas.microsoft.com/office/drawing/2014/main" id="{B056819E-F381-DE9A-A780-339651EA9B71}"/>
              </a:ext>
            </a:extLst>
          </p:cNvPr>
          <p:cNvSpPr>
            <a:spLocks noGrp="1"/>
          </p:cNvSpPr>
          <p:nvPr>
            <p:ph type="sldNum" sz="quarter" idx="10"/>
          </p:nvPr>
        </p:nvSpPr>
        <p:spPr/>
        <p:txBody>
          <a:bodyPr/>
          <a:lstStyle/>
          <a:p>
            <a:fld id="{9E0F6D8F-52A4-4325-8831-5D637055B7D3}" type="slidenum">
              <a:rPr lang="en-GB" smtClean="0"/>
              <a:t>6</a:t>
            </a:fld>
            <a:endParaRPr lang="en-GB"/>
          </a:p>
        </p:txBody>
      </p:sp>
    </p:spTree>
    <p:extLst>
      <p:ext uri="{BB962C8B-B14F-4D97-AF65-F5344CB8AC3E}">
        <p14:creationId xmlns:p14="http://schemas.microsoft.com/office/powerpoint/2010/main" val="39498487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E13F4-A46F-6D7E-35C5-45609B07C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08396F-34C1-9039-D246-52BBF2528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775C6-EE07-3CB9-F717-ACBB2074ECF2}"/>
              </a:ext>
            </a:extLst>
          </p:cNvPr>
          <p:cNvSpPr>
            <a:spLocks noGrp="1"/>
          </p:cNvSpPr>
          <p:nvPr>
            <p:ph type="body" idx="1"/>
          </p:nvPr>
        </p:nvSpPr>
        <p:spPr/>
        <p:txBody>
          <a:bodyPr/>
          <a:lstStyle/>
          <a:p>
            <a:pPr>
              <a:defRPr/>
            </a:pPr>
            <a:r>
              <a:rPr lang="sr-Latn-RS">
                <a:solidFill>
                  <a:schemeClr val="bg2">
                    <a:lumMod val="10000"/>
                  </a:schemeClr>
                </a:solidFill>
              </a:rPr>
              <a:t>Направио сам десет припремљених примера и за сваки измерио време, RTF и акустичке особине, а затим додао и слушне оцене. Овде је важно нагласити да се допринос не своди на пуштање модела, већ на систематично мерење и поређење више фактора. Допринос је у томе што су примери припремљени, па се лакше види шта мења дужина, стил или језик.</a:t>
            </a:r>
            <a:endParaRPr lang="en-US"/>
          </a:p>
        </p:txBody>
      </p:sp>
      <p:sp>
        <p:nvSpPr>
          <p:cNvPr id="4" name="Slide Number Placeholder 3">
            <a:extLst>
              <a:ext uri="{FF2B5EF4-FFF2-40B4-BE49-F238E27FC236}">
                <a16:creationId xmlns:a16="http://schemas.microsoft.com/office/drawing/2014/main" id="{B9AAC8FE-791D-62F1-5DFF-BBE0BAFD2B8F}"/>
              </a:ext>
            </a:extLst>
          </p:cNvPr>
          <p:cNvSpPr>
            <a:spLocks noGrp="1"/>
          </p:cNvSpPr>
          <p:nvPr>
            <p:ph type="sldNum" sz="quarter" idx="10"/>
          </p:nvPr>
        </p:nvSpPr>
        <p:spPr/>
        <p:txBody>
          <a:bodyPr/>
          <a:lstStyle/>
          <a:p>
            <a:fld id="{9E0F6D8F-52A4-4325-8831-5D637055B7D3}" type="slidenum">
              <a:rPr lang="en-GB" smtClean="0"/>
              <a:t>7</a:t>
            </a:fld>
            <a:endParaRPr lang="en-GB"/>
          </a:p>
        </p:txBody>
      </p:sp>
    </p:spTree>
    <p:extLst>
      <p:ext uri="{BB962C8B-B14F-4D97-AF65-F5344CB8AC3E}">
        <p14:creationId xmlns:p14="http://schemas.microsoft.com/office/powerpoint/2010/main" val="2165339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FB6B-0499-59CF-3B83-A83788343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201E2-3C00-25A3-BF70-5ED0C662B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D55F10-EAE7-9293-D625-CA71559059FB}"/>
              </a:ext>
            </a:extLst>
          </p:cNvPr>
          <p:cNvSpPr>
            <a:spLocks noGrp="1"/>
          </p:cNvSpPr>
          <p:nvPr>
            <p:ph type="body" idx="1"/>
          </p:nvPr>
        </p:nvSpPr>
        <p:spPr/>
        <p:txBody>
          <a:bodyPr/>
          <a:lstStyle/>
          <a:p>
            <a:pPr>
              <a:defRPr/>
            </a:pPr>
            <a:r>
              <a:rPr lang="sr-Latn-RS">
                <a:solidFill>
                  <a:schemeClr val="bg2">
                    <a:lumMod val="10000"/>
                  </a:schemeClr>
                </a:solidFill>
              </a:rPr>
              <a:t>На слици је основни TTS ток: писани текст пролази кроз језичку обраду, затим акустички модел формира говорну репрезентацију, а decoder или vocoder је претвара у waveform. Кроз слику треба ићи слева надесно: најпре се решава шта текст значи за изговор, затим како треба да звучи, а тек на крају настаје стварни аудио сигнал. Слика помаже да се објасни да добар TTS није један корак, већ цео пут од припреме текста до waveform-а који звучи природно.</a:t>
            </a:r>
            <a:endParaRPr lang="en-US"/>
          </a:p>
        </p:txBody>
      </p:sp>
      <p:sp>
        <p:nvSpPr>
          <p:cNvPr id="4" name="Slide Number Placeholder 3">
            <a:extLst>
              <a:ext uri="{FF2B5EF4-FFF2-40B4-BE49-F238E27FC236}">
                <a16:creationId xmlns:a16="http://schemas.microsoft.com/office/drawing/2014/main" id="{8CFE0283-DFCD-E3B9-41B7-D05E109D2136}"/>
              </a:ext>
            </a:extLst>
          </p:cNvPr>
          <p:cNvSpPr>
            <a:spLocks noGrp="1"/>
          </p:cNvSpPr>
          <p:nvPr>
            <p:ph type="sldNum" sz="quarter" idx="10"/>
          </p:nvPr>
        </p:nvSpPr>
        <p:spPr/>
        <p:txBody>
          <a:bodyPr/>
          <a:lstStyle/>
          <a:p>
            <a:fld id="{9E0F6D8F-52A4-4325-8831-5D637055B7D3}" type="slidenum">
              <a:rPr lang="en-GB" smtClean="0"/>
              <a:t>8</a:t>
            </a:fld>
            <a:endParaRPr lang="en-GB"/>
          </a:p>
        </p:txBody>
      </p:sp>
    </p:spTree>
    <p:extLst>
      <p:ext uri="{BB962C8B-B14F-4D97-AF65-F5344CB8AC3E}">
        <p14:creationId xmlns:p14="http://schemas.microsoft.com/office/powerpoint/2010/main" val="2497335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832D6-93B7-30EB-3C56-C8F8978E2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2EF9F6-D98B-1224-C095-3E9CA2CBB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E7661-AD03-E234-1A85-B1C4F638E1CF}"/>
              </a:ext>
            </a:extLst>
          </p:cNvPr>
          <p:cNvSpPr>
            <a:spLocks noGrp="1"/>
          </p:cNvSpPr>
          <p:nvPr>
            <p:ph type="body" idx="1"/>
          </p:nvPr>
        </p:nvSpPr>
        <p:spPr/>
        <p:txBody>
          <a:bodyPr/>
          <a:lstStyle/>
          <a:p>
            <a:pPr>
              <a:defRPr/>
            </a:pPr>
            <a:r>
              <a:rPr lang="sr-Latn-RS">
                <a:solidFill>
                  <a:schemeClr val="bg2">
                    <a:lumMod val="10000"/>
                  </a:schemeClr>
                </a:solidFill>
              </a:rPr>
              <a:t>Област је прошла пут од спајања унапред снимљених делова до модела који сами уче репрезентације текста, говорника и стила. Развој области показује зашто су данашњи системи флексибилнији: све више особина говора уче из података уместо да се ручно задају. Развој области показује зашто су данашњи системи природнији, али и рачунски захтевнији.</a:t>
            </a:r>
            <a:endParaRPr lang="en-US"/>
          </a:p>
        </p:txBody>
      </p:sp>
      <p:sp>
        <p:nvSpPr>
          <p:cNvPr id="4" name="Slide Number Placeholder 3">
            <a:extLst>
              <a:ext uri="{FF2B5EF4-FFF2-40B4-BE49-F238E27FC236}">
                <a16:creationId xmlns:a16="http://schemas.microsoft.com/office/drawing/2014/main" id="{82BF4BAD-65F0-A1F3-633B-6F2C7772B7DE}"/>
              </a:ext>
            </a:extLst>
          </p:cNvPr>
          <p:cNvSpPr>
            <a:spLocks noGrp="1"/>
          </p:cNvSpPr>
          <p:nvPr>
            <p:ph type="sldNum" sz="quarter" idx="10"/>
          </p:nvPr>
        </p:nvSpPr>
        <p:spPr/>
        <p:txBody>
          <a:bodyPr/>
          <a:lstStyle/>
          <a:p>
            <a:fld id="{9E0F6D8F-52A4-4325-8831-5D637055B7D3}" type="slidenum">
              <a:rPr lang="en-GB" smtClean="0"/>
              <a:t>9</a:t>
            </a:fld>
            <a:endParaRPr lang="en-GB"/>
          </a:p>
        </p:txBody>
      </p:sp>
    </p:spTree>
    <p:extLst>
      <p:ext uri="{BB962C8B-B14F-4D97-AF65-F5344CB8AC3E}">
        <p14:creationId xmlns:p14="http://schemas.microsoft.com/office/powerpoint/2010/main" val="3996009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D0836-83C9-D675-8EDD-430C3B35B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CEF86-A68A-548B-EBA7-584097BE46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DD39A-8B19-961F-9D26-E080068326A4}"/>
              </a:ext>
            </a:extLst>
          </p:cNvPr>
          <p:cNvSpPr>
            <a:spLocks noGrp="1"/>
          </p:cNvSpPr>
          <p:nvPr>
            <p:ph type="body" idx="1"/>
          </p:nvPr>
        </p:nvSpPr>
        <p:spPr/>
        <p:txBody>
          <a:bodyPr/>
          <a:lstStyle/>
          <a:p>
            <a:pPr>
              <a:defRPr/>
            </a:pPr>
            <a:r>
              <a:rPr lang="sr-Latn-RS">
                <a:solidFill>
                  <a:schemeClr val="bg2">
                    <a:lumMod val="10000"/>
                  </a:schemeClr>
                </a:solidFill>
              </a:rPr>
              <a:t>Без обзира на архитектуру, ток обично има обраду текста, акустичко моделирање и корак који коначну репрезентацију претвара у звук. Овај основни ток помаже да се ChatTTS касније смести у шири контекст неуронских TTS система. Овај ток је користан као мапа: ако резултат звучи лоше, грешка може бити у било ком кораку.</a:t>
            </a:r>
            <a:endParaRPr lang="en-US"/>
          </a:p>
        </p:txBody>
      </p:sp>
      <p:sp>
        <p:nvSpPr>
          <p:cNvPr id="4" name="Slide Number Placeholder 3">
            <a:extLst>
              <a:ext uri="{FF2B5EF4-FFF2-40B4-BE49-F238E27FC236}">
                <a16:creationId xmlns:a16="http://schemas.microsoft.com/office/drawing/2014/main" id="{640A70B8-A1CE-6980-65A2-86AB78442FBF}"/>
              </a:ext>
            </a:extLst>
          </p:cNvPr>
          <p:cNvSpPr>
            <a:spLocks noGrp="1"/>
          </p:cNvSpPr>
          <p:nvPr>
            <p:ph type="sldNum" sz="quarter" idx="10"/>
          </p:nvPr>
        </p:nvSpPr>
        <p:spPr/>
        <p:txBody>
          <a:bodyPr/>
          <a:lstStyle/>
          <a:p>
            <a:fld id="{9E0F6D8F-52A4-4325-8831-5D637055B7D3}" type="slidenum">
              <a:rPr lang="en-GB" smtClean="0"/>
              <a:t>10</a:t>
            </a:fld>
            <a:endParaRPr lang="en-GB"/>
          </a:p>
        </p:txBody>
      </p:sp>
    </p:spTree>
    <p:extLst>
      <p:ext uri="{BB962C8B-B14F-4D97-AF65-F5344CB8AC3E}">
        <p14:creationId xmlns:p14="http://schemas.microsoft.com/office/powerpoint/2010/main" val="14282098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8764E-7341-082C-DC7F-310979168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FA6A5-B2D7-A0EB-8E9E-A8564FF1B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21377-1050-2276-4FC8-D8775F361220}"/>
              </a:ext>
            </a:extLst>
          </p:cNvPr>
          <p:cNvSpPr>
            <a:spLocks noGrp="1"/>
          </p:cNvSpPr>
          <p:nvPr>
            <p:ph type="body" idx="1"/>
          </p:nvPr>
        </p:nvSpPr>
        <p:spPr/>
        <p:txBody>
          <a:bodyPr/>
          <a:lstStyle/>
          <a:p>
            <a:pPr>
              <a:defRPr/>
            </a:pPr>
            <a:r>
              <a:rPr lang="sr-Latn-RS">
                <a:solidFill>
                  <a:schemeClr val="bg2">
                    <a:lumMod val="10000"/>
                  </a:schemeClr>
                </a:solidFill>
              </a:rPr>
              <a:t>Ови елементи показују да ChatTTS не генерише увек један фиксни излаз. На говор могу да утичу параметри узорковања, стилски токени и избор говорника. У овом раду они нису систематски испитивани, већ су наведени као важан простор за даље експерименте.</a:t>
            </a:r>
            <a:endParaRPr lang="en-US">
              <a:solidFill>
                <a:schemeClr val="bg2">
                  <a:lumMod val="10000"/>
                </a:schemeClr>
              </a:solidFill>
            </a:endParaRPr>
          </a:p>
        </p:txBody>
      </p:sp>
      <p:sp>
        <p:nvSpPr>
          <p:cNvPr id="4" name="Slide Number Placeholder 3">
            <a:extLst>
              <a:ext uri="{FF2B5EF4-FFF2-40B4-BE49-F238E27FC236}">
                <a16:creationId xmlns:a16="http://schemas.microsoft.com/office/drawing/2014/main" id="{F4DD39FF-AD6E-FDB7-3F4E-31248B2A024F}"/>
              </a:ext>
            </a:extLst>
          </p:cNvPr>
          <p:cNvSpPr>
            <a:spLocks noGrp="1"/>
          </p:cNvSpPr>
          <p:nvPr>
            <p:ph type="sldNum" sz="quarter" idx="10"/>
          </p:nvPr>
        </p:nvSpPr>
        <p:spPr/>
        <p:txBody>
          <a:bodyPr/>
          <a:lstStyle/>
          <a:p>
            <a:fld id="{9E0F6D8F-52A4-4325-8831-5D637055B7D3}" type="slidenum">
              <a:rPr lang="en-GB" smtClean="0"/>
              <a:t>11</a:t>
            </a:fld>
            <a:endParaRPr lang="en-GB"/>
          </a:p>
        </p:txBody>
      </p:sp>
    </p:spTree>
    <p:extLst>
      <p:ext uri="{BB962C8B-B14F-4D97-AF65-F5344CB8AC3E}">
        <p14:creationId xmlns:p14="http://schemas.microsoft.com/office/powerpoint/2010/main" val="1790488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A9A4F-B18E-CB2A-A44A-A566C9E1EB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37D1D6-73DD-1238-80F5-C4ADA17CAA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75FD-DEC4-1524-74BA-216D246E1370}"/>
              </a:ext>
            </a:extLst>
          </p:cNvPr>
          <p:cNvSpPr>
            <a:spLocks noGrp="1"/>
          </p:cNvSpPr>
          <p:nvPr>
            <p:ph type="body" idx="1"/>
          </p:nvPr>
        </p:nvSpPr>
        <p:spPr/>
        <p:txBody>
          <a:bodyPr/>
          <a:lstStyle/>
          <a:p>
            <a:pPr>
              <a:defRPr/>
            </a:pPr>
            <a:r>
              <a:rPr lang="sr-Latn-RS">
                <a:solidFill>
                  <a:schemeClr val="bg2">
                    <a:lumMod val="10000"/>
                  </a:schemeClr>
                </a:solidFill>
              </a:rPr>
              <a:t>Овај слајд приказује поједностављен ток ChatTTS система. Улаз је текст, који се најпре припрема у кораку text refinement, где се могу додати или обрадити контролне ознаке. Затим ауторегресивни модел не генерише одмах waveform, већ низ дискретних говорних кодова. Тек на крају audio decoder те кодове претвара у звучни сигнал који можемо да сачувамо и анализирамо.</a:t>
            </a:r>
            <a:endParaRPr lang="en-US"/>
          </a:p>
        </p:txBody>
      </p:sp>
      <p:sp>
        <p:nvSpPr>
          <p:cNvPr id="4" name="Slide Number Placeholder 3">
            <a:extLst>
              <a:ext uri="{FF2B5EF4-FFF2-40B4-BE49-F238E27FC236}">
                <a16:creationId xmlns:a16="http://schemas.microsoft.com/office/drawing/2014/main" id="{6C4F3767-D437-5A13-9660-7AD1705E9AB8}"/>
              </a:ext>
            </a:extLst>
          </p:cNvPr>
          <p:cNvSpPr>
            <a:spLocks noGrp="1"/>
          </p:cNvSpPr>
          <p:nvPr>
            <p:ph type="sldNum" sz="quarter" idx="10"/>
          </p:nvPr>
        </p:nvSpPr>
        <p:spPr/>
        <p:txBody>
          <a:bodyPr/>
          <a:lstStyle/>
          <a:p>
            <a:fld id="{9E0F6D8F-52A4-4325-8831-5D637055B7D3}" type="slidenum">
              <a:rPr lang="en-GB" smtClean="0"/>
              <a:t>12</a:t>
            </a:fld>
            <a:endParaRPr lang="en-GB"/>
          </a:p>
        </p:txBody>
      </p:sp>
    </p:spTree>
    <p:extLst>
      <p:ext uri="{BB962C8B-B14F-4D97-AF65-F5344CB8AC3E}">
        <p14:creationId xmlns:p14="http://schemas.microsoft.com/office/powerpoint/2010/main" val="1041308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06394-DE23-258C-E8AE-D318987ADD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E0C88-172D-7A09-8300-DA7F32DD7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ADEAB-5509-83E0-085C-B7082F340A88}"/>
              </a:ext>
            </a:extLst>
          </p:cNvPr>
          <p:cNvSpPr>
            <a:spLocks noGrp="1"/>
          </p:cNvSpPr>
          <p:nvPr>
            <p:ph type="body" idx="1"/>
          </p:nvPr>
        </p:nvSpPr>
        <p:spPr/>
        <p:txBody>
          <a:bodyPr/>
          <a:lstStyle/>
          <a:p>
            <a:pPr>
              <a:defRPr/>
            </a:pPr>
            <a:r>
              <a:rPr lang="sr-Latn-RS">
                <a:solidFill>
                  <a:schemeClr val="bg2">
                    <a:lumMod val="10000"/>
                  </a:schemeClr>
                </a:solidFill>
              </a:rPr>
              <a:t>Овај слајд показује да код ChatTTS-а улаз није само обичан текст. Текст се може допунити контролним ознакама које моделу дају смернице како да га изговори. У примеру се додаје ознака за говорнији, природнији стил и ознака за паузу. Због тога исти текст може добити различит ритам, паузе и интонацију у зависности од контролисане секвенце.</a:t>
            </a:r>
            <a:endParaRPr lang="en-US"/>
          </a:p>
        </p:txBody>
      </p:sp>
      <p:sp>
        <p:nvSpPr>
          <p:cNvPr id="4" name="Slide Number Placeholder 3">
            <a:extLst>
              <a:ext uri="{FF2B5EF4-FFF2-40B4-BE49-F238E27FC236}">
                <a16:creationId xmlns:a16="http://schemas.microsoft.com/office/drawing/2014/main" id="{E6E1834F-A7F4-C1D7-4C76-3605A9C816CE}"/>
              </a:ext>
            </a:extLst>
          </p:cNvPr>
          <p:cNvSpPr>
            <a:spLocks noGrp="1"/>
          </p:cNvSpPr>
          <p:nvPr>
            <p:ph type="sldNum" sz="quarter" idx="10"/>
          </p:nvPr>
        </p:nvSpPr>
        <p:spPr/>
        <p:txBody>
          <a:bodyPr/>
          <a:lstStyle/>
          <a:p>
            <a:fld id="{9E0F6D8F-52A4-4325-8831-5D637055B7D3}" type="slidenum">
              <a:rPr lang="en-GB" smtClean="0"/>
              <a:t>13</a:t>
            </a:fld>
            <a:endParaRPr lang="en-GB"/>
          </a:p>
        </p:txBody>
      </p:sp>
    </p:spTree>
    <p:extLst>
      <p:ext uri="{BB962C8B-B14F-4D97-AF65-F5344CB8AC3E}">
        <p14:creationId xmlns:p14="http://schemas.microsoft.com/office/powerpoint/2010/main" val="2285697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1DD00-49ED-8C6A-0472-E74914470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E6F4E-EB3C-A485-DA30-9C118138B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0E8BA-0AD9-BEF7-51E4-6BEF97D22B45}"/>
              </a:ext>
            </a:extLst>
          </p:cNvPr>
          <p:cNvSpPr>
            <a:spLocks noGrp="1"/>
          </p:cNvSpPr>
          <p:nvPr>
            <p:ph type="body" idx="1"/>
          </p:nvPr>
        </p:nvSpPr>
        <p:spPr/>
        <p:txBody>
          <a:bodyPr/>
          <a:lstStyle/>
          <a:p>
            <a:pPr>
              <a:defRPr/>
            </a:pPr>
            <a:r>
              <a:rPr lang="sr-Latn-RS">
                <a:solidFill>
                  <a:schemeClr val="bg2">
                    <a:lumMod val="10000"/>
                  </a:schemeClr>
                </a:solidFill>
              </a:rPr>
              <a:t>Овај слајд објашњава зашто ChatTTS не мора директно да генерише сиров аудио-сигнал. Уместо да предвиђа сваки узорак waveform-а, модел прво генерише низ дискретних говорних кодова. Ти кодови су компактна репрезентација говора и садрже информације потребне за каснију реконструкцију звука. На крају audio decoder из тих кодова добија waveform, па квалитет зависи и од тога колико су кодови добро генерисани и од тога колико их decoder добро претвара у звук.</a:t>
            </a:r>
            <a:endParaRPr lang="en-US"/>
          </a:p>
        </p:txBody>
      </p:sp>
      <p:sp>
        <p:nvSpPr>
          <p:cNvPr id="4" name="Slide Number Placeholder 3">
            <a:extLst>
              <a:ext uri="{FF2B5EF4-FFF2-40B4-BE49-F238E27FC236}">
                <a16:creationId xmlns:a16="http://schemas.microsoft.com/office/drawing/2014/main" id="{ECC4A682-C2C2-419A-4034-10A45A1916EB}"/>
              </a:ext>
            </a:extLst>
          </p:cNvPr>
          <p:cNvSpPr>
            <a:spLocks noGrp="1"/>
          </p:cNvSpPr>
          <p:nvPr>
            <p:ph type="sldNum" sz="quarter" idx="10"/>
          </p:nvPr>
        </p:nvSpPr>
        <p:spPr/>
        <p:txBody>
          <a:bodyPr/>
          <a:lstStyle/>
          <a:p>
            <a:fld id="{9E0F6D8F-52A4-4325-8831-5D637055B7D3}" type="slidenum">
              <a:rPr lang="en-GB" smtClean="0"/>
              <a:t>14</a:t>
            </a:fld>
            <a:endParaRPr lang="en-GB"/>
          </a:p>
        </p:txBody>
      </p:sp>
    </p:spTree>
    <p:extLst>
      <p:ext uri="{BB962C8B-B14F-4D97-AF65-F5344CB8AC3E}">
        <p14:creationId xmlns:p14="http://schemas.microsoft.com/office/powerpoint/2010/main" val="953835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7EDAC-DB08-FE64-1741-2D0C502F28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F3CF3-7513-64DE-C4CE-23979B99B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00FE4-BF81-61D4-504B-CDEBAC56447E}"/>
              </a:ext>
            </a:extLst>
          </p:cNvPr>
          <p:cNvSpPr>
            <a:spLocks noGrp="1"/>
          </p:cNvSpPr>
          <p:nvPr>
            <p:ph type="body" idx="1"/>
          </p:nvPr>
        </p:nvSpPr>
        <p:spPr/>
        <p:txBody>
          <a:bodyPr/>
          <a:lstStyle/>
          <a:p>
            <a:pPr>
              <a:defRPr/>
            </a:pPr>
            <a:r>
              <a:rPr lang="sr-Latn-RS">
                <a:solidFill>
                  <a:schemeClr val="bg2">
                    <a:lumMod val="10000"/>
                  </a:schemeClr>
                </a:solidFill>
              </a:rPr>
              <a:t>Овај слајд објашњава ауторегресивни начин генерисања. Модел не формира целу говорну секвенцу одједном, већ прво генерише први код, затим други на основу првог, трећи на основу претходних и тако даље. Предност је што модел може да користи претходни контекст и да боље обликује ритам и ток говора. Цена је то што се генерисање тешко потпуно паралелизује, па може бити спорије од модела који целу секвенцу предвиђају одједном.</a:t>
            </a:r>
            <a:endParaRPr lang="en-US"/>
          </a:p>
        </p:txBody>
      </p:sp>
      <p:sp>
        <p:nvSpPr>
          <p:cNvPr id="4" name="Slide Number Placeholder 3">
            <a:extLst>
              <a:ext uri="{FF2B5EF4-FFF2-40B4-BE49-F238E27FC236}">
                <a16:creationId xmlns:a16="http://schemas.microsoft.com/office/drawing/2014/main" id="{FC47704B-31D2-5D64-06B1-810381C2AAAA}"/>
              </a:ext>
            </a:extLst>
          </p:cNvPr>
          <p:cNvSpPr>
            <a:spLocks noGrp="1"/>
          </p:cNvSpPr>
          <p:nvPr>
            <p:ph type="sldNum" sz="quarter" idx="10"/>
          </p:nvPr>
        </p:nvSpPr>
        <p:spPr/>
        <p:txBody>
          <a:bodyPr/>
          <a:lstStyle/>
          <a:p>
            <a:fld id="{9E0F6D8F-52A4-4325-8831-5D637055B7D3}" type="slidenum">
              <a:rPr lang="en-GB" smtClean="0"/>
              <a:t>15</a:t>
            </a:fld>
            <a:endParaRPr lang="en-GB"/>
          </a:p>
        </p:txBody>
      </p:sp>
    </p:spTree>
    <p:extLst>
      <p:ext uri="{BB962C8B-B14F-4D97-AF65-F5344CB8AC3E}">
        <p14:creationId xmlns:p14="http://schemas.microsoft.com/office/powerpoint/2010/main" val="3902586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DB0B6-D65D-E6D5-3BC1-FC46FE8DC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E0585-AF72-90B9-BF56-4F84A5BFD0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0E354-F764-1932-3EE5-23204AC64ECA}"/>
              </a:ext>
            </a:extLst>
          </p:cNvPr>
          <p:cNvSpPr>
            <a:spLocks noGrp="1"/>
          </p:cNvSpPr>
          <p:nvPr>
            <p:ph type="body" idx="1"/>
          </p:nvPr>
        </p:nvSpPr>
        <p:spPr/>
        <p:txBody>
          <a:bodyPr/>
          <a:lstStyle/>
          <a:p>
            <a:pPr>
              <a:defRPr/>
            </a:pPr>
            <a:r>
              <a:rPr lang="sr-Latn-RS">
                <a:solidFill>
                  <a:schemeClr val="bg2">
                    <a:lumMod val="10000"/>
                  </a:schemeClr>
                </a:solidFill>
              </a:rPr>
              <a:t>Овај слајд приказује шта све може да утиче на коначни глас, чак и када је улазни текст исти. Speaker embedding одређује карактер гласа, односно да ли више примера звуче као исти или различити говорник. Sampling параметри утичу на то колико ће излаз бити стабилан или варијабилан. Control tokens додају стилске елементе као што су паузе, смех или говорнији начин изговора. У овом раду ови параметри нису систематски мењани, али су важни за разумевање могућности и ограничења ChatTTS-а.</a:t>
            </a:r>
            <a:endParaRPr lang="en-US"/>
          </a:p>
        </p:txBody>
      </p:sp>
      <p:sp>
        <p:nvSpPr>
          <p:cNvPr id="4" name="Slide Number Placeholder 3">
            <a:extLst>
              <a:ext uri="{FF2B5EF4-FFF2-40B4-BE49-F238E27FC236}">
                <a16:creationId xmlns:a16="http://schemas.microsoft.com/office/drawing/2014/main" id="{B56F829C-F110-F395-52E8-04A0E5CFF0B4}"/>
              </a:ext>
            </a:extLst>
          </p:cNvPr>
          <p:cNvSpPr>
            <a:spLocks noGrp="1"/>
          </p:cNvSpPr>
          <p:nvPr>
            <p:ph type="sldNum" sz="quarter" idx="10"/>
          </p:nvPr>
        </p:nvSpPr>
        <p:spPr/>
        <p:txBody>
          <a:bodyPr/>
          <a:lstStyle/>
          <a:p>
            <a:fld id="{9E0F6D8F-52A4-4325-8831-5D637055B7D3}" type="slidenum">
              <a:rPr lang="en-GB" smtClean="0"/>
              <a:t>16</a:t>
            </a:fld>
            <a:endParaRPr lang="en-GB"/>
          </a:p>
        </p:txBody>
      </p:sp>
    </p:spTree>
    <p:extLst>
      <p:ext uri="{BB962C8B-B14F-4D97-AF65-F5344CB8AC3E}">
        <p14:creationId xmlns:p14="http://schemas.microsoft.com/office/powerpoint/2010/main" val="984488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775DE-C239-4AE6-9C5D-87AD037116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EBB52-9DDB-3472-3610-B95A37CAE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6634C-6FA4-3F04-6D8D-D52C2F0B8CC6}"/>
              </a:ext>
            </a:extLst>
          </p:cNvPr>
          <p:cNvSpPr>
            <a:spLocks noGrp="1"/>
          </p:cNvSpPr>
          <p:nvPr>
            <p:ph type="body" idx="1"/>
          </p:nvPr>
        </p:nvSpPr>
        <p:spPr/>
        <p:txBody>
          <a:bodyPr/>
          <a:lstStyle/>
          <a:p>
            <a:pPr>
              <a:defRPr/>
            </a:pPr>
            <a:r>
              <a:rPr lang="sr-Latn-RS">
                <a:solidFill>
                  <a:schemeClr val="bg2">
                    <a:lumMod val="10000"/>
                  </a:schemeClr>
                </a:solidFill>
              </a:rPr>
              <a:t>Овај слајд приказује последњи корак у ChatTTS току. Након што модел генерише дискретне говорне кодове, они још увек нису звук који можемо директно да слушамо. Decoder, односно vocoder, претвара те кодове у waveform, у овом случају са фреквенцијом од 24 kHz. Зато квалитет коначног гласа не зависи само од тога колико је добар текстуални или ауторегресивни модел, већ и од тога колико decoder добро реконструише звучни сигнал.</a:t>
            </a:r>
            <a:endParaRPr lang="en-US"/>
          </a:p>
        </p:txBody>
      </p:sp>
      <p:sp>
        <p:nvSpPr>
          <p:cNvPr id="4" name="Slide Number Placeholder 3">
            <a:extLst>
              <a:ext uri="{FF2B5EF4-FFF2-40B4-BE49-F238E27FC236}">
                <a16:creationId xmlns:a16="http://schemas.microsoft.com/office/drawing/2014/main" id="{6DB13150-66F4-3A3B-4440-8231BCB97ED9}"/>
              </a:ext>
            </a:extLst>
          </p:cNvPr>
          <p:cNvSpPr>
            <a:spLocks noGrp="1"/>
          </p:cNvSpPr>
          <p:nvPr>
            <p:ph type="sldNum" sz="quarter" idx="10"/>
          </p:nvPr>
        </p:nvSpPr>
        <p:spPr/>
        <p:txBody>
          <a:bodyPr/>
          <a:lstStyle/>
          <a:p>
            <a:fld id="{9E0F6D8F-52A4-4325-8831-5D637055B7D3}" type="slidenum">
              <a:rPr lang="en-GB" smtClean="0"/>
              <a:t>17</a:t>
            </a:fld>
            <a:endParaRPr lang="en-GB"/>
          </a:p>
        </p:txBody>
      </p:sp>
    </p:spTree>
    <p:extLst>
      <p:ext uri="{BB962C8B-B14F-4D97-AF65-F5344CB8AC3E}">
        <p14:creationId xmlns:p14="http://schemas.microsoft.com/office/powerpoint/2010/main" val="1026054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6A06D-0499-D9CF-83DD-9763A26A3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E56B1-5FBB-40A2-3E60-7F7EC7391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0761A-C757-02A9-C8C0-79584810D149}"/>
              </a:ext>
            </a:extLst>
          </p:cNvPr>
          <p:cNvSpPr>
            <a:spLocks noGrp="1"/>
          </p:cNvSpPr>
          <p:nvPr>
            <p:ph type="body" idx="1"/>
          </p:nvPr>
        </p:nvSpPr>
        <p:spPr/>
        <p:txBody>
          <a:bodyPr/>
          <a:lstStyle/>
          <a:p>
            <a:pPr>
              <a:defRPr/>
            </a:pPr>
            <a:r>
              <a:rPr lang="sr-Latn-RS">
                <a:solidFill>
                  <a:schemeClr val="bg2">
                    <a:lumMod val="10000"/>
                  </a:schemeClr>
                </a:solidFill>
              </a:rPr>
              <a:t>Прозодија описује начин на који је нешто изговорено, а не само шта је изговорено. Pitch, односно F0, одређује висину гласа и мелодију реченице. Енергија показује јачину изговора и помаже да се истакну важне речи. Трајање утиче на ритам и темпо, док паузе раздвајају фразе и чине говор разумљивијим. Зато TTS систем може да изговори тачан текст, али да ипак звучи неприродно ако су интонација, нагласак или паузе лоше постављени.</a:t>
            </a:r>
            <a:endParaRPr lang="en-US"/>
          </a:p>
        </p:txBody>
      </p:sp>
      <p:sp>
        <p:nvSpPr>
          <p:cNvPr id="4" name="Slide Number Placeholder 3">
            <a:extLst>
              <a:ext uri="{FF2B5EF4-FFF2-40B4-BE49-F238E27FC236}">
                <a16:creationId xmlns:a16="http://schemas.microsoft.com/office/drawing/2014/main" id="{E13CDFB4-7175-EEC6-307C-49C221C611B0}"/>
              </a:ext>
            </a:extLst>
          </p:cNvPr>
          <p:cNvSpPr>
            <a:spLocks noGrp="1"/>
          </p:cNvSpPr>
          <p:nvPr>
            <p:ph type="sldNum" sz="quarter" idx="10"/>
          </p:nvPr>
        </p:nvSpPr>
        <p:spPr/>
        <p:txBody>
          <a:bodyPr/>
          <a:lstStyle/>
          <a:p>
            <a:fld id="{9E0F6D8F-52A4-4325-8831-5D637055B7D3}" type="slidenum">
              <a:rPr lang="en-GB" smtClean="0"/>
              <a:t>18</a:t>
            </a:fld>
            <a:endParaRPr lang="en-GB"/>
          </a:p>
        </p:txBody>
      </p:sp>
    </p:spTree>
    <p:extLst>
      <p:ext uri="{BB962C8B-B14F-4D97-AF65-F5344CB8AC3E}">
        <p14:creationId xmlns:p14="http://schemas.microsoft.com/office/powerpoint/2010/main" val="811392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B3F3-2515-2667-8673-EDDB967ED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03C32-813F-E862-4815-AEB86EED5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3B2B97-6FDE-0826-A823-4FA5589C30AD}"/>
              </a:ext>
            </a:extLst>
          </p:cNvPr>
          <p:cNvSpPr>
            <a:spLocks noGrp="1"/>
          </p:cNvSpPr>
          <p:nvPr>
            <p:ph type="body" idx="1"/>
          </p:nvPr>
        </p:nvSpPr>
        <p:spPr/>
        <p:txBody>
          <a:bodyPr/>
          <a:lstStyle/>
          <a:p>
            <a:pPr>
              <a:defRPr/>
            </a:pPr>
            <a:r>
              <a:rPr lang="sr-Latn-RS">
                <a:solidFill>
                  <a:schemeClr val="bg2">
                    <a:lumMod val="10000"/>
                  </a:schemeClr>
                </a:solidFill>
              </a:rPr>
              <a:t>Квалитет посматрам из три угла: колико је систем брз, шта можемо да измеримо у сигналу и како говор звучи слушаоцу. Оцена TTS-а мора бити вишедимензионална: брз систем није довољан ако је говор неприродан, а добар звук није довољан ако је спор. Квалитет је овде посматран из више углова, јер брз, али неприродан говор није довољан.</a:t>
            </a:r>
            <a:endParaRPr lang="en-US"/>
          </a:p>
        </p:txBody>
      </p:sp>
      <p:sp>
        <p:nvSpPr>
          <p:cNvPr id="4" name="Slide Number Placeholder 3">
            <a:extLst>
              <a:ext uri="{FF2B5EF4-FFF2-40B4-BE49-F238E27FC236}">
                <a16:creationId xmlns:a16="http://schemas.microsoft.com/office/drawing/2014/main" id="{BC058D85-B7AA-4BEB-5971-E9907C2CF8B7}"/>
              </a:ext>
            </a:extLst>
          </p:cNvPr>
          <p:cNvSpPr>
            <a:spLocks noGrp="1"/>
          </p:cNvSpPr>
          <p:nvPr>
            <p:ph type="sldNum" sz="quarter" idx="10"/>
          </p:nvPr>
        </p:nvSpPr>
        <p:spPr/>
        <p:txBody>
          <a:bodyPr/>
          <a:lstStyle/>
          <a:p>
            <a:fld id="{9E0F6D8F-52A4-4325-8831-5D637055B7D3}" type="slidenum">
              <a:rPr lang="en-GB" smtClean="0"/>
              <a:t>19</a:t>
            </a:fld>
            <a:endParaRPr lang="en-GB"/>
          </a:p>
        </p:txBody>
      </p:sp>
    </p:spTree>
    <p:extLst>
      <p:ext uri="{BB962C8B-B14F-4D97-AF65-F5344CB8AC3E}">
        <p14:creationId xmlns:p14="http://schemas.microsoft.com/office/powerpoint/2010/main" val="30208378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A1AF-7ABC-05A3-5F4D-44ADA2DB4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D1DE8-215E-B150-9648-3AD46843E9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CA27B-8C19-E572-5CA7-99AA4040D883}"/>
              </a:ext>
            </a:extLst>
          </p:cNvPr>
          <p:cNvSpPr>
            <a:spLocks noGrp="1"/>
          </p:cNvSpPr>
          <p:nvPr>
            <p:ph type="body" idx="1"/>
          </p:nvPr>
        </p:nvSpPr>
        <p:spPr/>
        <p:txBody>
          <a:bodyPr/>
          <a:lstStyle/>
          <a:p>
            <a:pPr>
              <a:defRPr/>
            </a:pPr>
            <a:r>
              <a:rPr lang="sr-Latn-RS">
                <a:solidFill>
                  <a:schemeClr val="bg2">
                    <a:lumMod val="10000"/>
                  </a:schemeClr>
                </a:solidFill>
              </a:rPr>
              <a:t>RTF је једноставан однос времена синтезе и трајања добијеног звука. На пример, десет секунди рада за пет секунди звука даје RTF два. RTF је практична метрика јер одмах говори да ли систем може да ради у реалном времену или је погоднији за offline синтезу. RTF одмах говори да ли је систем ближи интерактивној употреби или offline синтези.</a:t>
            </a:r>
            <a:endParaRPr lang="en-US"/>
          </a:p>
        </p:txBody>
      </p:sp>
      <p:sp>
        <p:nvSpPr>
          <p:cNvPr id="4" name="Slide Number Placeholder 3">
            <a:extLst>
              <a:ext uri="{FF2B5EF4-FFF2-40B4-BE49-F238E27FC236}">
                <a16:creationId xmlns:a16="http://schemas.microsoft.com/office/drawing/2014/main" id="{C85F27FE-AA4B-5C3E-33B5-05DDC6B786B0}"/>
              </a:ext>
            </a:extLst>
          </p:cNvPr>
          <p:cNvSpPr>
            <a:spLocks noGrp="1"/>
          </p:cNvSpPr>
          <p:nvPr>
            <p:ph type="sldNum" sz="quarter" idx="10"/>
          </p:nvPr>
        </p:nvSpPr>
        <p:spPr/>
        <p:txBody>
          <a:bodyPr/>
          <a:lstStyle/>
          <a:p>
            <a:fld id="{9E0F6D8F-52A4-4325-8831-5D637055B7D3}" type="slidenum">
              <a:rPr lang="en-GB" smtClean="0"/>
              <a:t>20</a:t>
            </a:fld>
            <a:endParaRPr lang="en-GB"/>
          </a:p>
        </p:txBody>
      </p:sp>
    </p:spTree>
    <p:extLst>
      <p:ext uri="{BB962C8B-B14F-4D97-AF65-F5344CB8AC3E}">
        <p14:creationId xmlns:p14="http://schemas.microsoft.com/office/powerpoint/2010/main" val="2909432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CC4BE-5AFE-1C70-16CA-0202FEEA5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46827-36FB-5A9C-55D1-50707FEF5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6353E-EC4F-AC93-9011-B98004EC5704}"/>
              </a:ext>
            </a:extLst>
          </p:cNvPr>
          <p:cNvSpPr>
            <a:spLocks noGrp="1"/>
          </p:cNvSpPr>
          <p:nvPr>
            <p:ph type="body" idx="1"/>
          </p:nvPr>
        </p:nvSpPr>
        <p:spPr/>
        <p:txBody>
          <a:bodyPr/>
          <a:lstStyle/>
          <a:p>
            <a:pPr>
              <a:defRPr/>
            </a:pPr>
            <a:r>
              <a:rPr lang="sr-Latn-RS">
                <a:solidFill>
                  <a:schemeClr val="bg2">
                    <a:lumMod val="10000"/>
                  </a:schemeClr>
                </a:solidFill>
              </a:rPr>
              <a:t>RMS приближно описује енергију, ZCR брзе промене у сигналу, spectral centroid тежиште спектра, а pitch просечну основну фреквенцију. Акустичке метрике не описују потпуно људски утисак, али дају објективне сигнале о енергији, спектру и висини гласа. Ове мере не замењују слушање, али помажу да се разлике између примера опишу бројевима.</a:t>
            </a:r>
            <a:endParaRPr lang="en-US"/>
          </a:p>
        </p:txBody>
      </p:sp>
      <p:sp>
        <p:nvSpPr>
          <p:cNvPr id="4" name="Slide Number Placeholder 3">
            <a:extLst>
              <a:ext uri="{FF2B5EF4-FFF2-40B4-BE49-F238E27FC236}">
                <a16:creationId xmlns:a16="http://schemas.microsoft.com/office/drawing/2014/main" id="{23EA8186-0D03-5E2F-11EA-EC024D900F6E}"/>
              </a:ext>
            </a:extLst>
          </p:cNvPr>
          <p:cNvSpPr>
            <a:spLocks noGrp="1"/>
          </p:cNvSpPr>
          <p:nvPr>
            <p:ph type="sldNum" sz="quarter" idx="10"/>
          </p:nvPr>
        </p:nvSpPr>
        <p:spPr/>
        <p:txBody>
          <a:bodyPr/>
          <a:lstStyle/>
          <a:p>
            <a:fld id="{9E0F6D8F-52A4-4325-8831-5D637055B7D3}" type="slidenum">
              <a:rPr lang="en-GB" smtClean="0"/>
              <a:t>21</a:t>
            </a:fld>
            <a:endParaRPr lang="en-GB"/>
          </a:p>
        </p:txBody>
      </p:sp>
    </p:spTree>
    <p:extLst>
      <p:ext uri="{BB962C8B-B14F-4D97-AF65-F5344CB8AC3E}">
        <p14:creationId xmlns:p14="http://schemas.microsoft.com/office/powerpoint/2010/main" val="30007619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C786F-4985-C33B-F0F6-B81F232DA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F7CFE-6BB9-9553-1CE4-5D6FCAD0F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FB58C-BC0C-68D0-5A1E-13EDA81783BD}"/>
              </a:ext>
            </a:extLst>
          </p:cNvPr>
          <p:cNvSpPr>
            <a:spLocks noGrp="1"/>
          </p:cNvSpPr>
          <p:nvPr>
            <p:ph type="body" idx="1"/>
          </p:nvPr>
        </p:nvSpPr>
        <p:spPr/>
        <p:txBody>
          <a:bodyPr/>
          <a:lstStyle/>
          <a:p>
            <a:pPr>
              <a:defRPr/>
            </a:pPr>
            <a:r>
              <a:rPr lang="sr-Latn-RS">
                <a:solidFill>
                  <a:schemeClr val="bg2">
                    <a:lumMod val="10000"/>
                  </a:schemeClr>
                </a:solidFill>
              </a:rPr>
              <a:t>Поред аутоматских мера, оценио сам природност, разумљивост и број грешака. Ово је мала локална процена, а не формалан MOS тест са већом групом слушалаца. Субјективна процена је ограничена, али је корисна јер неке грешке у изговору и природности нису лако видљиве из самих бројчаних метрика. Слушна оцена је ограничена, али хвата грешке које табела сигнала не може лепо да објасни.</a:t>
            </a:r>
            <a:endParaRPr lang="en-US"/>
          </a:p>
        </p:txBody>
      </p:sp>
      <p:sp>
        <p:nvSpPr>
          <p:cNvPr id="4" name="Slide Number Placeholder 3">
            <a:extLst>
              <a:ext uri="{FF2B5EF4-FFF2-40B4-BE49-F238E27FC236}">
                <a16:creationId xmlns:a16="http://schemas.microsoft.com/office/drawing/2014/main" id="{4E013040-01B1-D16D-EA3A-39FDF85C2889}"/>
              </a:ext>
            </a:extLst>
          </p:cNvPr>
          <p:cNvSpPr>
            <a:spLocks noGrp="1"/>
          </p:cNvSpPr>
          <p:nvPr>
            <p:ph type="sldNum" sz="quarter" idx="10"/>
          </p:nvPr>
        </p:nvSpPr>
        <p:spPr/>
        <p:txBody>
          <a:bodyPr/>
          <a:lstStyle/>
          <a:p>
            <a:fld id="{9E0F6D8F-52A4-4325-8831-5D637055B7D3}" type="slidenum">
              <a:rPr lang="en-GB" smtClean="0"/>
              <a:t>22</a:t>
            </a:fld>
            <a:endParaRPr lang="en-GB"/>
          </a:p>
        </p:txBody>
      </p:sp>
    </p:spTree>
    <p:extLst>
      <p:ext uri="{BB962C8B-B14F-4D97-AF65-F5344CB8AC3E}">
        <p14:creationId xmlns:p14="http://schemas.microsoft.com/office/powerpoint/2010/main" val="30810806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267EE-BD8B-DF3D-FBF7-F980DD8CD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B7657-7489-6BA7-8A90-BF068D5D5D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B1940-2946-77EF-5C50-AB907D2E1E21}"/>
              </a:ext>
            </a:extLst>
          </p:cNvPr>
          <p:cNvSpPr>
            <a:spLocks noGrp="1"/>
          </p:cNvSpPr>
          <p:nvPr>
            <p:ph type="body" idx="1"/>
          </p:nvPr>
        </p:nvSpPr>
        <p:spPr/>
        <p:txBody>
          <a:bodyPr/>
          <a:lstStyle/>
          <a:p>
            <a:pPr>
              <a:defRPr/>
            </a:pPr>
            <a:r>
              <a:rPr lang="sr-Latn-RS">
                <a:solidFill>
                  <a:schemeClr val="bg2">
                    <a:lumMod val="10000"/>
                  </a:schemeClr>
                </a:solidFill>
              </a:rPr>
              <a:t>Десет текстова је подељено тако да посебно испитам дужину, стил, технички садржај и језик. Скуп од 10 текстова је мали, али је намерно припремљен тако да сваки пример испитује одређени фактор. Текстови су изабрани тако да сваки тестира једну практичну слабост или особину модела.</a:t>
            </a:r>
            <a:endParaRPr lang="en-US"/>
          </a:p>
        </p:txBody>
      </p:sp>
      <p:sp>
        <p:nvSpPr>
          <p:cNvPr id="4" name="Slide Number Placeholder 3">
            <a:extLst>
              <a:ext uri="{FF2B5EF4-FFF2-40B4-BE49-F238E27FC236}">
                <a16:creationId xmlns:a16="http://schemas.microsoft.com/office/drawing/2014/main" id="{66B03B19-87A4-45D0-F5E7-24E6BB793807}"/>
              </a:ext>
            </a:extLst>
          </p:cNvPr>
          <p:cNvSpPr>
            <a:spLocks noGrp="1"/>
          </p:cNvSpPr>
          <p:nvPr>
            <p:ph type="sldNum" sz="quarter" idx="10"/>
          </p:nvPr>
        </p:nvSpPr>
        <p:spPr/>
        <p:txBody>
          <a:bodyPr/>
          <a:lstStyle/>
          <a:p>
            <a:fld id="{9E0F6D8F-52A4-4325-8831-5D637055B7D3}" type="slidenum">
              <a:rPr lang="en-GB" smtClean="0"/>
              <a:t>23</a:t>
            </a:fld>
            <a:endParaRPr lang="en-GB"/>
          </a:p>
        </p:txBody>
      </p:sp>
    </p:spTree>
    <p:extLst>
      <p:ext uri="{BB962C8B-B14F-4D97-AF65-F5344CB8AC3E}">
        <p14:creationId xmlns:p14="http://schemas.microsoft.com/office/powerpoint/2010/main" val="19908947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6006-CD3E-3E4C-9057-C6E02D36E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4547A-31CA-6F0D-D31A-C3352CA68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A7367-8827-EF1C-A074-8972AAAF0081}"/>
              </a:ext>
            </a:extLst>
          </p:cNvPr>
          <p:cNvSpPr>
            <a:spLocks noGrp="1"/>
          </p:cNvSpPr>
          <p:nvPr>
            <p:ph type="body" idx="1"/>
          </p:nvPr>
        </p:nvSpPr>
        <p:spPr/>
        <p:txBody>
          <a:bodyPr/>
          <a:lstStyle/>
          <a:p>
            <a:pPr>
              <a:defRPr/>
            </a:pPr>
            <a:r>
              <a:rPr lang="sr-Latn-RS">
                <a:solidFill>
                  <a:schemeClr val="bg2">
                    <a:lumMod val="10000"/>
                  </a:schemeClr>
                </a:solidFill>
              </a:rPr>
              <a:t>Овај дијаграм приказује практични ток експеримента. Полази се од текстуалног манифеста, у коме су припремљени примери за синтезу. Затим ChatTTS модел за сваки улаз генерише WAV фајл. Ти аудио фајлови се не посматрају само слушно, већ се над њима мере карактеристике као што су трајање, време синтезе, real-time factor, pitch и енергија. На крају се резултати организују у табеле и графике, како би се лакше упоредили различити текстови, стилови и језици.</a:t>
            </a:r>
            <a:endParaRPr lang="en-US"/>
          </a:p>
        </p:txBody>
      </p:sp>
      <p:sp>
        <p:nvSpPr>
          <p:cNvPr id="4" name="Slide Number Placeholder 3">
            <a:extLst>
              <a:ext uri="{FF2B5EF4-FFF2-40B4-BE49-F238E27FC236}">
                <a16:creationId xmlns:a16="http://schemas.microsoft.com/office/drawing/2014/main" id="{38D20760-E91C-688B-EE00-9FA39E9B3352}"/>
              </a:ext>
            </a:extLst>
          </p:cNvPr>
          <p:cNvSpPr>
            <a:spLocks noGrp="1"/>
          </p:cNvSpPr>
          <p:nvPr>
            <p:ph type="sldNum" sz="quarter" idx="10"/>
          </p:nvPr>
        </p:nvSpPr>
        <p:spPr/>
        <p:txBody>
          <a:bodyPr/>
          <a:lstStyle/>
          <a:p>
            <a:fld id="{9E0F6D8F-52A4-4325-8831-5D637055B7D3}" type="slidenum">
              <a:rPr lang="en-GB" smtClean="0"/>
              <a:t>24</a:t>
            </a:fld>
            <a:endParaRPr lang="en-GB"/>
          </a:p>
        </p:txBody>
      </p:sp>
    </p:spTree>
    <p:extLst>
      <p:ext uri="{BB962C8B-B14F-4D97-AF65-F5344CB8AC3E}">
        <p14:creationId xmlns:p14="http://schemas.microsoft.com/office/powerpoint/2010/main" val="20327613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E8A52-FBC4-DC9D-6549-C054B0292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98E27-BDCE-E554-5B85-C64B9C9F6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5D4D3-316A-C522-535E-EE1609570149}"/>
              </a:ext>
            </a:extLst>
          </p:cNvPr>
          <p:cNvSpPr>
            <a:spLocks noGrp="1"/>
          </p:cNvSpPr>
          <p:nvPr>
            <p:ph type="body" idx="1"/>
          </p:nvPr>
        </p:nvSpPr>
        <p:spPr/>
        <p:txBody>
          <a:bodyPr/>
          <a:lstStyle/>
          <a:p>
            <a:pPr>
              <a:defRPr/>
            </a:pPr>
            <a:r>
              <a:rPr lang="sr-Latn-RS">
                <a:solidFill>
                  <a:schemeClr val="bg2">
                    <a:lumMod val="10000"/>
                  </a:schemeClr>
                </a:solidFill>
              </a:rPr>
              <a:t>Notebook повезује цео експеримент, док Python модул садржи функције за синтезу и анализу. Резултати су одвојени у WAV, CSV и PNG датотеке. Организација кода показује да су експерименти поновљиви: улазни manifest, генерисани WAV фајлови, табеле и графици су раздвојени. Оваква организација кода помаже да се види шта је улаз, шта је излаз и где су мерења.</a:t>
            </a:r>
            <a:endParaRPr lang="en-US"/>
          </a:p>
        </p:txBody>
      </p:sp>
      <p:sp>
        <p:nvSpPr>
          <p:cNvPr id="4" name="Slide Number Placeholder 3">
            <a:extLst>
              <a:ext uri="{FF2B5EF4-FFF2-40B4-BE49-F238E27FC236}">
                <a16:creationId xmlns:a16="http://schemas.microsoft.com/office/drawing/2014/main" id="{0AA85D8F-4344-E97E-9F61-22EB6258A6E3}"/>
              </a:ext>
            </a:extLst>
          </p:cNvPr>
          <p:cNvSpPr>
            <a:spLocks noGrp="1"/>
          </p:cNvSpPr>
          <p:nvPr>
            <p:ph type="sldNum" sz="quarter" idx="10"/>
          </p:nvPr>
        </p:nvSpPr>
        <p:spPr/>
        <p:txBody>
          <a:bodyPr/>
          <a:lstStyle/>
          <a:p>
            <a:fld id="{9E0F6D8F-52A4-4325-8831-5D637055B7D3}" type="slidenum">
              <a:rPr lang="en-GB" smtClean="0"/>
              <a:t>25</a:t>
            </a:fld>
            <a:endParaRPr lang="en-GB"/>
          </a:p>
        </p:txBody>
      </p:sp>
    </p:spTree>
    <p:extLst>
      <p:ext uri="{BB962C8B-B14F-4D97-AF65-F5344CB8AC3E}">
        <p14:creationId xmlns:p14="http://schemas.microsoft.com/office/powerpoint/2010/main" val="7946857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F750-2A69-4112-3AEB-14655FFD2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778AEC-5496-3D5B-A8BF-CF6D5BD8A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E621C2-7277-1AB7-E745-96D5F87A06AB}"/>
              </a:ext>
            </a:extLst>
          </p:cNvPr>
          <p:cNvSpPr>
            <a:spLocks noGrp="1"/>
          </p:cNvSpPr>
          <p:nvPr>
            <p:ph type="body" idx="1"/>
          </p:nvPr>
        </p:nvSpPr>
        <p:spPr/>
        <p:txBody>
          <a:bodyPr/>
          <a:lstStyle/>
          <a:p>
            <a:pPr>
              <a:defRPr/>
            </a:pPr>
            <a:r>
              <a:rPr lang="sr-Latn-RS">
                <a:solidFill>
                  <a:srgbClr val="1E1C11"/>
                </a:solidFill>
              </a:rPr>
              <a:t>На овом слајду је приказан кључни део кода за покретање ChatTTS синтезе. Прво се креира ChatTTS објекат и учитава локални модел. Затим се позива infer функција, која од улазног текста генерише аудио. Време синтезе се мери помоћу perf_counter, одмах око самог позива модела. Након тога се аудио нормализује, чува као WAV фајл на 24 k</a:t>
            </a:r>
            <a:endParaRPr lang="en-US"/>
          </a:p>
        </p:txBody>
      </p:sp>
      <p:sp>
        <p:nvSpPr>
          <p:cNvPr id="4" name="Slide Number Placeholder 3">
            <a:extLst>
              <a:ext uri="{FF2B5EF4-FFF2-40B4-BE49-F238E27FC236}">
                <a16:creationId xmlns:a16="http://schemas.microsoft.com/office/drawing/2014/main" id="{E4BDF6B1-3597-0373-828D-10DD158EB4EE}"/>
              </a:ext>
            </a:extLst>
          </p:cNvPr>
          <p:cNvSpPr>
            <a:spLocks noGrp="1"/>
          </p:cNvSpPr>
          <p:nvPr>
            <p:ph type="sldNum" sz="quarter" idx="10"/>
          </p:nvPr>
        </p:nvSpPr>
        <p:spPr/>
        <p:txBody>
          <a:bodyPr/>
          <a:lstStyle/>
          <a:p>
            <a:fld id="{9E0F6D8F-52A4-4325-8831-5D637055B7D3}" type="slidenum">
              <a:rPr lang="en-GB" smtClean="0"/>
              <a:t>26</a:t>
            </a:fld>
            <a:endParaRPr lang="en-GB"/>
          </a:p>
        </p:txBody>
      </p:sp>
    </p:spTree>
    <p:extLst>
      <p:ext uri="{BB962C8B-B14F-4D97-AF65-F5344CB8AC3E}">
        <p14:creationId xmlns:p14="http://schemas.microsoft.com/office/powerpoint/2010/main" val="2558902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8F765-F833-9450-62CF-03FFF2256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BF571-338E-AAC4-5CB3-0725DFA3EA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5970A-BEC6-B3A8-E5BB-88A6D1648B90}"/>
              </a:ext>
            </a:extLst>
          </p:cNvPr>
          <p:cNvSpPr>
            <a:spLocks noGrp="1"/>
          </p:cNvSpPr>
          <p:nvPr>
            <p:ph type="body" idx="1"/>
          </p:nvPr>
        </p:nvSpPr>
        <p:spPr/>
        <p:txBody>
          <a:bodyPr/>
          <a:lstStyle/>
          <a:p>
            <a:pPr>
              <a:defRPr/>
            </a:pPr>
            <a:r>
              <a:rPr lang="sr-Latn-RS">
                <a:solidFill>
                  <a:schemeClr val="bg2">
                    <a:lumMod val="10000"/>
                  </a:schemeClr>
                </a:solidFill>
              </a:rPr>
              <a:t>Овај слајд приказује други део обраде, од генерисаног WAV фајла до табеле са резултатима. Из аудио-сигнала се помоћу библиотеке librosa издвајају основне сигналне карактеристике: RMS енергија, zero-crossing rate, спектрални центроид и процена pitch-а. Затим се те вредности спајају са временским мерама, као што су време синтезе, трајање аудија и real-time factor. Сваки пример постаје један ред у табели, а табела се на крају чува као CSV фајл за каснији приказ и анализу.</a:t>
            </a:r>
            <a:endParaRPr lang="en-US"/>
          </a:p>
        </p:txBody>
      </p:sp>
      <p:sp>
        <p:nvSpPr>
          <p:cNvPr id="4" name="Slide Number Placeholder 3">
            <a:extLst>
              <a:ext uri="{FF2B5EF4-FFF2-40B4-BE49-F238E27FC236}">
                <a16:creationId xmlns:a16="http://schemas.microsoft.com/office/drawing/2014/main" id="{BFBFCA04-033F-ED50-4A0B-C4E105F5DCF0}"/>
              </a:ext>
            </a:extLst>
          </p:cNvPr>
          <p:cNvSpPr>
            <a:spLocks noGrp="1"/>
          </p:cNvSpPr>
          <p:nvPr>
            <p:ph type="sldNum" sz="quarter" idx="10"/>
          </p:nvPr>
        </p:nvSpPr>
        <p:spPr/>
        <p:txBody>
          <a:bodyPr/>
          <a:lstStyle/>
          <a:p>
            <a:fld id="{9E0F6D8F-52A4-4325-8831-5D637055B7D3}" type="slidenum">
              <a:rPr lang="en-GB" smtClean="0"/>
              <a:t>27</a:t>
            </a:fld>
            <a:endParaRPr lang="en-GB"/>
          </a:p>
        </p:txBody>
      </p:sp>
    </p:spTree>
    <p:extLst>
      <p:ext uri="{BB962C8B-B14F-4D97-AF65-F5344CB8AC3E}">
        <p14:creationId xmlns:p14="http://schemas.microsoft.com/office/powerpoint/2010/main" val="38122923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EFFE-489B-8F7F-97FD-045227D55F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099533-EC4C-E076-5560-F09CCBCDD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C2FF1-AC9A-43E1-BDB6-7C4A91462D2D}"/>
              </a:ext>
            </a:extLst>
          </p:cNvPr>
          <p:cNvSpPr>
            <a:spLocks noGrp="1"/>
          </p:cNvSpPr>
          <p:nvPr>
            <p:ph type="body" idx="1"/>
          </p:nvPr>
        </p:nvSpPr>
        <p:spPr/>
        <p:txBody>
          <a:bodyPr/>
          <a:lstStyle/>
          <a:p>
            <a:pPr>
              <a:defRPr/>
            </a:pPr>
            <a:r>
              <a:rPr lang="sr-Latn-RS">
                <a:solidFill>
                  <a:schemeClr val="bg2">
                    <a:lumMod val="10000"/>
                  </a:schemeClr>
                </a:solidFill>
              </a:rPr>
              <a:t>Таласни облик показује амплитуду и паузе, а mel спектрограм расподелу енергије кроз време. Сам изглед спектрограма ипак није оцена природности. Графици таласног облика и mel спектрограма су визуелна провера сигнала, али их треба тумачити заједно са слушањем и табелама. Waveform и mel спектрограм су брза визуелна провера да је аудио настао и да има смислену структуру.</a:t>
            </a:r>
            <a:endParaRPr lang="en-US"/>
          </a:p>
        </p:txBody>
      </p:sp>
      <p:sp>
        <p:nvSpPr>
          <p:cNvPr id="4" name="Slide Number Placeholder 3">
            <a:extLst>
              <a:ext uri="{FF2B5EF4-FFF2-40B4-BE49-F238E27FC236}">
                <a16:creationId xmlns:a16="http://schemas.microsoft.com/office/drawing/2014/main" id="{EB287BF1-BE93-D2FA-077E-79A5DE8AD22A}"/>
              </a:ext>
            </a:extLst>
          </p:cNvPr>
          <p:cNvSpPr>
            <a:spLocks noGrp="1"/>
          </p:cNvSpPr>
          <p:nvPr>
            <p:ph type="sldNum" sz="quarter" idx="10"/>
          </p:nvPr>
        </p:nvSpPr>
        <p:spPr/>
        <p:txBody>
          <a:bodyPr/>
          <a:lstStyle/>
          <a:p>
            <a:fld id="{9E0F6D8F-52A4-4325-8831-5D637055B7D3}" type="slidenum">
              <a:rPr lang="en-GB" smtClean="0"/>
              <a:t>28</a:t>
            </a:fld>
            <a:endParaRPr lang="en-GB"/>
          </a:p>
        </p:txBody>
      </p:sp>
    </p:spTree>
    <p:extLst>
      <p:ext uri="{BB962C8B-B14F-4D97-AF65-F5344CB8AC3E}">
        <p14:creationId xmlns:p14="http://schemas.microsoft.com/office/powerpoint/2010/main" val="18190633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268EE-53B8-4604-5B7B-98BA731A6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002FB-B52C-A387-8E3C-ED46C9E2E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1D430-B0A5-3C75-AEDC-DA5458FF3258}"/>
              </a:ext>
            </a:extLst>
          </p:cNvPr>
          <p:cNvSpPr>
            <a:spLocks noGrp="1"/>
          </p:cNvSpPr>
          <p:nvPr>
            <p:ph type="body" idx="1"/>
          </p:nvPr>
        </p:nvSpPr>
        <p:spPr/>
        <p:txBody>
          <a:bodyPr/>
          <a:lstStyle/>
          <a:p>
            <a:pPr>
              <a:defRPr/>
            </a:pPr>
            <a:r>
              <a:rPr lang="sr-Latn-RS">
                <a:solidFill>
                  <a:schemeClr val="bg2">
                    <a:lumMod val="10000"/>
                  </a:schemeClr>
                </a:solidFill>
              </a:rPr>
              <a:t>Кратак текст је генерисан за око 11 секунди, средњи за 28, а дуги за 50 секунди. Време очигледно расте са дужином, мада су три тачке премало за прецизан модел зависности. Резултат са дужином потврђује очекивање да дужи текст тражи више времена, али је важно рећи да је скуп премали за формалну регресију. Дужи текст очекивано тражи више времена, али је корисно видети колико то износи у пракси.</a:t>
            </a:r>
            <a:endParaRPr lang="en-US"/>
          </a:p>
        </p:txBody>
      </p:sp>
      <p:sp>
        <p:nvSpPr>
          <p:cNvPr id="4" name="Slide Number Placeholder 3">
            <a:extLst>
              <a:ext uri="{FF2B5EF4-FFF2-40B4-BE49-F238E27FC236}">
                <a16:creationId xmlns:a16="http://schemas.microsoft.com/office/drawing/2014/main" id="{8BE50FD0-ACED-80DA-0CEE-1EF22AA267A6}"/>
              </a:ext>
            </a:extLst>
          </p:cNvPr>
          <p:cNvSpPr>
            <a:spLocks noGrp="1"/>
          </p:cNvSpPr>
          <p:nvPr>
            <p:ph type="sldNum" sz="quarter" idx="10"/>
          </p:nvPr>
        </p:nvSpPr>
        <p:spPr/>
        <p:txBody>
          <a:bodyPr/>
          <a:lstStyle/>
          <a:p>
            <a:fld id="{9E0F6D8F-52A4-4325-8831-5D637055B7D3}" type="slidenum">
              <a:rPr lang="en-GB" smtClean="0"/>
              <a:t>29</a:t>
            </a:fld>
            <a:endParaRPr lang="en-GB"/>
          </a:p>
        </p:txBody>
      </p:sp>
    </p:spTree>
    <p:extLst>
      <p:ext uri="{BB962C8B-B14F-4D97-AF65-F5344CB8AC3E}">
        <p14:creationId xmlns:p14="http://schemas.microsoft.com/office/powerpoint/2010/main" val="22578979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FF93C-AB3F-8C7B-9926-DB7A05485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6F730-7BD6-D8CF-271D-15D6A9262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AE89C-3234-6D5F-31AD-84F4FEF8424A}"/>
              </a:ext>
            </a:extLst>
          </p:cNvPr>
          <p:cNvSpPr>
            <a:spLocks noGrp="1"/>
          </p:cNvSpPr>
          <p:nvPr>
            <p:ph type="body" idx="1"/>
          </p:nvPr>
        </p:nvSpPr>
        <p:spPr/>
        <p:txBody>
          <a:bodyPr/>
          <a:lstStyle/>
          <a:p>
            <a:pPr>
              <a:defRPr/>
            </a:pPr>
            <a:r>
              <a:rPr lang="sr-Latn-RS">
                <a:solidFill>
                  <a:schemeClr val="bg2">
                    <a:lumMod val="10000"/>
                  </a:schemeClr>
                </a:solidFill>
              </a:rPr>
              <a:t>Сви RTF резултати су између 2,07 и 2,51. На овом рачунару је, дакле, за једну секунду звука требало приближно две секунде обраде. RTF већи од 1 значи да систем на овом хардверу није погодан за непосредан разговор у реалном времену. RTF преко један значи да ова поставка није погодна за разговор који мора да тече без чекања.</a:t>
            </a:r>
            <a:endParaRPr lang="en-US"/>
          </a:p>
        </p:txBody>
      </p:sp>
      <p:sp>
        <p:nvSpPr>
          <p:cNvPr id="4" name="Slide Number Placeholder 3">
            <a:extLst>
              <a:ext uri="{FF2B5EF4-FFF2-40B4-BE49-F238E27FC236}">
                <a16:creationId xmlns:a16="http://schemas.microsoft.com/office/drawing/2014/main" id="{31BE8AD8-AC77-D58B-56C6-4FCE53D346F6}"/>
              </a:ext>
            </a:extLst>
          </p:cNvPr>
          <p:cNvSpPr>
            <a:spLocks noGrp="1"/>
          </p:cNvSpPr>
          <p:nvPr>
            <p:ph type="sldNum" sz="quarter" idx="10"/>
          </p:nvPr>
        </p:nvSpPr>
        <p:spPr/>
        <p:txBody>
          <a:bodyPr/>
          <a:lstStyle/>
          <a:p>
            <a:fld id="{9E0F6D8F-52A4-4325-8831-5D637055B7D3}" type="slidenum">
              <a:rPr lang="en-GB" smtClean="0"/>
              <a:t>30</a:t>
            </a:fld>
            <a:endParaRPr lang="en-GB"/>
          </a:p>
        </p:txBody>
      </p:sp>
    </p:spTree>
    <p:extLst>
      <p:ext uri="{BB962C8B-B14F-4D97-AF65-F5344CB8AC3E}">
        <p14:creationId xmlns:p14="http://schemas.microsoft.com/office/powerpoint/2010/main" val="40309180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6DA20-1DE6-7667-D30E-540B9D549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DA726-86FF-2219-9533-C2AAB05E6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48584B-A0AB-D9C0-8851-575E1D3DD9E4}"/>
              </a:ext>
            </a:extLst>
          </p:cNvPr>
          <p:cNvSpPr>
            <a:spLocks noGrp="1"/>
          </p:cNvSpPr>
          <p:nvPr>
            <p:ph type="body" idx="1"/>
          </p:nvPr>
        </p:nvSpPr>
        <p:spPr/>
        <p:txBody>
          <a:bodyPr/>
          <a:lstStyle/>
          <a:p>
            <a:pPr>
              <a:defRPr/>
            </a:pPr>
            <a:r>
              <a:rPr lang="sr-Latn-RS">
                <a:solidFill>
                  <a:schemeClr val="bg2">
                    <a:lumMod val="10000"/>
                  </a:schemeClr>
                </a:solidFill>
              </a:rPr>
              <a:t>Различити стилови дали су различите просечне pitch и RMS вредности. Пошто имам само један пример по стилу, ово посматрам као индикацију, не као опште правило. Стилски резултати показују разлике у pitch и RMS вредностима, али због једног примера по стилу треба их читати као илустрацију тренда. Стил мења сигнал, али ове бројеве треба читати као студију случаја, не као универзално правило.</a:t>
            </a:r>
            <a:endParaRPr lang="en-US"/>
          </a:p>
        </p:txBody>
      </p:sp>
      <p:sp>
        <p:nvSpPr>
          <p:cNvPr id="4" name="Slide Number Placeholder 3">
            <a:extLst>
              <a:ext uri="{FF2B5EF4-FFF2-40B4-BE49-F238E27FC236}">
                <a16:creationId xmlns:a16="http://schemas.microsoft.com/office/drawing/2014/main" id="{B0A26AF4-1658-C775-EF4A-D6C4640B197A}"/>
              </a:ext>
            </a:extLst>
          </p:cNvPr>
          <p:cNvSpPr>
            <a:spLocks noGrp="1"/>
          </p:cNvSpPr>
          <p:nvPr>
            <p:ph type="sldNum" sz="quarter" idx="10"/>
          </p:nvPr>
        </p:nvSpPr>
        <p:spPr/>
        <p:txBody>
          <a:bodyPr/>
          <a:lstStyle/>
          <a:p>
            <a:fld id="{9E0F6D8F-52A4-4325-8831-5D637055B7D3}" type="slidenum">
              <a:rPr lang="en-GB" smtClean="0"/>
              <a:t>31</a:t>
            </a:fld>
            <a:endParaRPr lang="en-GB"/>
          </a:p>
        </p:txBody>
      </p:sp>
    </p:spTree>
    <p:extLst>
      <p:ext uri="{BB962C8B-B14F-4D97-AF65-F5344CB8AC3E}">
        <p14:creationId xmlns:p14="http://schemas.microsoft.com/office/powerpoint/2010/main" val="1021954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B9B5A-A728-BEB9-21C6-FEEBCF8BF5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88C1B-E8A9-46BA-1AE3-93922F321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C825A-C61E-9C0E-1D19-6BFBF4AFEC85}"/>
              </a:ext>
            </a:extLst>
          </p:cNvPr>
          <p:cNvSpPr>
            <a:spLocks noGrp="1"/>
          </p:cNvSpPr>
          <p:nvPr>
            <p:ph type="body" idx="1"/>
          </p:nvPr>
        </p:nvSpPr>
        <p:spPr/>
        <p:txBody>
          <a:bodyPr/>
          <a:lstStyle/>
          <a:p>
            <a:pPr>
              <a:defRPr/>
            </a:pPr>
            <a:r>
              <a:rPr lang="sr-Latn-RS">
                <a:solidFill>
                  <a:srgbClr val="333333"/>
                </a:solidFill>
              </a:rPr>
              <a:t>Разлика између језика је најупадљивија. Енглески пример је јасан, док су српски и мешовити пример добили ниже оцене и по четири уочене грешке. Језички резултати показују највеће ограничење у овом раду. Eнглески је стабилан, док српски и мешовити текст имају видљиво више проблема. Језички примери најјасније показују где ChatTTS у овом раду почиње да губи стабилност.</a:t>
            </a:r>
            <a:endParaRPr lang="en-US"/>
          </a:p>
        </p:txBody>
      </p:sp>
      <p:sp>
        <p:nvSpPr>
          <p:cNvPr id="4" name="Slide Number Placeholder 3">
            <a:extLst>
              <a:ext uri="{FF2B5EF4-FFF2-40B4-BE49-F238E27FC236}">
                <a16:creationId xmlns:a16="http://schemas.microsoft.com/office/drawing/2014/main" id="{4866BEF4-78B6-850E-14D8-B9783F6D6D67}"/>
              </a:ext>
            </a:extLst>
          </p:cNvPr>
          <p:cNvSpPr>
            <a:spLocks noGrp="1"/>
          </p:cNvSpPr>
          <p:nvPr>
            <p:ph type="sldNum" sz="quarter" idx="10"/>
          </p:nvPr>
        </p:nvSpPr>
        <p:spPr/>
        <p:txBody>
          <a:bodyPr/>
          <a:lstStyle/>
          <a:p>
            <a:fld id="{9E0F6D8F-52A4-4325-8831-5D637055B7D3}" type="slidenum">
              <a:rPr lang="en-GB" smtClean="0"/>
              <a:t>33</a:t>
            </a:fld>
            <a:endParaRPr lang="en-GB"/>
          </a:p>
        </p:txBody>
      </p:sp>
    </p:spTree>
    <p:extLst>
      <p:ext uri="{BB962C8B-B14F-4D97-AF65-F5344CB8AC3E}">
        <p14:creationId xmlns:p14="http://schemas.microsoft.com/office/powerpoint/2010/main" val="35648928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6EC3-0B4F-8F38-061A-DB975830C5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166C40-E08A-504F-49AD-D4D5D4F5E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A9D1F-02F4-F81A-B4D6-90266CCEEBFE}"/>
              </a:ext>
            </a:extLst>
          </p:cNvPr>
          <p:cNvSpPr>
            <a:spLocks noGrp="1"/>
          </p:cNvSpPr>
          <p:nvPr>
            <p:ph type="body" idx="1"/>
          </p:nvPr>
        </p:nvSpPr>
        <p:spPr/>
        <p:txBody>
          <a:bodyPr/>
          <a:lstStyle/>
          <a:p>
            <a:pPr>
              <a:defRPr/>
            </a:pPr>
            <a:r>
              <a:rPr lang="sr-Latn-RS">
                <a:solidFill>
                  <a:schemeClr val="bg2">
                    <a:lumMod val="10000"/>
                  </a:schemeClr>
                </a:solidFill>
              </a:rPr>
              <a:t>ChatTTS је успешно направио свих десет примера и добро се показао на енглеском. Главни проблеми у овом тесту су спор CPU рад и нестабилнији српски изговор. Закључак треба вратити на почетно питање: дужина успорава синтезу, стил мења акустичке особине, а језик највише утиче на разумљивост. Закључак је да ChatTTS ради убедљиво у делу услова, али да брзина и српски изговор остају главне препреке.</a:t>
            </a:r>
            <a:endParaRPr lang="en-US"/>
          </a:p>
        </p:txBody>
      </p:sp>
      <p:sp>
        <p:nvSpPr>
          <p:cNvPr id="4" name="Slide Number Placeholder 3">
            <a:extLst>
              <a:ext uri="{FF2B5EF4-FFF2-40B4-BE49-F238E27FC236}">
                <a16:creationId xmlns:a16="http://schemas.microsoft.com/office/drawing/2014/main" id="{F30DE2E9-40C7-65E9-D05A-DB60EE8874E7}"/>
              </a:ext>
            </a:extLst>
          </p:cNvPr>
          <p:cNvSpPr>
            <a:spLocks noGrp="1"/>
          </p:cNvSpPr>
          <p:nvPr>
            <p:ph type="sldNum" sz="quarter" idx="10"/>
          </p:nvPr>
        </p:nvSpPr>
        <p:spPr/>
        <p:txBody>
          <a:bodyPr/>
          <a:lstStyle/>
          <a:p>
            <a:fld id="{9E0F6D8F-52A4-4325-8831-5D637055B7D3}" type="slidenum">
              <a:rPr lang="en-GB" smtClean="0"/>
              <a:t>34</a:t>
            </a:fld>
            <a:endParaRPr lang="en-GB"/>
          </a:p>
        </p:txBody>
      </p:sp>
    </p:spTree>
    <p:extLst>
      <p:ext uri="{BB962C8B-B14F-4D97-AF65-F5344CB8AC3E}">
        <p14:creationId xmlns:p14="http://schemas.microsoft.com/office/powerpoint/2010/main" val="3676603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E0F6D8F-52A4-4325-8831-5D637055B7D3}" type="slidenum">
              <a:rPr lang="en-GB" smtClean="0"/>
              <a:t>35</a:t>
            </a:fld>
            <a:endParaRPr lang="en-GB"/>
          </a:p>
        </p:txBody>
      </p:sp>
    </p:spTree>
    <p:extLst>
      <p:ext uri="{BB962C8B-B14F-4D97-AF65-F5344CB8AC3E}">
        <p14:creationId xmlns:p14="http://schemas.microsoft.com/office/powerpoint/2010/main" val="1223501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15DDB-6ADD-4624-9656-54614EA0F1A1}"/>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a:extLst>
              <a:ext uri="{FF2B5EF4-FFF2-40B4-BE49-F238E27FC236}">
                <a16:creationId xmlns:a16="http://schemas.microsoft.com/office/drawing/2014/main" id="{AEC28BA9-CB95-43BF-AD15-FCBDBFB8E617}"/>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52B26D9-9B15-4FAF-9468-EC44CE81953F}"/>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0C9ECC14-83E4-4ABA-B113-BC73085E02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66574B-AFF9-420F-9EC4-0A2B1EF84910}"/>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3918170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60B6F-DDB2-457F-BA89-44B9C5E1C6E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5528EB-8E7C-4711-A845-EB8582D252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2C10DF-A2C2-4DAA-8737-801D74AACF1E}"/>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BC5741B1-9368-4538-B091-21E5527536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8C8479-926D-4029-86DE-0D8543F13487}"/>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390585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D35C6-4921-45AA-94AF-8B09BC0827AB}"/>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773BDAC-B8A4-4B32-8259-1CB8A9FB84D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F4D428-D4AE-4F42-9DF7-999EF75F2AA0}"/>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E3AD29C4-6152-484A-8F67-525967DEB6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B3648-3616-4E14-8F48-96B1BE4E8DE7}"/>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3729890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563AC-11F9-4B77-8137-80F38CBB76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C17CB9B-FA15-470D-ACF3-05A1D630774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2F50CAD-05B3-4D3E-9EDB-56833E9E7C05}"/>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11F32C2-7992-40A0-879D-823A1C0A9757}"/>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6" name="Footer Placeholder 5">
            <a:extLst>
              <a:ext uri="{FF2B5EF4-FFF2-40B4-BE49-F238E27FC236}">
                <a16:creationId xmlns:a16="http://schemas.microsoft.com/office/drawing/2014/main" id="{BBAD907D-F4C2-4CCC-A29C-6A67BBF80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714098-9488-48E4-BD4E-BF0F2CB0EDB1}"/>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598925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84917-2E4F-431E-A920-26B3F637083E}"/>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E0769EB-B6C2-4B43-814E-6E491E65801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4C4DB2C-EFF4-4CFD-B3F2-772054408C4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F195E68-E708-49F7-BF0C-B73750E326DF}"/>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B7A8B3C-F750-422D-B54F-3130D2390FE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959A4A0-69DA-4BAD-8C14-D485535B1CD5}"/>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8" name="Footer Placeholder 7">
            <a:extLst>
              <a:ext uri="{FF2B5EF4-FFF2-40B4-BE49-F238E27FC236}">
                <a16:creationId xmlns:a16="http://schemas.microsoft.com/office/drawing/2014/main" id="{A1746929-E43B-494E-8A8F-E5B985E5FB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D98C6F-D29E-4B7F-85E2-B6C3B88748E8}"/>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2193106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8AE2-9055-4E32-B8C1-31CCF2DF2F0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F10C6E8-0D36-4622-996B-E896FBB3E429}"/>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4" name="Footer Placeholder 3">
            <a:extLst>
              <a:ext uri="{FF2B5EF4-FFF2-40B4-BE49-F238E27FC236}">
                <a16:creationId xmlns:a16="http://schemas.microsoft.com/office/drawing/2014/main" id="{C2AF6E70-EBF7-40AB-BD36-2663E263AF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E4867-0F79-48F1-9615-A5699BB26C8E}"/>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3555637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3DD07-D884-415E-AB3F-2C88C2CC9366}"/>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3" name="Footer Placeholder 2">
            <a:extLst>
              <a:ext uri="{FF2B5EF4-FFF2-40B4-BE49-F238E27FC236}">
                <a16:creationId xmlns:a16="http://schemas.microsoft.com/office/drawing/2014/main" id="{9D7279F1-2114-42D8-A883-9CA0B37C9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B242C9-3D4A-4072-9E06-FB4C3166F01A}"/>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1290779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A03A-C802-41DB-AB64-ADCC1F6DE37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9156A50-BE24-4CFC-9B70-15E21B0733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19B7026-E6BE-4FCC-AFA2-021F99B981C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7E5CFEC-6A87-4BD8-9E07-F545B68D7881}"/>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6" name="Footer Placeholder 5">
            <a:extLst>
              <a:ext uri="{FF2B5EF4-FFF2-40B4-BE49-F238E27FC236}">
                <a16:creationId xmlns:a16="http://schemas.microsoft.com/office/drawing/2014/main" id="{8ED7F696-E677-48D3-A19B-37F2889008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8A53DF-E935-46AC-B494-74E1E5DAC5A2}"/>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3642292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4583C-7855-407C-909A-8B6867A9E73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49DBD86-551C-469D-A8B9-696CF9CF86F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a:extLst>
              <a:ext uri="{FF2B5EF4-FFF2-40B4-BE49-F238E27FC236}">
                <a16:creationId xmlns:a16="http://schemas.microsoft.com/office/drawing/2014/main" id="{3F593428-31C5-49EC-A486-A30B170DDD4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3B9533F-D36F-41DD-B70D-11501EFA8127}"/>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6" name="Footer Placeholder 5">
            <a:extLst>
              <a:ext uri="{FF2B5EF4-FFF2-40B4-BE49-F238E27FC236}">
                <a16:creationId xmlns:a16="http://schemas.microsoft.com/office/drawing/2014/main" id="{B2A85607-4AB8-4FEA-88EE-65F9659431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0E375-96A2-4720-BE8B-90F911D02838}"/>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2913568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1CB13-19C7-468A-BFC6-95CB7D3E921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C08DA66-F8A2-4090-A784-D92A505F500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5E195A-F6BE-4575-AE69-D6BF9D282FC2}"/>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B8D4653C-7727-46C7-A686-B2EB5CC67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54332-552C-4EEC-BAEB-E89562344D79}"/>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2758041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F6B15A-0FFF-4113-B8CD-5229E6F99E4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07DD32-0D59-48CE-AFE4-8921CA0B9DD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EED7F8-C643-4B45-8AEF-7065BD1709D0}"/>
              </a:ext>
            </a:extLst>
          </p:cNvPr>
          <p:cNvSpPr>
            <a:spLocks noGrp="1"/>
          </p:cNvSpPr>
          <p:nvPr>
            <p:ph type="dt" sz="half" idx="10"/>
          </p:nvPr>
        </p:nvSpPr>
        <p:spPr/>
        <p:txBody>
          <a:body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F43394DD-C379-4189-AD38-56DDA6EEEA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896DB-D244-48C4-875C-0AA3C617449B}"/>
              </a:ext>
            </a:extLst>
          </p:cNvPr>
          <p:cNvSpPr>
            <a:spLocks noGrp="1"/>
          </p:cNvSpPr>
          <p:nvPr>
            <p:ph type="sldNum" sz="quarter" idx="12"/>
          </p:nvPr>
        </p:nvSpPr>
        <p:spPr/>
        <p:txBody>
          <a:bodyPr/>
          <a:lstStyle/>
          <a:p>
            <a:fld id="{CEE29490-92B9-4214-BE39-2980FDB7A39F}" type="slidenum">
              <a:rPr lang="en-US" smtClean="0"/>
              <a:t>‹#›</a:t>
            </a:fld>
            <a:endParaRPr lang="en-US"/>
          </a:p>
        </p:txBody>
      </p:sp>
    </p:spTree>
    <p:extLst>
      <p:ext uri="{BB962C8B-B14F-4D97-AF65-F5344CB8AC3E}">
        <p14:creationId xmlns:p14="http://schemas.microsoft.com/office/powerpoint/2010/main" val="1732890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3FFB0-6C0B-4EAC-96EB-DF7F46AE135A}"/>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7735479-CCDD-40B6-A84E-85200C18793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6992E28-8972-45F6-923E-AA19421A4D0F}"/>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376E661-2EB0-4B57-AABC-FE05B4D86A8F}" type="datetimeFigureOut">
              <a:rPr lang="en-US" smtClean="0"/>
              <a:t>7/8/2026</a:t>
            </a:fld>
            <a:endParaRPr lang="en-US"/>
          </a:p>
        </p:txBody>
      </p:sp>
      <p:sp>
        <p:nvSpPr>
          <p:cNvPr id="5" name="Footer Placeholder 4">
            <a:extLst>
              <a:ext uri="{FF2B5EF4-FFF2-40B4-BE49-F238E27FC236}">
                <a16:creationId xmlns:a16="http://schemas.microsoft.com/office/drawing/2014/main" id="{80A6A350-E579-40BB-BE0E-4F0F82E921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C0D98B-8085-49E7-AA05-FFDC323DFD6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E29490-92B9-4214-BE39-2980FDB7A39F}" type="slidenum">
              <a:rPr lang="en-US" smtClean="0"/>
              <a:t>‹#›</a:t>
            </a:fld>
            <a:endParaRPr lang="en-US"/>
          </a:p>
        </p:txBody>
      </p:sp>
    </p:spTree>
    <p:extLst>
      <p:ext uri="{BB962C8B-B14F-4D97-AF65-F5344CB8AC3E}">
        <p14:creationId xmlns:p14="http://schemas.microsoft.com/office/powerpoint/2010/main" val="86002746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304764"/>
            <a:ext cx="9144000" cy="4644516"/>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0" y="5913276"/>
            <a:ext cx="9144000" cy="252028"/>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64" y="6523466"/>
            <a:ext cx="9144000" cy="31719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ct val="150000"/>
              </a:lnSpc>
            </a:pPr>
            <a:r>
              <a:rPr lang="en-US" dirty="0">
                <a:solidFill>
                  <a:srgbClr val="0A3AC0"/>
                </a:solidFill>
                <a:latin typeface="Arial" panose="020B0604020202020204" pitchFamily="34" charset="0"/>
                <a:cs typeface="Arial" panose="020B0604020202020204" pitchFamily="34" charset="0"/>
              </a:rPr>
              <a:t>jelena.nikolic@elfak.ni.ac.rs</a:t>
            </a:r>
            <a:r>
              <a:rPr lang="en-US" dirty="0">
                <a:latin typeface="Arial" panose="020B0604020202020204" pitchFamily="34" charset="0"/>
                <a:cs typeface="Arial" panose="020B0604020202020204" pitchFamily="34" charset="0"/>
              </a:rPr>
              <a:t> </a:t>
            </a:r>
          </a:p>
        </p:txBody>
      </p:sp>
      <p:sp>
        <p:nvSpPr>
          <p:cNvPr id="7" name="Rectangle 6"/>
          <p:cNvSpPr/>
          <p:nvPr/>
        </p:nvSpPr>
        <p:spPr>
          <a:xfrm>
            <a:off x="0" y="6309320"/>
            <a:ext cx="9144000" cy="216024"/>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6165304"/>
            <a:ext cx="9144000" cy="144016"/>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9144464" cy="1268760"/>
          </a:xfrm>
          <a:prstGeom prst="rect">
            <a:avLst/>
          </a:prstGeom>
          <a:solidFill>
            <a:schemeClr val="accent1">
              <a:lumMod val="50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4"/>
          <p:cNvSpPr txBox="1">
            <a:spLocks noChangeArrowheads="1"/>
          </p:cNvSpPr>
          <p:nvPr/>
        </p:nvSpPr>
        <p:spPr bwMode="auto">
          <a:xfrm>
            <a:off x="1169725" y="139859"/>
            <a:ext cx="693066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sr-Cyrl-RS" altLang="en-US" sz="2400" b="1" dirty="0">
                <a:solidFill>
                  <a:schemeClr val="bg1"/>
                </a:solidFill>
                <a:latin typeface="Arial" panose="020B0604020202020204" pitchFamily="34" charset="0"/>
                <a:cs typeface="Arial" panose="020B0604020202020204" pitchFamily="34" charset="0"/>
              </a:rPr>
              <a:t>Универзитет у Нишу</a:t>
            </a:r>
            <a:endParaRPr lang="sr-Latn-RS" altLang="en-US" sz="2400" b="1" dirty="0">
              <a:solidFill>
                <a:schemeClr val="bg1"/>
              </a:solidFill>
              <a:latin typeface="Arial" panose="020B0604020202020204" pitchFamily="34" charset="0"/>
              <a:cs typeface="Arial" panose="020B0604020202020204" pitchFamily="34" charset="0"/>
            </a:endParaRPr>
          </a:p>
          <a:p>
            <a:pPr algn="ctr"/>
            <a:r>
              <a:rPr lang="sr-Cyrl-RS" altLang="en-US" sz="2400" b="1" dirty="0">
                <a:solidFill>
                  <a:schemeClr val="bg1"/>
                </a:solidFill>
                <a:latin typeface="Arial" panose="020B0604020202020204" pitchFamily="34" charset="0"/>
                <a:cs typeface="Arial" panose="020B0604020202020204" pitchFamily="34" charset="0"/>
              </a:rPr>
              <a:t>Електронски факултет</a:t>
            </a:r>
            <a:endParaRPr lang="sr-Latn-RS" altLang="en-US" sz="2400" b="1" dirty="0">
              <a:solidFill>
                <a:schemeClr val="bg1"/>
              </a:solidFill>
              <a:latin typeface="Arial" panose="020B0604020202020204" pitchFamily="34" charset="0"/>
              <a:cs typeface="Arial" panose="020B0604020202020204" pitchFamily="34" charset="0"/>
            </a:endParaRPr>
          </a:p>
        </p:txBody>
      </p:sp>
      <p:sp>
        <p:nvSpPr>
          <p:cNvPr id="13" name="Rectangle 12"/>
          <p:cNvSpPr/>
          <p:nvPr/>
        </p:nvSpPr>
        <p:spPr>
          <a:xfrm>
            <a:off x="-464" y="2187835"/>
            <a:ext cx="9144463" cy="1180067"/>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Font typeface="Times New Roman" pitchFamily="18" charset="0"/>
              <a:buNone/>
              <a:defRPr/>
            </a:pPr>
            <a:r>
              <a:rPr lang="sr-Cyrl-RS" sz="4800" b="1">
                <a:solidFill>
                  <a:schemeClr val="bg1"/>
                </a:solidFill>
                <a:effectLst>
                  <a:outerShdw blurRad="38100" dist="38100" dir="2700000" algn="tl">
                    <a:srgbClr val="000000">
                      <a:alpha val="43137"/>
                    </a:srgbClr>
                  </a:outerShdw>
                </a:effectLst>
                <a:latin typeface="Arial"/>
              </a:rPr>
              <a:t>ChatTTS</a:t>
            </a:r>
            <a:endParaRPr lang="sr-Latn-RS" sz="4800" b="1" dirty="0">
              <a:solidFill>
                <a:schemeClr val="bg1"/>
              </a:solidFill>
              <a:effectLst>
                <a:outerShdw blurRad="38100" dist="38100" dir="2700000" algn="tl">
                  <a:srgbClr val="000000">
                    <a:alpha val="43137"/>
                  </a:srgbClr>
                </a:outerShdw>
              </a:effectLst>
            </a:endParaRPr>
          </a:p>
          <a:p>
            <a:pPr algn="ctr" defTabSz="457152">
              <a:defRPr/>
            </a:pPr>
            <a:r>
              <a:rPr lang="sr-Cyrl-RS" sz="2800" b="1">
                <a:solidFill>
                  <a:schemeClr val="bg1"/>
                </a:solidFill>
                <a:effectLst>
                  <a:outerShdw blurRad="38100" dist="38100" dir="2700000" algn="tl">
                    <a:srgbClr val="000000">
                      <a:alpha val="43137"/>
                    </a:srgbClr>
                  </a:outerShdw>
                </a:effectLst>
                <a:latin typeface="Arial"/>
                <a:cs typeface="Arial"/>
              </a:rPr>
              <a:t>Немања Стојановић, 2126</a:t>
            </a:r>
            <a:endParaRPr lang="sr-Cyrl-RS"/>
          </a:p>
        </p:txBody>
      </p:sp>
      <p:sp>
        <p:nvSpPr>
          <p:cNvPr id="14" name="Rectangle 13"/>
          <p:cNvSpPr/>
          <p:nvPr/>
        </p:nvSpPr>
        <p:spPr>
          <a:xfrm>
            <a:off x="6588223" y="5877272"/>
            <a:ext cx="2555777" cy="550279"/>
          </a:xfrm>
          <a:prstGeom prst="rect">
            <a:avLst/>
          </a:prstGeom>
        </p:spPr>
        <p:txBody>
          <a:bodyPr wrap="square">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defTabSz="457152">
              <a:buFont typeface="Times New Roman" pitchFamily="18" charset="0"/>
              <a:buNone/>
              <a:defRPr/>
            </a:pPr>
            <a:r>
              <a:rPr lang="sr-Cyrl-RS" sz="1600" b="1" dirty="0">
                <a:solidFill>
                  <a:schemeClr val="bg1"/>
                </a:solidFill>
                <a:effectLst>
                  <a:outerShdw blurRad="38100" dist="38100" dir="2700000" algn="tl">
                    <a:srgbClr val="000000">
                      <a:alpha val="43137"/>
                    </a:srgbClr>
                  </a:outerShdw>
                </a:effectLst>
              </a:rPr>
              <a:t>Др Јелена Николић</a:t>
            </a:r>
            <a:r>
              <a:rPr lang="sr-Latn-RS" sz="1600" b="1" dirty="0">
                <a:solidFill>
                  <a:schemeClr val="bg1"/>
                </a:solidFill>
                <a:effectLst>
                  <a:outerShdw blurRad="38100" dist="38100" dir="2700000" algn="tl">
                    <a:srgbClr val="000000">
                      <a:alpha val="43137"/>
                    </a:srgbClr>
                  </a:outerShdw>
                </a:effectLst>
              </a:rPr>
              <a:t> </a:t>
            </a:r>
            <a:endParaRPr lang="en-US" sz="1600" b="1" dirty="0">
              <a:solidFill>
                <a:schemeClr val="bg1"/>
              </a:solidFill>
              <a:effectLst>
                <a:outerShdw blurRad="38100" dist="38100" dir="2700000" algn="tl">
                  <a:srgbClr val="000000">
                    <a:alpha val="43137"/>
                  </a:srgbClr>
                </a:outerShdw>
              </a:effectLst>
            </a:endParaRPr>
          </a:p>
          <a:p>
            <a:pPr defTabSz="457152">
              <a:buFont typeface="Times New Roman" pitchFamily="18" charset="0"/>
              <a:buNone/>
              <a:defRPr/>
            </a:pPr>
            <a:r>
              <a:rPr lang="sr-Cyrl-RS" sz="1600" b="1" dirty="0">
                <a:solidFill>
                  <a:schemeClr val="bg1"/>
                </a:solidFill>
                <a:effectLst>
                  <a:outerShdw blurRad="38100" dist="38100" dir="2700000" algn="tl">
                    <a:srgbClr val="000000">
                      <a:alpha val="43137"/>
                    </a:srgbClr>
                  </a:outerShdw>
                </a:effectLst>
              </a:rPr>
              <a:t>редовни професор</a:t>
            </a:r>
            <a:endParaRPr lang="en-GB" sz="1600" b="1" dirty="0">
              <a:solidFill>
                <a:schemeClr val="bg1"/>
              </a:solidFill>
              <a:effectLst>
                <a:outerShdw blurRad="38100" dist="38100" dir="2700000" algn="tl">
                  <a:srgbClr val="000000">
                    <a:alpha val="43137"/>
                  </a:srgbClr>
                </a:outerShdw>
              </a:effectLst>
            </a:endParaRPr>
          </a:p>
        </p:txBody>
      </p:sp>
      <p:sp>
        <p:nvSpPr>
          <p:cNvPr id="15" name="Rectangle 14"/>
          <p:cNvSpPr/>
          <p:nvPr/>
        </p:nvSpPr>
        <p:spPr>
          <a:xfrm>
            <a:off x="72008" y="5877272"/>
            <a:ext cx="2987824" cy="321306"/>
          </a:xfrm>
          <a:prstGeom prst="rect">
            <a:avLst/>
          </a:prstGeom>
        </p:spPr>
        <p:txBody>
          <a:bodyPr wrap="square">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defTabSz="457152">
              <a:buFont typeface="Times New Roman" pitchFamily="18" charset="0"/>
              <a:buNone/>
              <a:defRPr/>
            </a:pPr>
            <a:r>
              <a:rPr lang="sr-Latn-RS" sz="1600" b="1" dirty="0">
                <a:solidFill>
                  <a:schemeClr val="bg1"/>
                </a:solidFill>
                <a:effectLst>
                  <a:outerShdw blurRad="38100" dist="38100" dir="2700000" algn="tl">
                    <a:srgbClr val="000000">
                      <a:alpha val="43137"/>
                    </a:srgbClr>
                  </a:outerShdw>
                </a:effectLst>
              </a:rPr>
              <a:t>202</a:t>
            </a:r>
            <a:r>
              <a:rPr lang="sr-Cyrl-RS" sz="1600" b="1" dirty="0">
                <a:solidFill>
                  <a:schemeClr val="bg1"/>
                </a:solidFill>
                <a:effectLst>
                  <a:outerShdw blurRad="38100" dist="38100" dir="2700000" algn="tl">
                    <a:srgbClr val="000000">
                      <a:alpha val="43137"/>
                    </a:srgbClr>
                  </a:outerShdw>
                </a:effectLst>
              </a:rPr>
              <a:t>6.</a:t>
            </a:r>
            <a:endParaRPr lang="en-GB" sz="1600" b="1" dirty="0">
              <a:solidFill>
                <a:schemeClr val="bg1"/>
              </a:solidFill>
              <a:effectLst>
                <a:outerShdw blurRad="38100" dist="38100" dir="2700000" algn="tl">
                  <a:srgbClr val="000000">
                    <a:alpha val="43137"/>
                  </a:srgbClr>
                </a:outerShdw>
              </a:effectLst>
            </a:endParaRPr>
          </a:p>
        </p:txBody>
      </p:sp>
      <p:pic>
        <p:nvPicPr>
          <p:cNvPr id="2" name="Picture 1">
            <a:extLst>
              <a:ext uri="{FF2B5EF4-FFF2-40B4-BE49-F238E27FC236}">
                <a16:creationId xmlns:a16="http://schemas.microsoft.com/office/drawing/2014/main" id="{ABECB7F1-ABC6-4E85-8462-2DC0E55E9AB7}"/>
              </a:ext>
            </a:extLst>
          </p:cNvPr>
          <p:cNvPicPr>
            <a:picLocks noChangeAspect="1"/>
          </p:cNvPicPr>
          <p:nvPr/>
        </p:nvPicPr>
        <p:blipFill>
          <a:blip r:embed="rId3"/>
          <a:stretch>
            <a:fillRect/>
          </a:stretch>
        </p:blipFill>
        <p:spPr>
          <a:xfrm>
            <a:off x="7525786" y="-27109"/>
            <a:ext cx="1426679" cy="1276502"/>
          </a:xfrm>
          <a:prstGeom prst="rect">
            <a:avLst/>
          </a:prstGeom>
        </p:spPr>
      </p:pic>
      <p:sp>
        <p:nvSpPr>
          <p:cNvPr id="16" name="TextBox 15">
            <a:extLst>
              <a:ext uri="{FF2B5EF4-FFF2-40B4-BE49-F238E27FC236}">
                <a16:creationId xmlns:a16="http://schemas.microsoft.com/office/drawing/2014/main" id="{E42DB37E-10E3-453B-9572-E30C25055E47}"/>
              </a:ext>
            </a:extLst>
          </p:cNvPr>
          <p:cNvSpPr txBox="1"/>
          <p:nvPr/>
        </p:nvSpPr>
        <p:spPr>
          <a:xfrm>
            <a:off x="0" y="5076763"/>
            <a:ext cx="9144464" cy="830997"/>
          </a:xfrm>
          <a:prstGeom prst="rect">
            <a:avLst/>
          </a:prstGeom>
          <a:noFill/>
        </p:spPr>
        <p:txBody>
          <a:bodyPr wrap="square">
            <a:spAutoFit/>
          </a:bodyPr>
          <a:lstStyle/>
          <a:p>
            <a:pPr algn="ctr" defTabSz="457152">
              <a:buFont typeface="Times New Roman" pitchFamily="18" charset="0"/>
              <a:buNone/>
              <a:defRPr/>
            </a:pPr>
            <a:r>
              <a:rPr lang="ru-RU" sz="24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Курс: Вештачка интелигенција у говорним и аудио технологијама</a:t>
            </a:r>
          </a:p>
        </p:txBody>
      </p:sp>
    </p:spTree>
    <p:extLst>
      <p:ext uri="{BB962C8B-B14F-4D97-AF65-F5344CB8AC3E}">
        <p14:creationId xmlns:p14="http://schemas.microsoft.com/office/powerpoint/2010/main" val="3122190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4400"/>
            <a:ext cx="759633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95537" y="1216491"/>
            <a:ext cx="8496944" cy="3477875"/>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just" defTabSz="457152" hangingPunct="1">
              <a:lnSpc>
                <a:spcPct val="100000"/>
              </a:lnSpc>
              <a:defRPr/>
            </a:pPr>
            <a:r>
              <a:rPr lang="sr-Cyrl-RS" altLang="en-US" sz="2800" b="1" dirty="0">
                <a:solidFill>
                  <a:srgbClr val="C00000"/>
                </a:solidFill>
                <a:latin typeface="Arial" panose="020B0604020202020204" pitchFamily="34" charset="0"/>
                <a:cs typeface="Arial" panose="020B0604020202020204" pitchFamily="34" charset="0"/>
              </a:rPr>
              <a:t>Садржина презентације</a:t>
            </a:r>
          </a:p>
          <a:p>
            <a:pPr marL="571500" indent="-215900" algn="just" defTabSz="457152" hangingPunct="1">
              <a:lnSpc>
                <a:spcPct val="100000"/>
              </a:lnSpc>
              <a:buFont typeface="Arial" panose="020B0604020202020204" pitchFamily="34" charset="0"/>
              <a:buChar char="•"/>
              <a:defRPr/>
            </a:pPr>
            <a:r>
              <a:rPr lang="sr-Cyrl-RS" sz="2400">
                <a:latin typeface="Arial"/>
                <a:cs typeface="Arial"/>
              </a:rPr>
              <a:t>Мотивација</a:t>
            </a:r>
            <a:r>
              <a:rPr lang="sr-Cyrl-RS" altLang="en-US" sz="2400">
                <a:latin typeface="Arial"/>
                <a:cs typeface="Arial"/>
              </a:rPr>
              <a:t>;</a:t>
            </a:r>
          </a:p>
          <a:p>
            <a:pPr marL="571500" indent="-215900" algn="just" defTabSz="457152">
              <a:lnSpc>
                <a:spcPct val="100000"/>
              </a:lnSpc>
              <a:buFont typeface="Arial" panose="020B0604020202020204" pitchFamily="34" charset="0"/>
              <a:buChar char="•"/>
              <a:defRPr/>
            </a:pPr>
            <a:r>
              <a:rPr lang="sr-Cyrl-RS" sz="2400">
                <a:latin typeface="Arial"/>
                <a:cs typeface="Arial"/>
              </a:rPr>
              <a:t>ChatTTS;</a:t>
            </a:r>
            <a:endParaRPr lang="sr-Cyrl-RS" altLang="en-US" sz="2400" dirty="0">
              <a:latin typeface="Arial"/>
              <a:cs typeface="Arial"/>
            </a:endParaRPr>
          </a:p>
          <a:p>
            <a:pPr marL="571500" indent="-215900" algn="just" defTabSz="457152">
              <a:lnSpc>
                <a:spcPct val="100000"/>
              </a:lnSpc>
              <a:buFont typeface="Arial" panose="020B0604020202020204" pitchFamily="34" charset="0"/>
              <a:buChar char="•"/>
              <a:defRPr/>
            </a:pPr>
            <a:r>
              <a:rPr lang="sr-Cyrl-RS" sz="2400">
                <a:latin typeface="Arial"/>
                <a:cs typeface="Arial"/>
              </a:rPr>
              <a:t>Експеримент;</a:t>
            </a:r>
            <a:endParaRPr lang="sr-Cyrl-RS" sz="2400" dirty="0">
              <a:latin typeface="Arial" panose="020B0604020202020204" pitchFamily="34" charset="0"/>
              <a:cs typeface="Arial" panose="020B0604020202020204" pitchFamily="34" charset="0"/>
            </a:endParaRPr>
          </a:p>
          <a:p>
            <a:pPr marL="571500" indent="-215900" algn="just" defTabSz="457152">
              <a:lnSpc>
                <a:spcPct val="100000"/>
              </a:lnSpc>
              <a:buFont typeface="Arial" panose="020B0604020202020204" pitchFamily="34" charset="0"/>
              <a:buChar char="•"/>
              <a:defRPr/>
            </a:pPr>
            <a:r>
              <a:rPr lang="sr-Cyrl-RS" sz="2400">
                <a:latin typeface="Arial"/>
                <a:cs typeface="Arial"/>
              </a:rPr>
              <a:t>Метрике;</a:t>
            </a:r>
            <a:endParaRPr lang="sr-Cyrl-RS" sz="2400" dirty="0">
              <a:latin typeface="Arial" panose="020B0604020202020204" pitchFamily="34" charset="0"/>
              <a:cs typeface="Arial" panose="020B0604020202020204" pitchFamily="34" charset="0"/>
            </a:endParaRPr>
          </a:p>
          <a:p>
            <a:pPr marL="571500" indent="-215900" algn="just" defTabSz="457152">
              <a:lnSpc>
                <a:spcPct val="100000"/>
              </a:lnSpc>
              <a:buFont typeface="Arial" panose="020B0604020202020204" pitchFamily="34" charset="0"/>
              <a:buChar char="•"/>
              <a:defRPr/>
            </a:pPr>
            <a:r>
              <a:rPr lang="sr-Cyrl-RS" sz="2400">
                <a:latin typeface="Arial"/>
                <a:cs typeface="Arial"/>
              </a:rPr>
              <a:t>Резултати;</a:t>
            </a:r>
            <a:endParaRPr lang="sr-Cyrl-RS" sz="2400" dirty="0">
              <a:latin typeface="Arial" panose="020B0604020202020204" pitchFamily="34" charset="0"/>
              <a:cs typeface="Arial" panose="020B0604020202020204" pitchFamily="34" charset="0"/>
            </a:endParaRPr>
          </a:p>
          <a:p>
            <a:pPr marL="571500" indent="-215900" algn="just" defTabSz="457152">
              <a:lnSpc>
                <a:spcPct val="100000"/>
              </a:lnSpc>
              <a:buFont typeface="Arial" panose="020B0604020202020204" pitchFamily="34" charset="0"/>
              <a:buChar char="•"/>
              <a:defRPr/>
            </a:pPr>
            <a:r>
              <a:rPr lang="sr-Cyrl-RS" sz="2400">
                <a:latin typeface="Arial"/>
                <a:cs typeface="Arial"/>
              </a:rPr>
              <a:t>Закључак.</a:t>
            </a:r>
            <a:endParaRPr lang="sr-Cyrl-RS" sz="2400" dirty="0">
              <a:latin typeface="Arial" panose="020B0604020202020204" pitchFamily="34" charset="0"/>
              <a:cs typeface="Arial" panose="020B0604020202020204" pitchFamily="34" charset="0"/>
            </a:endParaRPr>
          </a:p>
          <a:p>
            <a:pPr marL="571500" indent="-215900" algn="just" defTabSz="457152" hangingPunct="1">
              <a:lnSpc>
                <a:spcPct val="100000"/>
              </a:lnSpc>
              <a:buFont typeface="Arial" panose="020B0604020202020204" pitchFamily="34" charset="0"/>
              <a:buChar char="•"/>
              <a:defRPr/>
            </a:pPr>
            <a:endParaRPr lang="sr-Cyrl-RS" altLang="en-US" sz="2400" dirty="0">
              <a:latin typeface="Arial" panose="020B0604020202020204" pitchFamily="34" charset="0"/>
              <a:cs typeface="Arial" panose="020B0604020202020204" pitchFamily="34" charset="0"/>
            </a:endParaRPr>
          </a:p>
          <a:p>
            <a:pPr marL="355600" algn="just" defTabSz="457152" hangingPunct="1">
              <a:lnSpc>
                <a:spcPct val="100000"/>
              </a:lnSpc>
              <a:defRPr/>
            </a:pPr>
            <a:endParaRPr lang="en-GB" altLang="en-US" sz="2400" dirty="0">
              <a:latin typeface="Arial" panose="020B0604020202020204" pitchFamily="34" charset="0"/>
              <a:cs typeface="Arial" panose="020B0604020202020204" pitchFamily="34" charset="0"/>
            </a:endParaRPr>
          </a:p>
        </p:txBody>
      </p:sp>
      <p:sp>
        <p:nvSpPr>
          <p:cNvPr id="11" name="Rectangle 10"/>
          <p:cNvSpPr/>
          <p:nvPr/>
        </p:nvSpPr>
        <p:spPr>
          <a:xfrm>
            <a:off x="485800" y="414505"/>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ChatTTS</a:t>
            </a:r>
            <a:endParaRPr lang="en-US" b="1">
              <a:solidFill>
                <a:schemeClr val="bg1"/>
              </a:solidFill>
            </a:endParaRPr>
          </a:p>
        </p:txBody>
      </p:sp>
    </p:spTree>
    <p:extLst>
      <p:ext uri="{BB962C8B-B14F-4D97-AF65-F5344CB8AC3E}">
        <p14:creationId xmlns:p14="http://schemas.microsoft.com/office/powerpoint/2010/main" val="805873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5281A3F-195A-4694-A5D0-24C4C3E0C1C9}"/>
              </a:ext>
            </a:extLst>
          </p:cNvPr>
          <p:cNvSpPr/>
          <p:nvPr/>
        </p:nvSpPr>
        <p:spPr>
          <a:xfrm>
            <a:off x="0" y="284400"/>
            <a:ext cx="6840629"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005E5D-4784-40CB-931B-1D8E32050ECA}"/>
              </a:ext>
            </a:extLst>
          </p:cNvPr>
          <p:cNvSpPr/>
          <p:nvPr/>
        </p:nvSpPr>
        <p:spPr>
          <a:xfrm>
            <a:off x="213564" y="434659"/>
            <a:ext cx="6416747"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Font typeface="Times New Roman" pitchFamily="18" charset="0"/>
              <a:buNone/>
              <a:defRPr/>
            </a:pPr>
            <a:r>
              <a:rPr lang="sr-Cyrl-RS" sz="3600" b="1">
                <a:solidFill>
                  <a:srgbClr val="FFFFFF"/>
                </a:solidFill>
                <a:effectLst>
                  <a:outerShdw blurRad="38100" dist="38100" dir="2700000" algn="tl">
                    <a:srgbClr val="000000">
                      <a:alpha val="43137"/>
                    </a:srgbClr>
                  </a:outerShdw>
                </a:effectLst>
                <a:latin typeface="Arial"/>
              </a:rPr>
              <a:t>Литература</a:t>
            </a:r>
            <a:endParaRPr lang="sr-Latn-RS" sz="3600" b="1">
              <a:solidFill>
                <a:srgbClr val="FFFFFF"/>
              </a:solidFill>
              <a:effectLst>
                <a:outerShdw blurRad="38100" dist="38100" dir="2700000" algn="tl">
                  <a:srgbClr val="000000">
                    <a:alpha val="43137"/>
                  </a:srgbClr>
                </a:outerShdw>
              </a:effectLst>
            </a:endParaRPr>
          </a:p>
        </p:txBody>
      </p:sp>
      <p:sp>
        <p:nvSpPr>
          <p:cNvPr id="5" name="TextBox 4">
            <a:extLst>
              <a:ext uri="{FF2B5EF4-FFF2-40B4-BE49-F238E27FC236}">
                <a16:creationId xmlns:a16="http://schemas.microsoft.com/office/drawing/2014/main" id="{B31A5FB4-0C22-2CBD-C526-710872B75435}"/>
              </a:ext>
            </a:extLst>
          </p:cNvPr>
          <p:cNvSpPr txBox="1"/>
          <p:nvPr/>
        </p:nvSpPr>
        <p:spPr>
          <a:xfrm>
            <a:off x="577272" y="1547090"/>
            <a:ext cx="7696199"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2000" dirty="0">
                <a:latin typeface="Arial"/>
                <a:ea typeface="+mn-lt"/>
                <a:cs typeface="Arial"/>
              </a:rPr>
              <a:t>"</a:t>
            </a:r>
            <a:r>
              <a:rPr lang="en-US" sz="2000" dirty="0" err="1">
                <a:latin typeface="Arial"/>
                <a:ea typeface="+mn-lt"/>
                <a:cs typeface="Arial"/>
              </a:rPr>
              <a:t>ChatTTS</a:t>
            </a:r>
            <a:r>
              <a:rPr lang="en-US" sz="2000" dirty="0">
                <a:latin typeface="Arial"/>
                <a:ea typeface="+mn-lt"/>
                <a:cs typeface="Arial"/>
              </a:rPr>
              <a:t>: A generative speech model for daily dialogue"</a:t>
            </a:r>
          </a:p>
          <a:p>
            <a:endParaRPr lang="en-US" sz="2000" dirty="0">
              <a:latin typeface="Arial"/>
              <a:ea typeface="+mn-lt"/>
              <a:cs typeface="Arial"/>
            </a:endParaRPr>
          </a:p>
          <a:p>
            <a:pPr marL="285750" indent="-285750">
              <a:buFont typeface="Calibri"/>
              <a:buChar char="-"/>
            </a:pPr>
            <a:r>
              <a:rPr lang="en-US" sz="2000" dirty="0">
                <a:latin typeface="Arial"/>
                <a:ea typeface="+mn-lt"/>
                <a:cs typeface="Arial"/>
              </a:rPr>
              <a:t>P. Taylor, Text-to-Speech Synthesis </a:t>
            </a:r>
          </a:p>
          <a:p>
            <a:pPr marL="285750" indent="-285750">
              <a:buFont typeface="Calibri"/>
              <a:buChar char="-"/>
            </a:pPr>
            <a:endParaRPr lang="en-US" sz="2000" dirty="0">
              <a:latin typeface="Arial"/>
              <a:ea typeface="+mn-lt"/>
              <a:cs typeface="Arial"/>
            </a:endParaRPr>
          </a:p>
          <a:p>
            <a:pPr marL="285750" indent="-285750">
              <a:buFont typeface="Calibri"/>
              <a:buChar char="-"/>
            </a:pPr>
            <a:r>
              <a:rPr lang="en-US" sz="2000" dirty="0">
                <a:latin typeface="Arial"/>
                <a:ea typeface="+mn-lt"/>
                <a:cs typeface="Arial"/>
              </a:rPr>
              <a:t>D. </a:t>
            </a:r>
            <a:r>
              <a:rPr lang="en-US" sz="2000" dirty="0" err="1">
                <a:latin typeface="Arial"/>
                <a:ea typeface="+mn-lt"/>
                <a:cs typeface="Arial"/>
              </a:rPr>
              <a:t>Jurafsky</a:t>
            </a:r>
            <a:r>
              <a:rPr lang="en-US" sz="2000">
                <a:latin typeface="Arial"/>
                <a:ea typeface="+mn-lt"/>
                <a:cs typeface="Arial"/>
              </a:rPr>
              <a:t> and J. H. Martin, Speech and Language Processing</a:t>
            </a:r>
          </a:p>
          <a:p>
            <a:pPr marL="285750" indent="-285750">
              <a:buFont typeface="Calibri"/>
              <a:buChar char="-"/>
            </a:pPr>
            <a:endParaRPr lang="en-US"/>
          </a:p>
          <a:p>
            <a:pPr marL="285750" indent="-285750">
              <a:buFont typeface="Calibri"/>
              <a:buChar char="-"/>
            </a:pPr>
            <a:r>
              <a:rPr lang="en-US" sz="2000" dirty="0">
                <a:latin typeface="Arial"/>
                <a:ea typeface="+mn-lt"/>
                <a:cs typeface="Arial"/>
              </a:rPr>
              <a:t>"</a:t>
            </a:r>
            <a:r>
              <a:rPr lang="en-US" sz="2000" dirty="0" err="1">
                <a:latin typeface="Arial"/>
                <a:ea typeface="+mn-lt"/>
                <a:cs typeface="Arial"/>
              </a:rPr>
              <a:t>WaveNet</a:t>
            </a:r>
            <a:r>
              <a:rPr lang="en-US" sz="2000" dirty="0">
                <a:latin typeface="Arial"/>
                <a:ea typeface="+mn-lt"/>
                <a:cs typeface="Arial"/>
              </a:rPr>
              <a:t>: A generative model for raw audio"</a:t>
            </a:r>
          </a:p>
          <a:p>
            <a:pPr marL="285750" indent="-285750">
              <a:buFont typeface="Calibri"/>
              <a:buChar char="-"/>
            </a:pPr>
            <a:endParaRPr lang="en-US" sz="2000" dirty="0">
              <a:latin typeface="Arial"/>
              <a:ea typeface="+mn-lt"/>
              <a:cs typeface="Arial"/>
            </a:endParaRPr>
          </a:p>
          <a:p>
            <a:pPr marL="285750" indent="-285750">
              <a:buFont typeface="Calibri"/>
              <a:buChar char="-"/>
            </a:pPr>
            <a:r>
              <a:rPr lang="en-US" sz="2000" dirty="0">
                <a:latin typeface="Arial"/>
                <a:ea typeface="+mn-lt"/>
                <a:cs typeface="Arial"/>
              </a:rPr>
              <a:t>"Natural TTS synthesis by conditioning </a:t>
            </a:r>
            <a:r>
              <a:rPr lang="en-US" sz="2000" dirty="0" err="1">
                <a:latin typeface="Arial"/>
                <a:ea typeface="+mn-lt"/>
                <a:cs typeface="Arial"/>
              </a:rPr>
              <a:t>WaveNet</a:t>
            </a:r>
            <a:r>
              <a:rPr lang="en-US" sz="2000" dirty="0">
                <a:latin typeface="Arial"/>
                <a:ea typeface="+mn-lt"/>
                <a:cs typeface="Arial"/>
              </a:rPr>
              <a:t> on mel spectrogram predictions” </a:t>
            </a:r>
          </a:p>
          <a:p>
            <a:pPr marL="285750" indent="-285750">
              <a:buFont typeface="Calibri"/>
              <a:buChar char="-"/>
            </a:pPr>
            <a:endParaRPr lang="en-US" sz="2000" dirty="0">
              <a:latin typeface="Arial"/>
              <a:ea typeface="+mn-lt"/>
              <a:cs typeface="Arial"/>
            </a:endParaRPr>
          </a:p>
          <a:p>
            <a:pPr marL="285750" indent="-285750">
              <a:buFont typeface="Calibri"/>
              <a:buChar char="-"/>
            </a:pPr>
            <a:r>
              <a:rPr lang="en-US" sz="2000" dirty="0">
                <a:latin typeface="Arial"/>
                <a:ea typeface="+mn-lt"/>
                <a:cs typeface="Arial"/>
              </a:rPr>
              <a:t>"</a:t>
            </a:r>
            <a:r>
              <a:rPr lang="en-US" sz="2000" dirty="0" err="1">
                <a:latin typeface="Arial"/>
                <a:ea typeface="+mn-lt"/>
                <a:cs typeface="Arial"/>
              </a:rPr>
              <a:t>FastSpeech</a:t>
            </a:r>
            <a:r>
              <a:rPr lang="en-US" sz="2000" dirty="0">
                <a:latin typeface="Arial"/>
                <a:ea typeface="+mn-lt"/>
                <a:cs typeface="Arial"/>
              </a:rPr>
              <a:t>: Fast, robust and controllable text to speech"</a:t>
            </a:r>
          </a:p>
          <a:p>
            <a:pPr marL="285750" indent="-285750">
              <a:buFont typeface="Calibri"/>
              <a:buChar char="-"/>
            </a:pPr>
            <a:endParaRPr lang="en-US" sz="2000" dirty="0">
              <a:latin typeface="Arial"/>
              <a:ea typeface="+mn-lt"/>
              <a:cs typeface="Arial"/>
            </a:endParaRPr>
          </a:p>
          <a:p>
            <a:pPr marL="285750" indent="-285750">
              <a:buFont typeface="Calibri"/>
              <a:buChar char="-"/>
            </a:pPr>
            <a:r>
              <a:rPr lang="en-US" sz="2000" dirty="0">
                <a:latin typeface="Arial"/>
                <a:ea typeface="+mn-lt"/>
                <a:cs typeface="Arial"/>
              </a:rPr>
              <a:t>"HiFi-GAN: Generative adversarial networks for efficient and high fidelity speech synthesis"</a:t>
            </a:r>
            <a:endParaRPr lang="en-US" sz="2000">
              <a:latin typeface="Arial"/>
              <a:ea typeface="Calibri"/>
              <a:cs typeface="Arial"/>
            </a:endParaRPr>
          </a:p>
        </p:txBody>
      </p:sp>
    </p:spTree>
    <p:extLst>
      <p:ext uri="{BB962C8B-B14F-4D97-AF65-F5344CB8AC3E}">
        <p14:creationId xmlns:p14="http://schemas.microsoft.com/office/powerpoint/2010/main" val="41397141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36719" y="1385186"/>
            <a:ext cx="8872398" cy="3266985"/>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641350" indent="-285750" algn="just" defTabSz="457152">
              <a:lnSpc>
                <a:spcPct val="150000"/>
              </a:lnSpc>
              <a:buFont typeface="Calibri" pitchFamily="16" charset="0"/>
              <a:buChar char="-"/>
              <a:defRPr/>
            </a:pPr>
            <a:r>
              <a:rPr lang="sr-Cyrl-RS" sz="2000">
                <a:latin typeface="Arial"/>
                <a:cs typeface="Arial"/>
              </a:rPr>
              <a:t>ChatTTS GitHub: https://github.com/2noise/ChatTTS </a:t>
            </a:r>
            <a:endParaRPr lang="en-US" sz="2000">
              <a:cs typeface="Arial"/>
            </a:endParaRPr>
          </a:p>
          <a:p>
            <a:pPr marL="641350" indent="-285750" defTabSz="457152">
              <a:lnSpc>
                <a:spcPct val="150000"/>
              </a:lnSpc>
              <a:buFont typeface="Calibri" pitchFamily="16" charset="0"/>
              <a:buChar char="-"/>
              <a:defRPr/>
            </a:pPr>
            <a:r>
              <a:rPr lang="sr-Cyrl-RS" sz="2000">
                <a:latin typeface="Arial"/>
                <a:cs typeface="Arial"/>
              </a:rPr>
              <a:t>ChatTTS Python пакет: https://pypi.org/project/ChatTTS/ </a:t>
            </a:r>
            <a:endParaRPr lang="en-US" sz="2000">
              <a:cs typeface="Arial"/>
            </a:endParaRPr>
          </a:p>
          <a:p>
            <a:pPr marL="641350" indent="-285750" defTabSz="457152">
              <a:lnSpc>
                <a:spcPct val="150000"/>
              </a:lnSpc>
              <a:buFont typeface="Calibri" pitchFamily="16" charset="0"/>
              <a:buChar char="-"/>
              <a:defRPr/>
            </a:pPr>
            <a:r>
              <a:rPr lang="sr-Cyrl-RS" sz="2000">
                <a:latin typeface="Arial"/>
                <a:cs typeface="Arial"/>
              </a:rPr>
              <a:t>SoundFile документација: https://python-soundfile.readthedocs.io/ </a:t>
            </a:r>
            <a:endParaRPr lang="sr-Cyrl-RS" sz="2000">
              <a:cs typeface="Arial"/>
            </a:endParaRPr>
          </a:p>
          <a:p>
            <a:pPr marL="641350" indent="-285750" defTabSz="457152">
              <a:lnSpc>
                <a:spcPct val="150000"/>
              </a:lnSpc>
              <a:buFont typeface="Calibri" pitchFamily="16" charset="0"/>
              <a:buChar char="-"/>
              <a:defRPr/>
            </a:pPr>
            <a:r>
              <a:rPr lang="sr-Cyrl-RS" sz="2000">
                <a:latin typeface="Arial"/>
                <a:cs typeface="Arial"/>
              </a:rPr>
              <a:t>Jupyter: https://jupyter.org/</a:t>
            </a:r>
            <a:endParaRPr lang="sr-Cyrl-RS" sz="2000">
              <a:cs typeface="Arial"/>
            </a:endParaRPr>
          </a:p>
          <a:p>
            <a:pPr marL="641350" indent="-285750" defTabSz="457152">
              <a:lnSpc>
                <a:spcPct val="150000"/>
              </a:lnSpc>
              <a:buFont typeface="Calibri" pitchFamily="16" charset="0"/>
              <a:buChar char="-"/>
              <a:defRPr/>
            </a:pPr>
            <a:r>
              <a:rPr lang="sr-Cyrl-RS" sz="2000">
                <a:latin typeface="Arial"/>
                <a:cs typeface="Arial"/>
              </a:rPr>
              <a:t>PyTorch: https://pytorch.org/</a:t>
            </a:r>
            <a:endParaRPr lang="sr-Cyrl-RS" sz="2000">
              <a:cs typeface="Arial"/>
            </a:endParaRPr>
          </a:p>
          <a:p>
            <a:pPr marL="641350" indent="-285750" defTabSz="457152">
              <a:lnSpc>
                <a:spcPct val="150000"/>
              </a:lnSpc>
              <a:buFont typeface="Calibri" pitchFamily="16" charset="0"/>
              <a:buChar char="-"/>
              <a:defRPr/>
            </a:pPr>
            <a:r>
              <a:rPr lang="sr-Cyrl-RS" sz="2000">
                <a:latin typeface="Arial"/>
                <a:cs typeface="Arial"/>
              </a:rPr>
              <a:t>TorchAudio: https://pytorch.org/audio/</a:t>
            </a:r>
            <a:endParaRPr lang="sr-Cyrl-RS" sz="2000">
              <a:cs typeface="Arial"/>
            </a:endParaRPr>
          </a:p>
          <a:p>
            <a:pPr marL="641350" indent="-285750" defTabSz="457152">
              <a:lnSpc>
                <a:spcPct val="150000"/>
              </a:lnSpc>
              <a:buFont typeface="Calibri" pitchFamily="16" charset="0"/>
              <a:buChar char="-"/>
              <a:defRPr/>
            </a:pPr>
            <a:r>
              <a:rPr lang="sr-Cyrl-RS" sz="2000">
                <a:latin typeface="Arial"/>
                <a:cs typeface="Arial"/>
              </a:rPr>
              <a:t>librosa: https://librosa.org/</a:t>
            </a:r>
            <a:endParaRPr lang="sr-Cyrl-RS" sz="2000"/>
          </a:p>
        </p:txBody>
      </p:sp>
      <p:sp>
        <p:nvSpPr>
          <p:cNvPr id="15" name="Rectangle 14">
            <a:extLst>
              <a:ext uri="{FF2B5EF4-FFF2-40B4-BE49-F238E27FC236}">
                <a16:creationId xmlns:a16="http://schemas.microsoft.com/office/drawing/2014/main" id="{55A59DEF-1FC9-41A9-AAE4-B1B2547E6843}"/>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846CF4-B466-4682-8D57-9140F8774A41}"/>
              </a:ext>
            </a:extLst>
          </p:cNvPr>
          <p:cNvSpPr/>
          <p:nvPr/>
        </p:nvSpPr>
        <p:spPr>
          <a:xfrm>
            <a:off x="502576" y="438622"/>
            <a:ext cx="6624736" cy="607539"/>
          </a:xfrm>
          <a:prstGeom prst="rect">
            <a:avLst/>
          </a:prstGeom>
        </p:spPr>
        <p:txBody>
          <a:bodyPr wrap="square">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Font typeface="Times New Roman" pitchFamily="18" charset="0"/>
              <a:buNone/>
              <a:defRPr/>
            </a:pPr>
            <a:r>
              <a:rPr lang="sr-Cyrl-RS" sz="3600" b="1" dirty="0">
                <a:solidFill>
                  <a:schemeClr val="bg1"/>
                </a:solidFill>
                <a:effectLst>
                  <a:outerShdw blurRad="38100" dist="38100" dir="2700000" algn="tl">
                    <a:srgbClr val="000000">
                      <a:alpha val="43137"/>
                    </a:srgbClr>
                  </a:outerShdw>
                </a:effectLst>
              </a:rPr>
              <a:t>Литература - линкови</a:t>
            </a:r>
          </a:p>
        </p:txBody>
      </p:sp>
    </p:spTree>
    <p:extLst>
      <p:ext uri="{BB962C8B-B14F-4D97-AF65-F5344CB8AC3E}">
        <p14:creationId xmlns:p14="http://schemas.microsoft.com/office/powerpoint/2010/main" val="2839984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5A59DEF-1FC9-41A9-AAE4-B1B2547E6843}"/>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846CF4-B466-4682-8D57-9140F8774A41}"/>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Зашто је TTS важан?</a:t>
            </a:r>
            <a:endParaRPr lang="en-US" b="1">
              <a:solidFill>
                <a:schemeClr val="bg1"/>
              </a:solidFill>
            </a:endParaRPr>
          </a:p>
        </p:txBody>
      </p:sp>
      <p:sp>
        <p:nvSpPr>
          <p:cNvPr id="2" name="TextBox 1">
            <a:extLst>
              <a:ext uri="{FF2B5EF4-FFF2-40B4-BE49-F238E27FC236}">
                <a16:creationId xmlns:a16="http://schemas.microsoft.com/office/drawing/2014/main" id="{64F6F057-F50E-754D-62CD-F92157424B21}"/>
              </a:ext>
            </a:extLst>
          </p:cNvPr>
          <p:cNvSpPr txBox="1"/>
          <p:nvPr/>
        </p:nvSpPr>
        <p:spPr>
          <a:xfrm>
            <a:off x="714371" y="1586919"/>
            <a:ext cx="7433598"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err="1">
                <a:solidFill>
                  <a:srgbClr val="C00000"/>
                </a:solidFill>
                <a:latin typeface="Arial"/>
                <a:ea typeface="+mn-lt"/>
                <a:cs typeface="Arial"/>
              </a:rPr>
              <a:t>Интеракција</a:t>
            </a:r>
            <a:endParaRPr lang="en-US" sz="2400">
              <a:solidFill>
                <a:srgbClr val="C00000"/>
              </a:solidFill>
              <a:latin typeface="Arial"/>
              <a:ea typeface="+mn-lt"/>
              <a:cs typeface="Arial"/>
            </a:endParaRPr>
          </a:p>
          <a:p>
            <a:pPr marL="342900" indent="-342900">
              <a:buFont typeface="Calibri"/>
              <a:buChar char="-"/>
            </a:pPr>
            <a:r>
              <a:rPr lang="en-US" sz="2400" dirty="0">
                <a:latin typeface="Arial"/>
                <a:ea typeface="+mn-lt"/>
                <a:cs typeface="Arial"/>
              </a:rPr>
              <a:t>Гласовни </a:t>
            </a:r>
            <a:r>
              <a:rPr lang="en-US" sz="2400" dirty="0" err="1">
                <a:latin typeface="Arial"/>
                <a:ea typeface="+mn-lt"/>
                <a:cs typeface="Arial"/>
              </a:rPr>
              <a:t>асистенти</a:t>
            </a:r>
            <a:r>
              <a:rPr lang="en-US" sz="2400" dirty="0">
                <a:latin typeface="Arial"/>
                <a:ea typeface="+mn-lt"/>
                <a:cs typeface="Arial"/>
              </a:rPr>
              <a:t> и </a:t>
            </a:r>
            <a:r>
              <a:rPr lang="en-US" sz="2400" dirty="0" err="1">
                <a:latin typeface="Arial"/>
                <a:ea typeface="+mn-lt"/>
                <a:cs typeface="Arial"/>
              </a:rPr>
              <a:t>дијалошки</a:t>
            </a:r>
            <a:r>
              <a:rPr lang="en-US" sz="2400" dirty="0">
                <a:latin typeface="Arial"/>
                <a:ea typeface="+mn-lt"/>
                <a:cs typeface="Arial"/>
              </a:rPr>
              <a:t> </a:t>
            </a:r>
            <a:r>
              <a:rPr lang="en-US" sz="2400" dirty="0" err="1">
                <a:latin typeface="Arial"/>
                <a:ea typeface="+mn-lt"/>
                <a:cs typeface="Arial"/>
              </a:rPr>
              <a:t>системи</a:t>
            </a:r>
            <a:r>
              <a:rPr lang="en-US" sz="2400" dirty="0">
                <a:latin typeface="Arial"/>
                <a:ea typeface="+mn-lt"/>
                <a:cs typeface="Arial"/>
              </a:rPr>
              <a:t>.</a:t>
            </a:r>
          </a:p>
          <a:p>
            <a:r>
              <a:rPr lang="en-US" sz="2400" dirty="0" err="1">
                <a:solidFill>
                  <a:srgbClr val="C00000"/>
                </a:solidFill>
                <a:latin typeface="Arial"/>
                <a:ea typeface="+mn-lt"/>
                <a:cs typeface="Arial"/>
              </a:rPr>
              <a:t>Садржај</a:t>
            </a:r>
            <a:endParaRPr lang="en-US">
              <a:solidFill>
                <a:srgbClr val="C00000"/>
              </a:solidFill>
              <a:latin typeface="Arial"/>
              <a:ea typeface="+mn-lt"/>
              <a:cs typeface="Arial"/>
            </a:endParaRPr>
          </a:p>
          <a:p>
            <a:pPr marL="342900" indent="-342900">
              <a:buFont typeface="Calibri"/>
              <a:buChar char="-"/>
            </a:pPr>
            <a:r>
              <a:rPr lang="en-US" sz="2400" dirty="0" err="1">
                <a:latin typeface="Arial"/>
                <a:ea typeface="+mn-lt"/>
                <a:cs typeface="Arial"/>
              </a:rPr>
              <a:t>Аудио-књиге</a:t>
            </a:r>
            <a:r>
              <a:rPr lang="en-US" sz="2400" dirty="0">
                <a:latin typeface="Arial"/>
                <a:ea typeface="+mn-lt"/>
                <a:cs typeface="Arial"/>
              </a:rPr>
              <a:t>, </a:t>
            </a:r>
            <a:r>
              <a:rPr lang="en-US" sz="2400" dirty="0" err="1">
                <a:latin typeface="Arial"/>
                <a:ea typeface="+mn-lt"/>
                <a:cs typeface="Arial"/>
              </a:rPr>
              <a:t>игре</a:t>
            </a:r>
            <a:r>
              <a:rPr lang="en-US" sz="2400" dirty="0">
                <a:latin typeface="Arial"/>
                <a:ea typeface="+mn-lt"/>
                <a:cs typeface="Arial"/>
              </a:rPr>
              <a:t> и </a:t>
            </a:r>
            <a:r>
              <a:rPr lang="en-US" sz="2400" dirty="0" err="1">
                <a:latin typeface="Arial"/>
                <a:ea typeface="+mn-lt"/>
                <a:cs typeface="Arial"/>
              </a:rPr>
              <a:t>образовање</a:t>
            </a:r>
            <a:r>
              <a:rPr lang="en-US" sz="2400" dirty="0">
                <a:latin typeface="Arial"/>
                <a:ea typeface="+mn-lt"/>
                <a:cs typeface="Arial"/>
              </a:rPr>
              <a:t>.</a:t>
            </a:r>
          </a:p>
          <a:p>
            <a:r>
              <a:rPr lang="en-US" sz="2400" dirty="0" err="1">
                <a:solidFill>
                  <a:srgbClr val="C00000"/>
                </a:solidFill>
                <a:latin typeface="Arial"/>
                <a:ea typeface="+mn-lt"/>
                <a:cs typeface="Arial"/>
              </a:rPr>
              <a:t>Приступачност</a:t>
            </a:r>
            <a:endParaRPr lang="en-US" sz="2400">
              <a:solidFill>
                <a:srgbClr val="C00000"/>
              </a:solidFill>
              <a:latin typeface="Arial"/>
              <a:ea typeface="+mn-lt"/>
              <a:cs typeface="Arial"/>
            </a:endParaRPr>
          </a:p>
          <a:p>
            <a:pPr marL="342900" indent="-342900">
              <a:buFont typeface="Calibri"/>
              <a:buChar char="-"/>
            </a:pPr>
            <a:r>
              <a:rPr lang="en-US" sz="2400" dirty="0">
                <a:latin typeface="Arial"/>
                <a:ea typeface="+mn-lt"/>
                <a:cs typeface="Arial"/>
              </a:rPr>
              <a:t>Говорни </a:t>
            </a:r>
            <a:r>
              <a:rPr lang="en-US" sz="2400" dirty="0" err="1">
                <a:latin typeface="Arial"/>
                <a:ea typeface="+mn-lt"/>
                <a:cs typeface="Arial"/>
              </a:rPr>
              <a:t>интерфејси</a:t>
            </a:r>
            <a:r>
              <a:rPr lang="en-US" sz="2400" dirty="0">
                <a:latin typeface="Arial"/>
                <a:ea typeface="+mn-lt"/>
                <a:cs typeface="Arial"/>
              </a:rPr>
              <a:t> и </a:t>
            </a:r>
            <a:r>
              <a:rPr lang="en-US" sz="2400" dirty="0" err="1">
                <a:latin typeface="Arial"/>
                <a:ea typeface="+mn-lt"/>
                <a:cs typeface="Arial"/>
              </a:rPr>
              <a:t>помоћне</a:t>
            </a:r>
            <a:r>
              <a:rPr lang="en-US" sz="2400" dirty="0">
                <a:latin typeface="Arial"/>
                <a:ea typeface="+mn-lt"/>
                <a:cs typeface="Arial"/>
              </a:rPr>
              <a:t> </a:t>
            </a:r>
            <a:r>
              <a:rPr lang="en-US" sz="2400" dirty="0" err="1">
                <a:latin typeface="Arial"/>
                <a:ea typeface="+mn-lt"/>
                <a:cs typeface="Arial"/>
              </a:rPr>
              <a:t>технологије</a:t>
            </a:r>
            <a:r>
              <a:rPr lang="en-US" sz="2400" dirty="0">
                <a:latin typeface="Arial"/>
                <a:ea typeface="+mn-lt"/>
                <a:cs typeface="Arial"/>
              </a:rPr>
              <a:t>.</a:t>
            </a:r>
          </a:p>
          <a:p>
            <a:endParaRPr lang="en-US" sz="2400" dirty="0">
              <a:latin typeface="Arial"/>
              <a:ea typeface="Calibri"/>
              <a:cs typeface="Arial"/>
            </a:endParaRPr>
          </a:p>
          <a:p>
            <a:pPr>
              <a:buFont typeface="Calibri"/>
            </a:pPr>
            <a:endParaRPr lang="en-US" sz="2400" dirty="0">
              <a:latin typeface="Arial"/>
              <a:ea typeface="Calibri"/>
              <a:cs typeface="Arial"/>
            </a:endParaRPr>
          </a:p>
          <a:p>
            <a:r>
              <a:rPr lang="en-US" sz="2400" dirty="0" err="1">
                <a:latin typeface="Arial"/>
                <a:ea typeface="+mn-lt"/>
                <a:cs typeface="Arial"/>
              </a:rPr>
              <a:t>ChatTTS</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open-source </a:t>
            </a:r>
            <a:r>
              <a:rPr lang="en-US" sz="2400" dirty="0" err="1">
                <a:latin typeface="Arial"/>
                <a:ea typeface="+mn-lt"/>
                <a:cs typeface="Arial"/>
              </a:rPr>
              <a:t>модел</a:t>
            </a:r>
            <a:r>
              <a:rPr lang="en-US" sz="2400" dirty="0">
                <a:latin typeface="Arial"/>
                <a:ea typeface="+mn-lt"/>
                <a:cs typeface="Arial"/>
              </a:rPr>
              <a:t> </a:t>
            </a:r>
            <a:r>
              <a:rPr lang="en-US" sz="2400" dirty="0" err="1">
                <a:latin typeface="Arial"/>
                <a:ea typeface="+mn-lt"/>
                <a:cs typeface="Arial"/>
              </a:rPr>
              <a:t>за</a:t>
            </a:r>
            <a:r>
              <a:rPr lang="en-US" sz="2400" dirty="0">
                <a:latin typeface="Arial"/>
                <a:ea typeface="+mn-lt"/>
                <a:cs typeface="Arial"/>
              </a:rPr>
              <a:t> </a:t>
            </a:r>
            <a:r>
              <a:rPr lang="en-US" sz="2400" dirty="0" err="1">
                <a:latin typeface="Arial"/>
                <a:ea typeface="+mn-lt"/>
                <a:cs typeface="Arial"/>
              </a:rPr>
              <a:t>свакодневни</a:t>
            </a:r>
            <a:r>
              <a:rPr lang="en-US" sz="2400" dirty="0">
                <a:latin typeface="Arial"/>
                <a:ea typeface="+mn-lt"/>
                <a:cs typeface="Arial"/>
              </a:rPr>
              <a:t> </a:t>
            </a:r>
            <a:r>
              <a:rPr lang="en-US" sz="2400" dirty="0" err="1">
                <a:latin typeface="Arial"/>
                <a:ea typeface="+mn-lt"/>
                <a:cs typeface="Arial"/>
              </a:rPr>
              <a:t>дијалог</a:t>
            </a:r>
            <a:r>
              <a:rPr lang="en-US" sz="2400" dirty="0">
                <a:latin typeface="Arial"/>
                <a:ea typeface="+mn-lt"/>
                <a:cs typeface="Arial"/>
              </a:rPr>
              <a:t> </a:t>
            </a:r>
            <a:r>
              <a:rPr lang="en-US" sz="2400" dirty="0" err="1">
                <a:latin typeface="Arial"/>
                <a:ea typeface="+mn-lt"/>
                <a:cs typeface="Arial"/>
              </a:rPr>
              <a:t>са</a:t>
            </a:r>
            <a:r>
              <a:rPr lang="en-US" sz="2400" dirty="0">
                <a:latin typeface="Arial"/>
                <a:ea typeface="+mn-lt"/>
                <a:cs typeface="Arial"/>
              </a:rPr>
              <a:t> </a:t>
            </a:r>
            <a:r>
              <a:rPr lang="en-US" sz="2400" dirty="0" err="1">
                <a:latin typeface="Arial"/>
                <a:ea typeface="+mn-lt"/>
                <a:cs typeface="Arial"/>
              </a:rPr>
              <a:t>контролом</a:t>
            </a:r>
            <a:r>
              <a:rPr lang="en-US" sz="2400" dirty="0">
                <a:latin typeface="Arial"/>
                <a:ea typeface="+mn-lt"/>
                <a:cs typeface="Arial"/>
              </a:rPr>
              <a:t> </a:t>
            </a:r>
            <a:r>
              <a:rPr lang="en-US" sz="2400" dirty="0" err="1">
                <a:latin typeface="Arial"/>
                <a:ea typeface="+mn-lt"/>
                <a:cs typeface="Arial"/>
              </a:rPr>
              <a:t>говорника</a:t>
            </a:r>
            <a:r>
              <a:rPr lang="en-US" sz="2400" dirty="0">
                <a:latin typeface="Arial"/>
                <a:ea typeface="+mn-lt"/>
                <a:cs typeface="Arial"/>
              </a:rPr>
              <a:t>.</a:t>
            </a:r>
            <a:endParaRPr lang="en-US">
              <a:latin typeface="Arial"/>
              <a:cs typeface="Arial"/>
            </a:endParaRPr>
          </a:p>
        </p:txBody>
      </p:sp>
    </p:spTree>
    <p:extLst>
      <p:ext uri="{BB962C8B-B14F-4D97-AF65-F5344CB8AC3E}">
        <p14:creationId xmlns:p14="http://schemas.microsoft.com/office/powerpoint/2010/main" val="2905358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9A8A7-807F-A2F3-7E0E-89552D18A9B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938701A-36B2-5825-DF0A-DB7C222FE2B2}"/>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E95106E-A154-E956-D7F6-A75EC764B002}"/>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54B71DE-92AE-B152-8851-05CBE17C8910}"/>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20C9719-2E93-CD32-89BD-509F6F01DC40}"/>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2245FF2-E997-EC03-61CC-8BC2FDA460FA}"/>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9B0503-D7B0-6858-2391-2DEC2F950B3E}"/>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D84033D7-0592-D51D-63CE-993278D1F05E}"/>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C6201CA-EBA2-2681-D82E-E249F247313F}"/>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Истраживачко питање</a:t>
            </a:r>
            <a:endParaRPr lang="sr-Cyrl-RS" sz="3600" b="1">
              <a:solidFill>
                <a:schemeClr val="bg1"/>
              </a:solidFill>
              <a:effectLst>
                <a:outerShdw blurRad="38100" dist="38100" dir="2700000" algn="tl">
                  <a:srgbClr val="000000">
                    <a:alpha val="43137"/>
                  </a:srgbClr>
                </a:outerShdw>
              </a:effectLst>
              <a:cs typeface="Arial"/>
            </a:endParaRPr>
          </a:p>
        </p:txBody>
      </p:sp>
      <p:sp>
        <p:nvSpPr>
          <p:cNvPr id="2" name="TextBox 1">
            <a:extLst>
              <a:ext uri="{FF2B5EF4-FFF2-40B4-BE49-F238E27FC236}">
                <a16:creationId xmlns:a16="http://schemas.microsoft.com/office/drawing/2014/main" id="{E9177445-FA55-3ED3-B3E0-9D184333F9B1}"/>
              </a:ext>
            </a:extLst>
          </p:cNvPr>
          <p:cNvSpPr txBox="1"/>
          <p:nvPr/>
        </p:nvSpPr>
        <p:spPr>
          <a:xfrm>
            <a:off x="623295" y="1486736"/>
            <a:ext cx="7762712"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Како </a:t>
            </a:r>
            <a:r>
              <a:rPr lang="en-US" sz="2400" dirty="0" err="1">
                <a:latin typeface="Arial"/>
                <a:ea typeface="+mn-lt"/>
                <a:cs typeface="Arial"/>
              </a:rPr>
              <a:t>дужина</a:t>
            </a:r>
            <a:r>
              <a:rPr lang="en-US" sz="2400" dirty="0">
                <a:latin typeface="Arial"/>
                <a:ea typeface="+mn-lt"/>
                <a:cs typeface="Arial"/>
              </a:rPr>
              <a:t>, </a:t>
            </a:r>
            <a:r>
              <a:rPr lang="en-US" sz="2400" dirty="0" err="1">
                <a:latin typeface="Arial"/>
                <a:ea typeface="+mn-lt"/>
                <a:cs typeface="Arial"/>
              </a:rPr>
              <a:t>говорни</a:t>
            </a:r>
            <a:r>
              <a:rPr lang="en-US" sz="2400" dirty="0">
                <a:latin typeface="Arial"/>
                <a:ea typeface="+mn-lt"/>
                <a:cs typeface="Arial"/>
              </a:rPr>
              <a:t> </a:t>
            </a:r>
            <a:r>
              <a:rPr lang="en-US" sz="2400" dirty="0" err="1">
                <a:latin typeface="Arial"/>
                <a:ea typeface="+mn-lt"/>
                <a:cs typeface="Arial"/>
              </a:rPr>
              <a:t>стил</a:t>
            </a:r>
            <a:r>
              <a:rPr lang="en-US" sz="2400" dirty="0">
                <a:latin typeface="Arial"/>
                <a:ea typeface="+mn-lt"/>
                <a:cs typeface="Arial"/>
              </a:rPr>
              <a:t> и </a:t>
            </a:r>
            <a:r>
              <a:rPr lang="en-US" sz="2400" dirty="0" err="1">
                <a:latin typeface="Arial"/>
                <a:ea typeface="+mn-lt"/>
                <a:cs typeface="Arial"/>
              </a:rPr>
              <a:t>језички</a:t>
            </a:r>
            <a:r>
              <a:rPr lang="en-US" sz="2400" dirty="0">
                <a:latin typeface="Arial"/>
                <a:ea typeface="+mn-lt"/>
                <a:cs typeface="Arial"/>
              </a:rPr>
              <a:t> </a:t>
            </a:r>
            <a:r>
              <a:rPr lang="en-US" sz="2400" dirty="0" err="1">
                <a:latin typeface="Arial"/>
                <a:ea typeface="+mn-lt"/>
                <a:cs typeface="Arial"/>
              </a:rPr>
              <a:t>садржај</a:t>
            </a:r>
            <a:r>
              <a:rPr lang="en-US" sz="2400" dirty="0">
                <a:latin typeface="Arial"/>
                <a:ea typeface="+mn-lt"/>
                <a:cs typeface="Arial"/>
              </a:rPr>
              <a:t> </a:t>
            </a:r>
            <a:r>
              <a:rPr lang="en-US" sz="2400" dirty="0" err="1">
                <a:latin typeface="Arial"/>
                <a:ea typeface="+mn-lt"/>
                <a:cs typeface="Arial"/>
              </a:rPr>
              <a:t>утичу</a:t>
            </a:r>
            <a:r>
              <a:rPr lang="en-US" sz="2400" dirty="0">
                <a:latin typeface="Arial"/>
                <a:ea typeface="+mn-lt"/>
                <a:cs typeface="Arial"/>
              </a:rPr>
              <a:t> </a:t>
            </a:r>
            <a:r>
              <a:rPr lang="en-US" sz="2400" dirty="0" err="1">
                <a:latin typeface="Arial"/>
                <a:ea typeface="+mn-lt"/>
                <a:cs typeface="Arial"/>
              </a:rPr>
              <a:t>на</a:t>
            </a:r>
            <a:r>
              <a:rPr lang="en-US" sz="2400" dirty="0">
                <a:latin typeface="Arial"/>
                <a:ea typeface="+mn-lt"/>
                <a:cs typeface="Arial"/>
              </a:rPr>
              <a:t> </a:t>
            </a:r>
            <a:r>
              <a:rPr lang="en-US" sz="2400" dirty="0" err="1">
                <a:latin typeface="Arial"/>
                <a:ea typeface="+mn-lt"/>
                <a:cs typeface="Arial"/>
              </a:rPr>
              <a:t>ефикасност</a:t>
            </a:r>
            <a:r>
              <a:rPr lang="en-US" sz="2400" dirty="0">
                <a:latin typeface="Arial"/>
                <a:ea typeface="+mn-lt"/>
                <a:cs typeface="Arial"/>
              </a:rPr>
              <a:t>, </a:t>
            </a:r>
            <a:r>
              <a:rPr lang="en-US" sz="2400" dirty="0" err="1">
                <a:latin typeface="Arial"/>
                <a:ea typeface="+mn-lt"/>
                <a:cs typeface="Arial"/>
              </a:rPr>
              <a:t>акустичке</a:t>
            </a:r>
            <a:r>
              <a:rPr lang="en-US" sz="2400" dirty="0">
                <a:latin typeface="Arial"/>
                <a:ea typeface="+mn-lt"/>
                <a:cs typeface="Arial"/>
              </a:rPr>
              <a:t> </a:t>
            </a:r>
            <a:r>
              <a:rPr lang="en-US" sz="2400" dirty="0" err="1">
                <a:latin typeface="Arial"/>
                <a:ea typeface="+mn-lt"/>
                <a:cs typeface="Arial"/>
              </a:rPr>
              <a:t>карактеристике</a:t>
            </a:r>
            <a:r>
              <a:rPr lang="en-US" sz="2400" dirty="0">
                <a:latin typeface="Arial"/>
                <a:ea typeface="+mn-lt"/>
                <a:cs typeface="Arial"/>
              </a:rPr>
              <a:t> и </a:t>
            </a:r>
            <a:r>
              <a:rPr lang="en-US" sz="2400" dirty="0" err="1">
                <a:latin typeface="Arial"/>
                <a:ea typeface="+mn-lt"/>
                <a:cs typeface="Arial"/>
              </a:rPr>
              <a:t>субјективни</a:t>
            </a:r>
            <a:r>
              <a:rPr lang="en-US" sz="2400" dirty="0">
                <a:latin typeface="Arial"/>
                <a:ea typeface="+mn-lt"/>
                <a:cs typeface="Arial"/>
              </a:rPr>
              <a:t> </a:t>
            </a:r>
            <a:r>
              <a:rPr lang="en-US" sz="2400" dirty="0" err="1">
                <a:latin typeface="Arial"/>
                <a:ea typeface="+mn-lt"/>
                <a:cs typeface="Arial"/>
              </a:rPr>
              <a:t>квалитет</a:t>
            </a:r>
            <a:r>
              <a:rPr lang="en-US" sz="2400" dirty="0">
                <a:latin typeface="Arial"/>
                <a:ea typeface="+mn-lt"/>
                <a:cs typeface="Arial"/>
              </a:rPr>
              <a:t> </a:t>
            </a:r>
            <a:r>
              <a:rPr lang="en-US" sz="2400" dirty="0" err="1">
                <a:latin typeface="Arial"/>
                <a:ea typeface="+mn-lt"/>
                <a:cs typeface="Arial"/>
              </a:rPr>
              <a:t>ChatTTS</a:t>
            </a:r>
            <a:r>
              <a:rPr lang="en-US" sz="2400" dirty="0">
                <a:latin typeface="Arial"/>
                <a:ea typeface="+mn-lt"/>
                <a:cs typeface="Arial"/>
              </a:rPr>
              <a:t> </a:t>
            </a:r>
            <a:r>
              <a:rPr lang="en-US" sz="2400" dirty="0" err="1">
                <a:latin typeface="Arial"/>
                <a:ea typeface="+mn-lt"/>
                <a:cs typeface="Arial"/>
              </a:rPr>
              <a:t>говора</a:t>
            </a:r>
            <a:r>
              <a:rPr lang="en-US" sz="2400" dirty="0">
                <a:latin typeface="Arial"/>
                <a:ea typeface="+mn-lt"/>
                <a:cs typeface="Arial"/>
              </a:rPr>
              <a:t>?</a:t>
            </a:r>
          </a:p>
          <a:p>
            <a:endParaRPr lang="en-US" sz="2400" dirty="0">
              <a:latin typeface="Arial"/>
              <a:ea typeface="+mn-lt"/>
              <a:cs typeface="Arial"/>
            </a:endParaRPr>
          </a:p>
          <a:p>
            <a:r>
              <a:rPr lang="en-US" sz="2400" dirty="0" err="1">
                <a:solidFill>
                  <a:schemeClr val="accent1">
                    <a:lumMod val="76000"/>
                  </a:schemeClr>
                </a:solidFill>
                <a:latin typeface="Arial"/>
                <a:ea typeface="+mn-lt"/>
                <a:cs typeface="Arial"/>
              </a:rPr>
              <a:t>Дужина</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текста</a:t>
            </a:r>
            <a:r>
              <a:rPr lang="en-US" sz="2400" dirty="0">
                <a:latin typeface="Arial"/>
                <a:ea typeface="+mn-lt"/>
                <a:cs typeface="Arial"/>
              </a:rPr>
              <a:t> </a:t>
            </a:r>
          </a:p>
          <a:p>
            <a:pPr marL="342900" indent="-342900">
              <a:buFont typeface="Calibri"/>
              <a:buChar char="-"/>
            </a:pPr>
            <a:r>
              <a:rPr lang="en-US" sz="2400" dirty="0">
                <a:latin typeface="Arial"/>
                <a:ea typeface="+mn-lt"/>
                <a:cs typeface="Arial"/>
              </a:rPr>
              <a:t>Дужи </a:t>
            </a:r>
            <a:r>
              <a:rPr lang="en-US" sz="2400" dirty="0" err="1">
                <a:latin typeface="Arial"/>
                <a:ea typeface="+mn-lt"/>
                <a:cs typeface="Arial"/>
              </a:rPr>
              <a:t>улаз</a:t>
            </a:r>
            <a:r>
              <a:rPr lang="en-US" sz="2400" dirty="0">
                <a:latin typeface="Arial"/>
                <a:ea typeface="+mn-lt"/>
                <a:cs typeface="Arial"/>
              </a:rPr>
              <a:t> </a:t>
            </a:r>
            <a:r>
              <a:rPr lang="en-US" sz="2400" dirty="0" err="1">
                <a:latin typeface="Arial"/>
                <a:ea typeface="+mn-lt"/>
                <a:cs typeface="Arial"/>
              </a:rPr>
              <a:t>тражи</a:t>
            </a:r>
            <a:r>
              <a:rPr lang="en-US" sz="2400" dirty="0">
                <a:latin typeface="Arial"/>
                <a:ea typeface="+mn-lt"/>
                <a:cs typeface="Arial"/>
              </a:rPr>
              <a:t> </a:t>
            </a:r>
            <a:r>
              <a:rPr lang="en-US" sz="2400" dirty="0" err="1">
                <a:latin typeface="Arial"/>
                <a:ea typeface="+mn-lt"/>
                <a:cs typeface="Arial"/>
              </a:rPr>
              <a:t>више</a:t>
            </a:r>
            <a:r>
              <a:rPr lang="en-US" sz="2400" dirty="0">
                <a:latin typeface="Arial"/>
                <a:ea typeface="+mn-lt"/>
                <a:cs typeface="Arial"/>
              </a:rPr>
              <a:t> </a:t>
            </a:r>
            <a:r>
              <a:rPr lang="en-US" sz="2400" dirty="0" err="1">
                <a:latin typeface="Arial"/>
                <a:ea typeface="+mn-lt"/>
                <a:cs typeface="Arial"/>
              </a:rPr>
              <a:t>времена</a:t>
            </a:r>
            <a:r>
              <a:rPr lang="en-US" sz="2400" dirty="0">
                <a:latin typeface="Arial"/>
                <a:ea typeface="+mn-lt"/>
                <a:cs typeface="Arial"/>
              </a:rPr>
              <a:t>. </a:t>
            </a:r>
          </a:p>
          <a:p>
            <a:r>
              <a:rPr lang="en-US" sz="2400" dirty="0">
                <a:solidFill>
                  <a:schemeClr val="accent1">
                    <a:lumMod val="76000"/>
                  </a:schemeClr>
                </a:solidFill>
                <a:latin typeface="Arial"/>
                <a:ea typeface="+mn-lt"/>
                <a:cs typeface="Arial"/>
              </a:rPr>
              <a:t>Говорни </a:t>
            </a:r>
            <a:r>
              <a:rPr lang="en-US" sz="2400" dirty="0" err="1">
                <a:solidFill>
                  <a:schemeClr val="accent1">
                    <a:lumMod val="76000"/>
                  </a:schemeClr>
                </a:solidFill>
                <a:latin typeface="Arial"/>
                <a:ea typeface="+mn-lt"/>
                <a:cs typeface="Arial"/>
              </a:rPr>
              <a:t>стил</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err="1">
                <a:latin typeface="Arial"/>
                <a:ea typeface="+mn-lt"/>
                <a:cs typeface="Arial"/>
              </a:rPr>
              <a:t>Питања</a:t>
            </a:r>
            <a:r>
              <a:rPr lang="en-US" sz="2400" dirty="0">
                <a:latin typeface="Arial"/>
                <a:ea typeface="+mn-lt"/>
                <a:cs typeface="Arial"/>
              </a:rPr>
              <a:t>, </a:t>
            </a:r>
            <a:r>
              <a:rPr lang="en-US" sz="2400" dirty="0" err="1">
                <a:latin typeface="Arial"/>
                <a:ea typeface="+mn-lt"/>
                <a:cs typeface="Arial"/>
              </a:rPr>
              <a:t>узвици</a:t>
            </a:r>
            <a:r>
              <a:rPr lang="en-US" sz="2400" dirty="0">
                <a:latin typeface="Arial"/>
                <a:ea typeface="+mn-lt"/>
                <a:cs typeface="Arial"/>
              </a:rPr>
              <a:t> и </a:t>
            </a:r>
            <a:r>
              <a:rPr lang="en-US" sz="2400" dirty="0" err="1">
                <a:latin typeface="Arial"/>
                <a:ea typeface="+mn-lt"/>
                <a:cs typeface="Arial"/>
              </a:rPr>
              <a:t>реплике</a:t>
            </a:r>
            <a:r>
              <a:rPr lang="en-US" sz="2400" dirty="0">
                <a:latin typeface="Arial"/>
                <a:ea typeface="+mn-lt"/>
                <a:cs typeface="Arial"/>
              </a:rPr>
              <a:t> </a:t>
            </a:r>
            <a:r>
              <a:rPr lang="en-US" sz="2400" dirty="0" err="1">
                <a:latin typeface="Arial"/>
                <a:ea typeface="+mn-lt"/>
                <a:cs typeface="Arial"/>
              </a:rPr>
              <a:t>мењају</a:t>
            </a:r>
            <a:r>
              <a:rPr lang="en-US" sz="2400" dirty="0">
                <a:latin typeface="Arial"/>
                <a:ea typeface="+mn-lt"/>
                <a:cs typeface="Arial"/>
              </a:rPr>
              <a:t> pitch и </a:t>
            </a:r>
            <a:r>
              <a:rPr lang="en-US" sz="2400" dirty="0" err="1">
                <a:latin typeface="Arial"/>
                <a:ea typeface="+mn-lt"/>
                <a:cs typeface="Arial"/>
              </a:rPr>
              <a:t>енергију</a:t>
            </a:r>
            <a:r>
              <a:rPr lang="en-US" sz="2400" dirty="0">
                <a:latin typeface="Arial"/>
                <a:ea typeface="+mn-lt"/>
                <a:cs typeface="Arial"/>
              </a:rPr>
              <a:t>. </a:t>
            </a:r>
          </a:p>
          <a:p>
            <a:r>
              <a:rPr lang="en-US" sz="2400" dirty="0" err="1">
                <a:solidFill>
                  <a:schemeClr val="accent1">
                    <a:lumMod val="76000"/>
                  </a:schemeClr>
                </a:solidFill>
                <a:latin typeface="Arial"/>
                <a:ea typeface="+mn-lt"/>
                <a:cs typeface="Arial"/>
              </a:rPr>
              <a:t>Језички</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садржај</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err="1">
                <a:latin typeface="Arial"/>
                <a:ea typeface="+mn-lt"/>
                <a:cs typeface="Arial"/>
              </a:rPr>
              <a:t>Српски</a:t>
            </a:r>
            <a:r>
              <a:rPr lang="en-US" sz="2400" dirty="0">
                <a:latin typeface="Arial"/>
                <a:ea typeface="+mn-lt"/>
                <a:cs typeface="Arial"/>
              </a:rPr>
              <a:t> и </a:t>
            </a:r>
            <a:r>
              <a:rPr lang="en-US" sz="2400" dirty="0" err="1">
                <a:latin typeface="Arial"/>
                <a:ea typeface="+mn-lt"/>
                <a:cs typeface="Arial"/>
              </a:rPr>
              <a:t>мешовити</a:t>
            </a:r>
            <a:r>
              <a:rPr lang="en-US" sz="2400" dirty="0">
                <a:latin typeface="Arial"/>
                <a:ea typeface="+mn-lt"/>
                <a:cs typeface="Arial"/>
              </a:rPr>
              <a:t> </a:t>
            </a:r>
            <a:r>
              <a:rPr lang="en-US" sz="2400" dirty="0" err="1">
                <a:latin typeface="Arial"/>
                <a:ea typeface="+mn-lt"/>
                <a:cs typeface="Arial"/>
              </a:rPr>
              <a:t>текст</a:t>
            </a:r>
            <a:r>
              <a:rPr lang="en-US" sz="2400" dirty="0">
                <a:latin typeface="Arial"/>
                <a:ea typeface="+mn-lt"/>
                <a:cs typeface="Arial"/>
              </a:rPr>
              <a:t> </a:t>
            </a:r>
            <a:r>
              <a:rPr lang="en-US" sz="2400" dirty="0" err="1">
                <a:latin typeface="Arial"/>
                <a:ea typeface="+mn-lt"/>
                <a:cs typeface="Arial"/>
              </a:rPr>
              <a:t>дају</a:t>
            </a:r>
            <a:r>
              <a:rPr lang="en-US" sz="2400" dirty="0">
                <a:latin typeface="Arial"/>
                <a:ea typeface="+mn-lt"/>
                <a:cs typeface="Arial"/>
              </a:rPr>
              <a:t> </a:t>
            </a:r>
            <a:r>
              <a:rPr lang="en-US" sz="2400" dirty="0" err="1">
                <a:latin typeface="Arial"/>
                <a:ea typeface="+mn-lt"/>
                <a:cs typeface="Arial"/>
              </a:rPr>
              <a:t>више</a:t>
            </a:r>
            <a:r>
              <a:rPr lang="en-US" sz="2400" dirty="0">
                <a:latin typeface="Arial"/>
                <a:ea typeface="+mn-lt"/>
                <a:cs typeface="Arial"/>
              </a:rPr>
              <a:t> </a:t>
            </a:r>
            <a:r>
              <a:rPr lang="en-US" sz="2400" dirty="0" err="1">
                <a:latin typeface="Arial"/>
                <a:ea typeface="+mn-lt"/>
                <a:cs typeface="Arial"/>
              </a:rPr>
              <a:t>грешака</a:t>
            </a:r>
            <a:r>
              <a:rPr lang="en-US" sz="2400" dirty="0">
                <a:latin typeface="Arial"/>
                <a:ea typeface="+mn-lt"/>
                <a:cs typeface="Arial"/>
              </a:rPr>
              <a:t>.</a:t>
            </a:r>
            <a:endParaRPr lang="en-US" sz="2400">
              <a:latin typeface="Arial"/>
              <a:ea typeface="Calibri"/>
              <a:cs typeface="Arial"/>
            </a:endParaRPr>
          </a:p>
        </p:txBody>
      </p:sp>
    </p:spTree>
    <p:extLst>
      <p:ext uri="{BB962C8B-B14F-4D97-AF65-F5344CB8AC3E}">
        <p14:creationId xmlns:p14="http://schemas.microsoft.com/office/powerpoint/2010/main" val="3887376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66EFD-D8B8-F2DD-62AB-2D141EF6411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61C4214-04A9-8827-FEBE-814BBE5962A0}"/>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0E4097B-47BC-E4EC-3B43-686FFF971DC6}"/>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1F509CB-675E-93C8-4683-40D2A8865C9A}"/>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AD0AF2A-B117-DBF2-F7F4-9AA15D9BAA6E}"/>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62CBB0-0FA6-DAF8-DD6A-9786DE1D2ABE}"/>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8C05AB-B4BD-F769-9AD0-F0B9E3598B7A}"/>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4CFC6E6-B907-3D0F-F9B6-6BE6B73A3173}"/>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7A748DE-0A7E-D41E-ECFC-8B508E2B8239}"/>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Доприноси</a:t>
            </a:r>
            <a:endParaRPr lang="en-US" b="1">
              <a:solidFill>
                <a:schemeClr val="bg1"/>
              </a:solidFill>
            </a:endParaRPr>
          </a:p>
        </p:txBody>
      </p:sp>
      <p:sp>
        <p:nvSpPr>
          <p:cNvPr id="2" name="TextBox 1">
            <a:extLst>
              <a:ext uri="{FF2B5EF4-FFF2-40B4-BE49-F238E27FC236}">
                <a16:creationId xmlns:a16="http://schemas.microsoft.com/office/drawing/2014/main" id="{2B10E22C-A61A-EAC5-88AA-00AA6935F7F7}"/>
              </a:ext>
            </a:extLst>
          </p:cNvPr>
          <p:cNvSpPr txBox="1"/>
          <p:nvPr/>
        </p:nvSpPr>
        <p:spPr>
          <a:xfrm>
            <a:off x="714371" y="1586919"/>
            <a:ext cx="7257472"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Шта</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a:t>
            </a:r>
            <a:r>
              <a:rPr lang="en-US" sz="2400" dirty="0" err="1">
                <a:latin typeface="Arial"/>
                <a:ea typeface="+mn-lt"/>
                <a:cs typeface="Arial"/>
              </a:rPr>
              <a:t>анализирано</a:t>
            </a:r>
            <a:r>
              <a:rPr lang="en-US" sz="2400" dirty="0">
                <a:latin typeface="Arial"/>
                <a:ea typeface="+mn-lt"/>
                <a:cs typeface="Arial"/>
              </a:rPr>
              <a:t> у </a:t>
            </a:r>
            <a:r>
              <a:rPr lang="en-US" sz="2400" dirty="0" err="1">
                <a:latin typeface="Arial"/>
                <a:ea typeface="+mn-lt"/>
                <a:cs typeface="Arial"/>
              </a:rPr>
              <a:t>раду</a:t>
            </a:r>
            <a:r>
              <a:rPr lang="en-US" sz="2400" dirty="0">
                <a:latin typeface="Arial"/>
                <a:ea typeface="+mn-lt"/>
                <a:cs typeface="Arial"/>
              </a:rPr>
              <a:t>? </a:t>
            </a:r>
          </a:p>
          <a:p>
            <a:endParaRPr lang="en-US" sz="2400" dirty="0">
              <a:latin typeface="Arial"/>
              <a:ea typeface="+mn-lt"/>
              <a:cs typeface="Arial"/>
            </a:endParaRPr>
          </a:p>
          <a:p>
            <a:r>
              <a:rPr lang="en-US" sz="2800" b="1" dirty="0">
                <a:solidFill>
                  <a:schemeClr val="accent1">
                    <a:lumMod val="76000"/>
                  </a:schemeClr>
                </a:solidFill>
                <a:latin typeface="Arial"/>
                <a:cs typeface="Arial"/>
              </a:rPr>
              <a:t>10</a:t>
            </a:r>
            <a:r>
              <a:rPr lang="en-US" sz="2800" b="1" dirty="0">
                <a:latin typeface="Arial"/>
                <a:cs typeface="Arial"/>
              </a:rPr>
              <a:t> </a:t>
            </a:r>
            <a:r>
              <a:rPr lang="en-US" sz="2400" dirty="0">
                <a:latin typeface="Arial"/>
                <a:ea typeface="+mn-lt"/>
                <a:cs typeface="Arial"/>
              </a:rPr>
              <a:t>- </a:t>
            </a:r>
            <a:r>
              <a:rPr lang="en-US" sz="2400" dirty="0" err="1">
                <a:latin typeface="Arial"/>
                <a:ea typeface="+mn-lt"/>
                <a:cs typeface="Arial"/>
              </a:rPr>
              <a:t>припремљених</a:t>
            </a:r>
            <a:r>
              <a:rPr lang="en-US" sz="2400" dirty="0">
                <a:latin typeface="Arial"/>
                <a:ea typeface="+mn-lt"/>
                <a:cs typeface="Arial"/>
              </a:rPr>
              <a:t> TTS </a:t>
            </a:r>
            <a:r>
              <a:rPr lang="en-US" sz="2400" dirty="0" err="1">
                <a:latin typeface="Arial"/>
                <a:ea typeface="+mn-lt"/>
                <a:cs typeface="Arial"/>
              </a:rPr>
              <a:t>примера</a:t>
            </a:r>
            <a:r>
              <a:rPr lang="en-US" sz="2400" dirty="0">
                <a:latin typeface="Arial"/>
                <a:ea typeface="+mn-lt"/>
                <a:cs typeface="Arial"/>
              </a:rPr>
              <a:t> </a:t>
            </a:r>
          </a:p>
          <a:p>
            <a:r>
              <a:rPr lang="en-US" sz="2800" b="1" dirty="0">
                <a:solidFill>
                  <a:schemeClr val="accent1">
                    <a:lumMod val="76000"/>
                  </a:schemeClr>
                </a:solidFill>
                <a:latin typeface="Arial"/>
                <a:cs typeface="Arial"/>
              </a:rPr>
              <a:t>5+</a:t>
            </a:r>
            <a:r>
              <a:rPr lang="en-US" sz="2400" dirty="0">
                <a:latin typeface="Arial"/>
                <a:ea typeface="+mn-lt"/>
                <a:cs typeface="Arial"/>
              </a:rPr>
              <a:t> - </a:t>
            </a:r>
            <a:r>
              <a:rPr lang="en-US" sz="2400" dirty="0" err="1">
                <a:latin typeface="Arial"/>
                <a:ea typeface="+mn-lt"/>
                <a:cs typeface="Arial"/>
              </a:rPr>
              <a:t>метрика</a:t>
            </a:r>
            <a:r>
              <a:rPr lang="en-US" sz="2400" dirty="0">
                <a:latin typeface="Arial"/>
                <a:ea typeface="+mn-lt"/>
                <a:cs typeface="Arial"/>
              </a:rPr>
              <a:t> </a:t>
            </a:r>
            <a:r>
              <a:rPr lang="en-US" sz="2400" dirty="0" err="1">
                <a:latin typeface="Arial"/>
                <a:ea typeface="+mn-lt"/>
                <a:cs typeface="Arial"/>
              </a:rPr>
              <a:t>брзине</a:t>
            </a:r>
            <a:r>
              <a:rPr lang="en-US" sz="2400" dirty="0">
                <a:latin typeface="Arial"/>
                <a:ea typeface="+mn-lt"/>
                <a:cs typeface="Arial"/>
              </a:rPr>
              <a:t> и </a:t>
            </a:r>
            <a:r>
              <a:rPr lang="en-US" sz="2400" dirty="0" err="1">
                <a:latin typeface="Arial"/>
                <a:ea typeface="+mn-lt"/>
                <a:cs typeface="Arial"/>
              </a:rPr>
              <a:t>сигнала</a:t>
            </a:r>
            <a:r>
              <a:rPr lang="en-US" sz="2400" dirty="0">
                <a:latin typeface="Arial"/>
                <a:ea typeface="+mn-lt"/>
                <a:cs typeface="Arial"/>
              </a:rPr>
              <a:t> </a:t>
            </a:r>
          </a:p>
          <a:p>
            <a:r>
              <a:rPr lang="en-US" sz="2800" b="1" dirty="0">
                <a:solidFill>
                  <a:schemeClr val="accent1">
                    <a:lumMod val="76000"/>
                  </a:schemeClr>
                </a:solidFill>
                <a:latin typeface="Arial"/>
                <a:cs typeface="Arial"/>
              </a:rPr>
              <a:t>3</a:t>
            </a:r>
            <a:r>
              <a:rPr lang="en-US" dirty="0">
                <a:latin typeface="Arial"/>
                <a:cs typeface="Arial"/>
              </a:rPr>
              <a:t> -</a:t>
            </a:r>
            <a:r>
              <a:rPr lang="en-US" sz="2400" dirty="0">
                <a:latin typeface="Arial"/>
                <a:ea typeface="+mn-lt"/>
                <a:cs typeface="Arial"/>
              </a:rPr>
              <a:t> </a:t>
            </a:r>
            <a:r>
              <a:rPr lang="en-US" sz="2400" dirty="0" err="1">
                <a:latin typeface="Arial"/>
                <a:ea typeface="+mn-lt"/>
                <a:cs typeface="Arial"/>
              </a:rPr>
              <a:t>фактора</a:t>
            </a:r>
            <a:r>
              <a:rPr lang="en-US" sz="2400" dirty="0">
                <a:latin typeface="Arial"/>
                <a:ea typeface="+mn-lt"/>
                <a:cs typeface="Arial"/>
              </a:rPr>
              <a:t> </a:t>
            </a:r>
            <a:r>
              <a:rPr lang="en-US" sz="2400" dirty="0" err="1">
                <a:latin typeface="Arial"/>
                <a:ea typeface="+mn-lt"/>
                <a:cs typeface="Arial"/>
              </a:rPr>
              <a:t>квалитета</a:t>
            </a:r>
            <a:endParaRPr lang="en-US" sz="2400" dirty="0">
              <a:latin typeface="Arial"/>
              <a:ea typeface="+mn-lt"/>
              <a:cs typeface="Arial"/>
            </a:endParaRPr>
          </a:p>
          <a:p>
            <a:endParaRPr lang="en-US" sz="2400" dirty="0">
              <a:latin typeface="Arial"/>
              <a:ea typeface="Calibri"/>
              <a:cs typeface="Arial"/>
            </a:endParaRPr>
          </a:p>
          <a:p>
            <a:r>
              <a:rPr lang="en-US" sz="2400" dirty="0">
                <a:latin typeface="Arial"/>
                <a:ea typeface="+mn-lt"/>
                <a:cs typeface="Arial"/>
              </a:rPr>
              <a:t>Објективни </a:t>
            </a:r>
            <a:r>
              <a:rPr lang="en-US" sz="2400" dirty="0" err="1">
                <a:latin typeface="Arial"/>
                <a:ea typeface="+mn-lt"/>
                <a:cs typeface="Arial"/>
              </a:rPr>
              <a:t>резултати</a:t>
            </a:r>
            <a:r>
              <a:rPr lang="en-US" sz="2400" dirty="0">
                <a:latin typeface="Arial"/>
                <a:ea typeface="+mn-lt"/>
                <a:cs typeface="Arial"/>
              </a:rPr>
              <a:t> </a:t>
            </a:r>
            <a:r>
              <a:rPr lang="en-US" sz="2400" dirty="0" err="1">
                <a:latin typeface="Arial"/>
                <a:ea typeface="+mn-lt"/>
                <a:cs typeface="Arial"/>
              </a:rPr>
              <a:t>повезани</a:t>
            </a:r>
            <a:r>
              <a:rPr lang="en-US" sz="2400" dirty="0">
                <a:latin typeface="Arial"/>
                <a:ea typeface="+mn-lt"/>
                <a:cs typeface="Arial"/>
              </a:rPr>
              <a:t> </a:t>
            </a:r>
            <a:r>
              <a:rPr lang="en-US" sz="2400" dirty="0" err="1">
                <a:latin typeface="Arial"/>
                <a:ea typeface="+mn-lt"/>
                <a:cs typeface="Arial"/>
              </a:rPr>
              <a:t>су</a:t>
            </a:r>
            <a:r>
              <a:rPr lang="en-US" sz="2400" dirty="0">
                <a:latin typeface="Arial"/>
                <a:ea typeface="+mn-lt"/>
                <a:cs typeface="Arial"/>
              </a:rPr>
              <a:t> </a:t>
            </a:r>
            <a:r>
              <a:rPr lang="en-US" sz="2400" dirty="0" err="1">
                <a:latin typeface="Arial"/>
                <a:ea typeface="+mn-lt"/>
                <a:cs typeface="Arial"/>
              </a:rPr>
              <a:t>са</a:t>
            </a:r>
            <a:r>
              <a:rPr lang="en-US" sz="2400" dirty="0">
                <a:latin typeface="Arial"/>
                <a:ea typeface="+mn-lt"/>
                <a:cs typeface="Arial"/>
              </a:rPr>
              <a:t> </a:t>
            </a:r>
            <a:r>
              <a:rPr lang="en-US" sz="2400" dirty="0" err="1">
                <a:latin typeface="Arial"/>
                <a:ea typeface="+mn-lt"/>
                <a:cs typeface="Arial"/>
              </a:rPr>
              <a:t>слушним</a:t>
            </a:r>
            <a:r>
              <a:rPr lang="en-US" sz="2400" dirty="0">
                <a:latin typeface="Arial"/>
                <a:ea typeface="+mn-lt"/>
                <a:cs typeface="Arial"/>
              </a:rPr>
              <a:t> </a:t>
            </a:r>
            <a:r>
              <a:rPr lang="en-US" sz="2400" dirty="0" err="1">
                <a:latin typeface="Arial"/>
                <a:ea typeface="+mn-lt"/>
                <a:cs typeface="Arial"/>
              </a:rPr>
              <a:t>оценама</a:t>
            </a:r>
            <a:r>
              <a:rPr lang="en-US" sz="2400" dirty="0">
                <a:latin typeface="Arial"/>
                <a:ea typeface="+mn-lt"/>
                <a:cs typeface="Arial"/>
              </a:rPr>
              <a:t>.</a:t>
            </a:r>
            <a:endParaRPr lang="en-US" sz="2400">
              <a:latin typeface="Arial"/>
              <a:cs typeface="Arial"/>
            </a:endParaRPr>
          </a:p>
        </p:txBody>
      </p:sp>
    </p:spTree>
    <p:extLst>
      <p:ext uri="{BB962C8B-B14F-4D97-AF65-F5344CB8AC3E}">
        <p14:creationId xmlns:p14="http://schemas.microsoft.com/office/powerpoint/2010/main" val="2952299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D9FC-3D7D-321A-99CA-3700FAD1462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AC5DB31-DD8F-3B79-BAA2-57468C09E586}"/>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35B148E-91A9-BAD5-A742-D1C41C7B975E}"/>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6061DF2-876A-E5EC-483A-B8842DF5DACF}"/>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ED9B23F-3ECE-7AA6-02A8-F3509C023AC1}"/>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A4D09E8-A336-0B62-E37B-319E3B13CBEA}"/>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399DF3-A728-79D5-7845-C0CC75A673E4}"/>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9FA247B9-CE47-ED1B-AAA8-01123F0D27C3}"/>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3893249-1D0D-1716-6199-2AE1B425FFCA}"/>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Шта је TTS?</a:t>
            </a:r>
            <a:endParaRPr lang="en-US" b="1">
              <a:solidFill>
                <a:schemeClr val="bg1"/>
              </a:solidFill>
            </a:endParaRPr>
          </a:p>
        </p:txBody>
      </p:sp>
      <p:sp>
        <p:nvSpPr>
          <p:cNvPr id="2" name="TextBox 1">
            <a:extLst>
              <a:ext uri="{FF2B5EF4-FFF2-40B4-BE49-F238E27FC236}">
                <a16:creationId xmlns:a16="http://schemas.microsoft.com/office/drawing/2014/main" id="{C175F88E-D70D-9144-01F5-5B516D4E7FCE}"/>
              </a:ext>
            </a:extLst>
          </p:cNvPr>
          <p:cNvSpPr txBox="1"/>
          <p:nvPr/>
        </p:nvSpPr>
        <p:spPr>
          <a:xfrm>
            <a:off x="714371" y="1586919"/>
            <a:ext cx="485615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Општи </a:t>
            </a:r>
            <a:r>
              <a:rPr lang="en-US" sz="2400" dirty="0" err="1">
                <a:latin typeface="Arial"/>
                <a:ea typeface="+mn-lt"/>
                <a:cs typeface="Arial"/>
              </a:rPr>
              <a:t>ток</a:t>
            </a:r>
            <a:r>
              <a:rPr lang="en-US" sz="2400" dirty="0">
                <a:latin typeface="Arial"/>
                <a:ea typeface="+mn-lt"/>
                <a:cs typeface="Arial"/>
              </a:rPr>
              <a:t> </a:t>
            </a:r>
            <a:r>
              <a:rPr lang="en-US" sz="2400" dirty="0" err="1">
                <a:latin typeface="Arial"/>
                <a:ea typeface="+mn-lt"/>
                <a:cs typeface="Arial"/>
              </a:rPr>
              <a:t>синтезе</a:t>
            </a:r>
            <a:r>
              <a:rPr lang="en-US" sz="2400" dirty="0">
                <a:latin typeface="Arial"/>
                <a:ea typeface="+mn-lt"/>
                <a:cs typeface="Arial"/>
              </a:rPr>
              <a:t> </a:t>
            </a:r>
            <a:r>
              <a:rPr lang="en-US" sz="2400" dirty="0" err="1">
                <a:latin typeface="Arial"/>
                <a:ea typeface="+mn-lt"/>
                <a:cs typeface="Arial"/>
              </a:rPr>
              <a:t>говора</a:t>
            </a:r>
            <a:endParaRPr lang="en-US" sz="2400">
              <a:latin typeface="Arial"/>
              <a:cs typeface="Arial"/>
            </a:endParaRPr>
          </a:p>
        </p:txBody>
      </p:sp>
      <p:pic>
        <p:nvPicPr>
          <p:cNvPr id="4" name="Picture 3" descr="A purple rectangle with black text&#10;&#10;AI-generated content may be incorrect.">
            <a:extLst>
              <a:ext uri="{FF2B5EF4-FFF2-40B4-BE49-F238E27FC236}">
                <a16:creationId xmlns:a16="http://schemas.microsoft.com/office/drawing/2014/main" id="{13703CF7-0CE4-90DD-304D-27069FB22126}"/>
              </a:ext>
            </a:extLst>
          </p:cNvPr>
          <p:cNvPicPr>
            <a:picLocks noChangeAspect="1"/>
          </p:cNvPicPr>
          <p:nvPr/>
        </p:nvPicPr>
        <p:blipFill>
          <a:blip r:embed="rId3"/>
          <a:stretch>
            <a:fillRect/>
          </a:stretch>
        </p:blipFill>
        <p:spPr>
          <a:xfrm>
            <a:off x="500916" y="2164493"/>
            <a:ext cx="8219582" cy="1044480"/>
          </a:xfrm>
          <a:prstGeom prst="rect">
            <a:avLst/>
          </a:prstGeom>
        </p:spPr>
      </p:pic>
      <p:sp>
        <p:nvSpPr>
          <p:cNvPr id="5" name="TextBox 4">
            <a:extLst>
              <a:ext uri="{FF2B5EF4-FFF2-40B4-BE49-F238E27FC236}">
                <a16:creationId xmlns:a16="http://schemas.microsoft.com/office/drawing/2014/main" id="{EC5F83F2-2C3C-510E-1605-AF3BAB551DAD}"/>
              </a:ext>
            </a:extLst>
          </p:cNvPr>
          <p:cNvSpPr txBox="1"/>
          <p:nvPr/>
        </p:nvSpPr>
        <p:spPr>
          <a:xfrm>
            <a:off x="715818" y="3382818"/>
            <a:ext cx="711892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1">
                    <a:lumMod val="76000"/>
                  </a:schemeClr>
                </a:solidFill>
                <a:latin typeface="Arial"/>
                <a:ea typeface="+mn-lt"/>
                <a:cs typeface="Arial"/>
              </a:rPr>
              <a:t>Садржај </a:t>
            </a:r>
          </a:p>
          <a:p>
            <a:pPr marL="285750" indent="-285750">
              <a:buFont typeface="Calibri"/>
              <a:buChar char="-"/>
            </a:pPr>
            <a:r>
              <a:rPr lang="en-US" sz="2400" dirty="0">
                <a:latin typeface="Arial"/>
                <a:ea typeface="+mn-lt"/>
                <a:cs typeface="Arial"/>
              </a:rPr>
              <a:t>Тачно </a:t>
            </a:r>
            <a:r>
              <a:rPr lang="en-US" sz="2400" dirty="0" err="1">
                <a:latin typeface="Arial"/>
                <a:ea typeface="+mn-lt"/>
                <a:cs typeface="Arial"/>
              </a:rPr>
              <a:t>изговорен</a:t>
            </a:r>
            <a:r>
              <a:rPr lang="en-US" sz="2400" dirty="0">
                <a:latin typeface="Arial"/>
                <a:ea typeface="+mn-lt"/>
                <a:cs typeface="Arial"/>
              </a:rPr>
              <a:t> </a:t>
            </a:r>
            <a:r>
              <a:rPr lang="en-US" sz="2400" dirty="0" err="1">
                <a:latin typeface="Arial"/>
                <a:ea typeface="+mn-lt"/>
                <a:cs typeface="Arial"/>
              </a:rPr>
              <a:t>текст</a:t>
            </a:r>
            <a:r>
              <a:rPr lang="en-US" sz="2400" dirty="0">
                <a:latin typeface="Arial"/>
                <a:ea typeface="+mn-lt"/>
                <a:cs typeface="Arial"/>
              </a:rPr>
              <a:t>. </a:t>
            </a:r>
          </a:p>
          <a:p>
            <a:r>
              <a:rPr lang="en-US" sz="2400" dirty="0" err="1">
                <a:solidFill>
                  <a:schemeClr val="accent1">
                    <a:lumMod val="76000"/>
                  </a:schemeClr>
                </a:solidFill>
                <a:latin typeface="Arial"/>
                <a:ea typeface="+mn-lt"/>
                <a:cs typeface="Arial"/>
              </a:rPr>
              <a:t>Прозодија</a:t>
            </a:r>
            <a:r>
              <a:rPr lang="en-US" sz="2400" dirty="0">
                <a:solidFill>
                  <a:schemeClr val="accent1">
                    <a:lumMod val="76000"/>
                  </a:schemeClr>
                </a:solidFill>
                <a:latin typeface="Arial"/>
                <a:ea typeface="+mn-lt"/>
                <a:cs typeface="Arial"/>
              </a:rPr>
              <a:t> </a:t>
            </a:r>
          </a:p>
          <a:p>
            <a:pPr marL="285750" indent="-285750">
              <a:buFont typeface="Calibri"/>
              <a:buChar char="-"/>
            </a:pPr>
            <a:r>
              <a:rPr lang="en-US" sz="2400" dirty="0" err="1">
                <a:latin typeface="Arial"/>
                <a:ea typeface="+mn-lt"/>
                <a:cs typeface="Arial"/>
              </a:rPr>
              <a:t>Интонација</a:t>
            </a:r>
            <a:r>
              <a:rPr lang="en-US" sz="2400" dirty="0">
                <a:latin typeface="Arial"/>
                <a:ea typeface="+mn-lt"/>
                <a:cs typeface="Arial"/>
              </a:rPr>
              <a:t>, </a:t>
            </a:r>
            <a:r>
              <a:rPr lang="en-US" sz="2400" dirty="0" err="1">
                <a:latin typeface="Arial"/>
                <a:ea typeface="+mn-lt"/>
                <a:cs typeface="Arial"/>
              </a:rPr>
              <a:t>ритам</a:t>
            </a:r>
            <a:r>
              <a:rPr lang="en-US" sz="2400" dirty="0">
                <a:latin typeface="Arial"/>
                <a:ea typeface="+mn-lt"/>
                <a:cs typeface="Arial"/>
              </a:rPr>
              <a:t>, </a:t>
            </a:r>
            <a:r>
              <a:rPr lang="en-US" sz="2400" dirty="0" err="1">
                <a:latin typeface="Arial"/>
                <a:ea typeface="+mn-lt"/>
                <a:cs typeface="Arial"/>
              </a:rPr>
              <a:t>нагласак</a:t>
            </a:r>
            <a:r>
              <a:rPr lang="en-US" sz="2400" dirty="0">
                <a:latin typeface="Arial"/>
                <a:ea typeface="+mn-lt"/>
                <a:cs typeface="Arial"/>
              </a:rPr>
              <a:t> и </a:t>
            </a:r>
            <a:r>
              <a:rPr lang="en-US" sz="2400" dirty="0" err="1">
                <a:latin typeface="Arial"/>
                <a:ea typeface="+mn-lt"/>
                <a:cs typeface="Arial"/>
              </a:rPr>
              <a:t>паузе</a:t>
            </a:r>
            <a:r>
              <a:rPr lang="en-US" sz="2400" dirty="0">
                <a:latin typeface="Arial"/>
                <a:ea typeface="+mn-lt"/>
                <a:cs typeface="Arial"/>
              </a:rPr>
              <a:t>. </a:t>
            </a:r>
          </a:p>
          <a:p>
            <a:r>
              <a:rPr lang="en-US" sz="2400" dirty="0">
                <a:solidFill>
                  <a:schemeClr val="accent1">
                    <a:lumMod val="76000"/>
                  </a:schemeClr>
                </a:solidFill>
                <a:latin typeface="Arial"/>
                <a:ea typeface="+mn-lt"/>
                <a:cs typeface="Arial"/>
              </a:rPr>
              <a:t>Квалитет </a:t>
            </a:r>
          </a:p>
          <a:p>
            <a:pPr marL="285750" indent="-285750">
              <a:buFont typeface="Calibri"/>
              <a:buChar char="-"/>
            </a:pPr>
            <a:r>
              <a:rPr lang="en-US" sz="2400" dirty="0" err="1">
                <a:latin typeface="Arial"/>
                <a:ea typeface="+mn-lt"/>
                <a:cs typeface="Arial"/>
              </a:rPr>
              <a:t>Без</a:t>
            </a:r>
            <a:r>
              <a:rPr lang="en-US" sz="2400" dirty="0">
                <a:latin typeface="Arial"/>
                <a:ea typeface="+mn-lt"/>
                <a:cs typeface="Arial"/>
              </a:rPr>
              <a:t> </a:t>
            </a:r>
            <a:r>
              <a:rPr lang="en-US" sz="2400" dirty="0" err="1">
                <a:latin typeface="Arial"/>
                <a:ea typeface="+mn-lt"/>
                <a:cs typeface="Arial"/>
              </a:rPr>
              <a:t>шума</a:t>
            </a:r>
            <a:r>
              <a:rPr lang="en-US" sz="2400" dirty="0">
                <a:latin typeface="Arial"/>
                <a:ea typeface="+mn-lt"/>
                <a:cs typeface="Arial"/>
              </a:rPr>
              <a:t>, </a:t>
            </a:r>
            <a:r>
              <a:rPr lang="en-US" sz="2400" dirty="0" err="1">
                <a:latin typeface="Arial"/>
                <a:ea typeface="+mn-lt"/>
                <a:cs typeface="Arial"/>
              </a:rPr>
              <a:t>артефаката</a:t>
            </a:r>
            <a:r>
              <a:rPr lang="en-US" sz="2400" dirty="0">
                <a:latin typeface="Arial"/>
                <a:ea typeface="+mn-lt"/>
                <a:cs typeface="Arial"/>
              </a:rPr>
              <a:t> и </a:t>
            </a:r>
            <a:r>
              <a:rPr lang="en-US" sz="2400" dirty="0" err="1">
                <a:latin typeface="Arial"/>
                <a:ea typeface="+mn-lt"/>
                <a:cs typeface="Arial"/>
              </a:rPr>
              <a:t>прекида</a:t>
            </a:r>
            <a:r>
              <a:rPr lang="en-US" sz="2400" dirty="0">
                <a:latin typeface="Arial"/>
                <a:ea typeface="+mn-lt"/>
                <a:cs typeface="Arial"/>
              </a:rPr>
              <a:t>. </a:t>
            </a:r>
          </a:p>
          <a:p>
            <a:r>
              <a:rPr lang="en-US" sz="2400" dirty="0">
                <a:solidFill>
                  <a:schemeClr val="accent1">
                    <a:lumMod val="76000"/>
                  </a:schemeClr>
                </a:solidFill>
                <a:latin typeface="Arial"/>
                <a:ea typeface="+mn-lt"/>
                <a:cs typeface="Arial"/>
              </a:rPr>
              <a:t>Латенција </a:t>
            </a:r>
          </a:p>
          <a:p>
            <a:pPr marL="285750" indent="-285750">
              <a:buFont typeface="Calibri"/>
              <a:buChar char="-"/>
            </a:pPr>
            <a:r>
              <a:rPr lang="en-US" sz="2400" dirty="0" err="1">
                <a:latin typeface="Arial"/>
                <a:ea typeface="+mn-lt"/>
                <a:cs typeface="Arial"/>
              </a:rPr>
              <a:t>Довољна</a:t>
            </a:r>
            <a:r>
              <a:rPr lang="en-US" sz="2400" dirty="0">
                <a:latin typeface="Arial"/>
                <a:ea typeface="+mn-lt"/>
                <a:cs typeface="Arial"/>
              </a:rPr>
              <a:t> </a:t>
            </a:r>
            <a:r>
              <a:rPr lang="en-US" sz="2400" dirty="0" err="1">
                <a:latin typeface="Arial"/>
                <a:ea typeface="+mn-lt"/>
                <a:cs typeface="Arial"/>
              </a:rPr>
              <a:t>брзина</a:t>
            </a:r>
            <a:r>
              <a:rPr lang="en-US" sz="2400" dirty="0">
                <a:latin typeface="Arial"/>
                <a:ea typeface="+mn-lt"/>
                <a:cs typeface="Arial"/>
              </a:rPr>
              <a:t> </a:t>
            </a:r>
            <a:r>
              <a:rPr lang="en-US" sz="2400" dirty="0" err="1">
                <a:latin typeface="Arial"/>
                <a:ea typeface="+mn-lt"/>
                <a:cs typeface="Arial"/>
              </a:rPr>
              <a:t>за</a:t>
            </a:r>
            <a:r>
              <a:rPr lang="en-US" sz="2400" dirty="0">
                <a:latin typeface="Arial"/>
                <a:ea typeface="+mn-lt"/>
                <a:cs typeface="Arial"/>
              </a:rPr>
              <a:t> </a:t>
            </a:r>
            <a:r>
              <a:rPr lang="en-US" sz="2400" dirty="0" err="1">
                <a:latin typeface="Arial"/>
                <a:ea typeface="+mn-lt"/>
                <a:cs typeface="Arial"/>
              </a:rPr>
              <a:t>интеракцију</a:t>
            </a:r>
            <a:r>
              <a:rPr lang="en-US" sz="2400" dirty="0">
                <a:latin typeface="Arial"/>
                <a:ea typeface="+mn-lt"/>
                <a:cs typeface="Arial"/>
              </a:rPr>
              <a:t>.</a:t>
            </a:r>
            <a:endParaRPr lang="en-US" sz="2400">
              <a:latin typeface="Arial"/>
              <a:ea typeface="Calibri"/>
              <a:cs typeface="Arial"/>
            </a:endParaRPr>
          </a:p>
        </p:txBody>
      </p:sp>
    </p:spTree>
    <p:extLst>
      <p:ext uri="{BB962C8B-B14F-4D97-AF65-F5344CB8AC3E}">
        <p14:creationId xmlns:p14="http://schemas.microsoft.com/office/powerpoint/2010/main" val="215543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3534-1F3C-C2E6-BFD3-61DCA3E0248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62E1465-9E86-FF87-B311-745B5A58F9D6}"/>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667F4DF-2BF2-240B-36FE-423CDE20A5B4}"/>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96945AB-BC76-CE4C-062E-420707BBB42A}"/>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26E256A-CAA4-D4DA-DFA2-1F17E0D8C8F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74F0CD-C0DB-5689-077A-2C98AB71C543}"/>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BCA2EC-5BFE-CAF0-0D0D-77B7E4787500}"/>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E44DC874-0E80-CFBA-D6C3-29B0BCCA9178}"/>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60F61E-5593-35A4-931A-3C3416BEF594}"/>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Како се TTS развијао?</a:t>
            </a:r>
            <a:endParaRPr lang="en-US" b="1">
              <a:solidFill>
                <a:schemeClr val="bg1"/>
              </a:solidFill>
            </a:endParaRPr>
          </a:p>
        </p:txBody>
      </p:sp>
      <p:sp>
        <p:nvSpPr>
          <p:cNvPr id="2" name="TextBox 1">
            <a:extLst>
              <a:ext uri="{FF2B5EF4-FFF2-40B4-BE49-F238E27FC236}">
                <a16:creationId xmlns:a16="http://schemas.microsoft.com/office/drawing/2014/main" id="{E5541712-BEB1-267D-B94D-903B7474DDC4}"/>
              </a:ext>
            </a:extLst>
          </p:cNvPr>
          <p:cNvSpPr txBox="1"/>
          <p:nvPr/>
        </p:nvSpPr>
        <p:spPr>
          <a:xfrm>
            <a:off x="622007" y="2504783"/>
            <a:ext cx="7234381"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solidFill>
                  <a:schemeClr val="accent1">
                    <a:lumMod val="76000"/>
                  </a:schemeClr>
                </a:solidFill>
                <a:latin typeface="Arial"/>
                <a:ea typeface="+mn-lt"/>
                <a:cs typeface="Arial"/>
              </a:rPr>
              <a:t>Конкатенативни</a:t>
            </a:r>
            <a:r>
              <a:rPr lang="en-US" sz="2400" dirty="0">
                <a:solidFill>
                  <a:schemeClr val="accent1">
                    <a:lumMod val="76000"/>
                  </a:schemeClr>
                </a:solidFill>
                <a:latin typeface="Arial"/>
                <a:ea typeface="+mn-lt"/>
                <a:cs typeface="Arial"/>
              </a:rPr>
              <a:t> </a:t>
            </a:r>
            <a:endParaRPr lang="en-US" sz="2400">
              <a:solidFill>
                <a:schemeClr val="accent1">
                  <a:lumMod val="76000"/>
                </a:schemeClr>
              </a:solidFill>
              <a:latin typeface="Arial"/>
              <a:ea typeface="+mn-lt"/>
              <a:cs typeface="Arial"/>
            </a:endParaRPr>
          </a:p>
          <a:p>
            <a:pPr marL="342900" indent="-342900">
              <a:buFont typeface="Calibri"/>
              <a:buChar char="-"/>
            </a:pPr>
            <a:r>
              <a:rPr lang="en-US" sz="2400" dirty="0">
                <a:latin typeface="Arial"/>
                <a:ea typeface="+mn-lt"/>
                <a:cs typeface="Arial"/>
              </a:rPr>
              <a:t>Спој </a:t>
            </a:r>
            <a:r>
              <a:rPr lang="en-US" sz="2400" dirty="0" err="1">
                <a:latin typeface="Arial"/>
                <a:ea typeface="+mn-lt"/>
                <a:cs typeface="Arial"/>
              </a:rPr>
              <a:t>снимљених</a:t>
            </a:r>
            <a:r>
              <a:rPr lang="en-US" sz="2400" dirty="0">
                <a:latin typeface="Arial"/>
                <a:ea typeface="+mn-lt"/>
                <a:cs typeface="Arial"/>
              </a:rPr>
              <a:t> </a:t>
            </a:r>
            <a:r>
              <a:rPr lang="en-US" sz="2400" dirty="0" err="1">
                <a:latin typeface="Arial"/>
                <a:ea typeface="+mn-lt"/>
                <a:cs typeface="Arial"/>
              </a:rPr>
              <a:t>јединица</a:t>
            </a:r>
            <a:r>
              <a:rPr lang="en-US" sz="2400" dirty="0">
                <a:latin typeface="Arial"/>
                <a:ea typeface="+mn-lt"/>
                <a:cs typeface="Arial"/>
              </a:rPr>
              <a:t>. </a:t>
            </a:r>
            <a:endParaRPr lang="en-US" sz="2400">
              <a:latin typeface="Arial"/>
              <a:ea typeface="+mn-lt"/>
              <a:cs typeface="Arial"/>
            </a:endParaRPr>
          </a:p>
          <a:p>
            <a:r>
              <a:rPr lang="en-US" sz="2400" err="1">
                <a:solidFill>
                  <a:schemeClr val="accent1">
                    <a:lumMod val="76000"/>
                  </a:schemeClr>
                </a:solidFill>
                <a:latin typeface="Arial"/>
                <a:ea typeface="+mn-lt"/>
                <a:cs typeface="Arial"/>
              </a:rPr>
              <a:t>Статистички</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a:latin typeface="Arial"/>
                <a:ea typeface="+mn-lt"/>
                <a:cs typeface="Arial"/>
              </a:rPr>
              <a:t>Предвиђа </a:t>
            </a:r>
            <a:r>
              <a:rPr lang="en-US" sz="2400" dirty="0" err="1">
                <a:latin typeface="Arial"/>
                <a:ea typeface="+mn-lt"/>
                <a:cs typeface="Arial"/>
              </a:rPr>
              <a:t>акустичке</a:t>
            </a:r>
            <a:r>
              <a:rPr lang="en-US" sz="2400" dirty="0">
                <a:latin typeface="Arial"/>
                <a:ea typeface="+mn-lt"/>
                <a:cs typeface="Arial"/>
              </a:rPr>
              <a:t> </a:t>
            </a:r>
            <a:r>
              <a:rPr lang="en-US" sz="2400" dirty="0" err="1">
                <a:latin typeface="Arial"/>
                <a:ea typeface="+mn-lt"/>
                <a:cs typeface="Arial"/>
              </a:rPr>
              <a:t>параметре</a:t>
            </a:r>
            <a:r>
              <a:rPr lang="en-US" sz="2400" dirty="0">
                <a:latin typeface="Arial"/>
                <a:ea typeface="+mn-lt"/>
                <a:cs typeface="Arial"/>
              </a:rPr>
              <a:t>. </a:t>
            </a:r>
            <a:endParaRPr lang="en-US" sz="2400">
              <a:latin typeface="Arial"/>
              <a:ea typeface="+mn-lt"/>
              <a:cs typeface="Arial"/>
            </a:endParaRPr>
          </a:p>
          <a:p>
            <a:r>
              <a:rPr lang="en-US" sz="2400" dirty="0">
                <a:solidFill>
                  <a:schemeClr val="accent1">
                    <a:lumMod val="76000"/>
                  </a:schemeClr>
                </a:solidFill>
                <a:latin typeface="Arial"/>
                <a:ea typeface="+mn-lt"/>
                <a:cs typeface="Arial"/>
              </a:rPr>
              <a:t>Неуронски </a:t>
            </a:r>
          </a:p>
          <a:p>
            <a:pPr marL="342900" indent="-342900">
              <a:buFont typeface="Calibri"/>
              <a:buChar char="-"/>
            </a:pPr>
            <a:r>
              <a:rPr lang="en-US" sz="2400" dirty="0">
                <a:latin typeface="Arial"/>
                <a:ea typeface="+mn-lt"/>
                <a:cs typeface="Arial"/>
              </a:rPr>
              <a:t>Учи </a:t>
            </a:r>
            <a:r>
              <a:rPr lang="en-US" sz="2400" dirty="0" err="1">
                <a:latin typeface="Arial"/>
                <a:ea typeface="+mn-lt"/>
                <a:cs typeface="Arial"/>
              </a:rPr>
              <a:t>везу</a:t>
            </a:r>
            <a:r>
              <a:rPr lang="en-US" sz="2400" dirty="0">
                <a:latin typeface="Arial"/>
                <a:ea typeface="+mn-lt"/>
                <a:cs typeface="Arial"/>
              </a:rPr>
              <a:t> </a:t>
            </a:r>
            <a:r>
              <a:rPr lang="en-US" sz="2400" dirty="0" err="1">
                <a:latin typeface="Arial"/>
                <a:ea typeface="+mn-lt"/>
                <a:cs typeface="Arial"/>
              </a:rPr>
              <a:t>текста</a:t>
            </a:r>
            <a:r>
              <a:rPr lang="en-US" sz="2400" dirty="0">
                <a:latin typeface="Arial"/>
                <a:ea typeface="+mn-lt"/>
                <a:cs typeface="Arial"/>
              </a:rPr>
              <a:t> и </a:t>
            </a:r>
            <a:r>
              <a:rPr lang="en-US" sz="2400" dirty="0" err="1">
                <a:latin typeface="Arial"/>
                <a:ea typeface="+mn-lt"/>
                <a:cs typeface="Arial"/>
              </a:rPr>
              <a:t>акустике</a:t>
            </a:r>
            <a:r>
              <a:rPr lang="en-US" sz="2400" dirty="0">
                <a:latin typeface="Arial"/>
                <a:ea typeface="+mn-lt"/>
                <a:cs typeface="Arial"/>
              </a:rPr>
              <a:t>. </a:t>
            </a:r>
            <a:endParaRPr lang="en-US" sz="2400">
              <a:latin typeface="Arial"/>
              <a:ea typeface="+mn-lt"/>
              <a:cs typeface="Arial"/>
            </a:endParaRPr>
          </a:p>
          <a:p>
            <a:r>
              <a:rPr lang="en-US" sz="2400" dirty="0">
                <a:solidFill>
                  <a:schemeClr val="accent1">
                    <a:lumMod val="76000"/>
                  </a:schemeClr>
                </a:solidFill>
                <a:latin typeface="Arial"/>
                <a:ea typeface="+mn-lt"/>
                <a:cs typeface="Arial"/>
              </a:rPr>
              <a:t>Генеративни </a:t>
            </a:r>
          </a:p>
          <a:p>
            <a:pPr marL="342900" indent="-342900">
              <a:buFont typeface="Calibri"/>
              <a:buChar char="-"/>
            </a:pPr>
            <a:r>
              <a:rPr lang="en-US" sz="2400" dirty="0">
                <a:latin typeface="Arial"/>
                <a:ea typeface="+mn-lt"/>
                <a:cs typeface="Arial"/>
              </a:rPr>
              <a:t>Флексибилнији </a:t>
            </a:r>
            <a:r>
              <a:rPr lang="en-US" sz="2400" dirty="0" err="1">
                <a:latin typeface="Arial"/>
                <a:ea typeface="+mn-lt"/>
                <a:cs typeface="Arial"/>
              </a:rPr>
              <a:t>стил</a:t>
            </a:r>
            <a:r>
              <a:rPr lang="en-US" sz="2400" dirty="0">
                <a:latin typeface="Arial"/>
                <a:ea typeface="+mn-lt"/>
                <a:cs typeface="Arial"/>
              </a:rPr>
              <a:t> и </a:t>
            </a:r>
            <a:r>
              <a:rPr lang="en-US" sz="2400" dirty="0" err="1">
                <a:latin typeface="Arial"/>
                <a:ea typeface="+mn-lt"/>
                <a:cs typeface="Arial"/>
              </a:rPr>
              <a:t>глас</a:t>
            </a:r>
            <a:r>
              <a:rPr lang="en-US" sz="2400" dirty="0">
                <a:latin typeface="Arial"/>
                <a:ea typeface="+mn-lt"/>
                <a:cs typeface="Arial"/>
              </a:rPr>
              <a:t>.</a:t>
            </a:r>
            <a:endParaRPr lang="en-US" sz="2400">
              <a:latin typeface="Arial"/>
              <a:cs typeface="Arial"/>
            </a:endParaRPr>
          </a:p>
        </p:txBody>
      </p:sp>
      <p:pic>
        <p:nvPicPr>
          <p:cNvPr id="4" name="Picture 3" descr="A close-up of a sign&#10;&#10;AI-generated content may be incorrect.">
            <a:extLst>
              <a:ext uri="{FF2B5EF4-FFF2-40B4-BE49-F238E27FC236}">
                <a16:creationId xmlns:a16="http://schemas.microsoft.com/office/drawing/2014/main" id="{B4FEC88B-45BA-F075-2E6B-076168C60784}"/>
              </a:ext>
            </a:extLst>
          </p:cNvPr>
          <p:cNvPicPr>
            <a:picLocks noChangeAspect="1"/>
          </p:cNvPicPr>
          <p:nvPr/>
        </p:nvPicPr>
        <p:blipFill>
          <a:blip r:embed="rId3"/>
          <a:stretch>
            <a:fillRect/>
          </a:stretch>
        </p:blipFill>
        <p:spPr>
          <a:xfrm>
            <a:off x="438727" y="1636662"/>
            <a:ext cx="8266546" cy="577085"/>
          </a:xfrm>
          <a:prstGeom prst="rect">
            <a:avLst/>
          </a:prstGeom>
        </p:spPr>
      </p:pic>
    </p:spTree>
    <p:extLst>
      <p:ext uri="{BB962C8B-B14F-4D97-AF65-F5344CB8AC3E}">
        <p14:creationId xmlns:p14="http://schemas.microsoft.com/office/powerpoint/2010/main" val="1496395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AE226-DB52-54D7-B226-A524BABFBBC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2696FA8-8554-0421-0DEE-6BCE753F54B4}"/>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B960FA-DAEE-AA67-249E-55072FCCDB45}"/>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76EE97-5754-BCF2-EA3D-9D7008D74843}"/>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9FC98A8-D8EE-4062-40EC-7DAB6F97A509}"/>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4A00AE-B6E1-C274-65AF-9586E239CA1D}"/>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55B1269-9D70-DB52-D452-ECDC9B2CF2D9}"/>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41157FF7-EE94-441C-2685-40058088DC7F}"/>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E7170F-BD5D-00CC-3AF8-96B194D98B2D}"/>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Ток неуронског TTS-а</a:t>
            </a:r>
            <a:endParaRPr lang="en-US" b="1">
              <a:solidFill>
                <a:schemeClr val="bg1"/>
              </a:solidFill>
            </a:endParaRPr>
          </a:p>
        </p:txBody>
      </p:sp>
      <p:sp>
        <p:nvSpPr>
          <p:cNvPr id="2" name="TextBox 1">
            <a:extLst>
              <a:ext uri="{FF2B5EF4-FFF2-40B4-BE49-F238E27FC236}">
                <a16:creationId xmlns:a16="http://schemas.microsoft.com/office/drawing/2014/main" id="{A73FBEB2-B7E5-BFBA-2859-73770CA8E33A}"/>
              </a:ext>
            </a:extLst>
          </p:cNvPr>
          <p:cNvSpPr txBox="1"/>
          <p:nvPr/>
        </p:nvSpPr>
        <p:spPr>
          <a:xfrm>
            <a:off x="662416" y="2510556"/>
            <a:ext cx="6593609" cy="37625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err="1">
                <a:solidFill>
                  <a:schemeClr val="accent1">
                    <a:lumMod val="76000"/>
                  </a:schemeClr>
                </a:solidFill>
                <a:latin typeface="Arial"/>
                <a:ea typeface="+mn-lt"/>
                <a:cs typeface="Arial"/>
              </a:rPr>
              <a:t>Нормализација</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a:latin typeface="Arial"/>
                <a:ea typeface="+mn-lt"/>
                <a:cs typeface="Arial"/>
              </a:rPr>
              <a:t>Припрема </a:t>
            </a:r>
            <a:r>
              <a:rPr lang="en-US" sz="2400" dirty="0" err="1">
                <a:latin typeface="Arial"/>
                <a:ea typeface="+mn-lt"/>
                <a:cs typeface="Arial"/>
              </a:rPr>
              <a:t>текста</a:t>
            </a:r>
            <a:r>
              <a:rPr lang="en-US" sz="2400" dirty="0">
                <a:latin typeface="Arial"/>
                <a:ea typeface="+mn-lt"/>
                <a:cs typeface="Arial"/>
              </a:rPr>
              <a:t> </a:t>
            </a:r>
            <a:r>
              <a:rPr lang="en-US" sz="2400" dirty="0" err="1">
                <a:latin typeface="Arial"/>
                <a:ea typeface="+mn-lt"/>
                <a:cs typeface="Arial"/>
              </a:rPr>
              <a:t>за</a:t>
            </a:r>
            <a:r>
              <a:rPr lang="en-US" sz="2400" dirty="0">
                <a:latin typeface="Arial"/>
                <a:ea typeface="+mn-lt"/>
                <a:cs typeface="Arial"/>
              </a:rPr>
              <a:t> </a:t>
            </a:r>
            <a:r>
              <a:rPr lang="en-US" sz="2400" dirty="0" err="1">
                <a:latin typeface="Arial"/>
                <a:ea typeface="+mn-lt"/>
                <a:cs typeface="Arial"/>
              </a:rPr>
              <a:t>изговор</a:t>
            </a:r>
            <a:r>
              <a:rPr lang="en-US" sz="2400" dirty="0">
                <a:latin typeface="Arial"/>
                <a:ea typeface="+mn-lt"/>
                <a:cs typeface="Arial"/>
              </a:rPr>
              <a:t>. </a:t>
            </a:r>
          </a:p>
          <a:p>
            <a:r>
              <a:rPr lang="en-US" sz="2400" dirty="0" err="1">
                <a:solidFill>
                  <a:schemeClr val="accent1">
                    <a:lumMod val="76000"/>
                  </a:schemeClr>
                </a:solidFill>
                <a:latin typeface="Arial"/>
                <a:ea typeface="+mn-lt"/>
                <a:cs typeface="Arial"/>
              </a:rPr>
              <a:t>Токенизација</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a:latin typeface="Arial"/>
                <a:ea typeface="+mn-lt"/>
                <a:cs typeface="Arial"/>
              </a:rPr>
              <a:t>Претвара </a:t>
            </a:r>
            <a:r>
              <a:rPr lang="en-US" sz="2400" dirty="0" err="1">
                <a:latin typeface="Arial"/>
                <a:ea typeface="+mn-lt"/>
                <a:cs typeface="Arial"/>
              </a:rPr>
              <a:t>текст</a:t>
            </a:r>
            <a:r>
              <a:rPr lang="en-US" sz="2400" dirty="0">
                <a:latin typeface="Arial"/>
                <a:ea typeface="+mn-lt"/>
                <a:cs typeface="Arial"/>
              </a:rPr>
              <a:t> у </a:t>
            </a:r>
            <a:r>
              <a:rPr lang="en-US" sz="2400" dirty="0" err="1">
                <a:latin typeface="Arial"/>
                <a:ea typeface="+mn-lt"/>
                <a:cs typeface="Arial"/>
              </a:rPr>
              <a:t>токене</a:t>
            </a:r>
            <a:r>
              <a:rPr lang="en-US" sz="2400" dirty="0">
                <a:latin typeface="Arial"/>
                <a:ea typeface="+mn-lt"/>
                <a:cs typeface="Arial"/>
              </a:rPr>
              <a:t>. </a:t>
            </a:r>
          </a:p>
          <a:p>
            <a:r>
              <a:rPr lang="en-US" sz="2400" err="1">
                <a:solidFill>
                  <a:schemeClr val="accent1">
                    <a:lumMod val="76000"/>
                  </a:schemeClr>
                </a:solidFill>
                <a:latin typeface="Arial"/>
                <a:ea typeface="+mn-lt"/>
                <a:cs typeface="Arial"/>
              </a:rPr>
              <a:t>Текстуални</a:t>
            </a:r>
            <a:r>
              <a:rPr lang="en-US" sz="2400" dirty="0">
                <a:solidFill>
                  <a:schemeClr val="accent1">
                    <a:lumMod val="76000"/>
                  </a:schemeClr>
                </a:solidFill>
                <a:latin typeface="Arial"/>
                <a:ea typeface="+mn-lt"/>
                <a:cs typeface="Arial"/>
              </a:rPr>
              <a:t> </a:t>
            </a:r>
            <a:r>
              <a:rPr lang="en-US" sz="2400" err="1">
                <a:solidFill>
                  <a:schemeClr val="accent1">
                    <a:lumMod val="76000"/>
                  </a:schemeClr>
                </a:solidFill>
                <a:latin typeface="Arial"/>
                <a:ea typeface="+mn-lt"/>
                <a:cs typeface="Arial"/>
              </a:rPr>
              <a:t>модел</a:t>
            </a:r>
            <a:r>
              <a:rPr lang="en-US" sz="2400" dirty="0">
                <a:latin typeface="Arial"/>
                <a:ea typeface="+mn-lt"/>
                <a:cs typeface="Arial"/>
              </a:rPr>
              <a:t> </a:t>
            </a:r>
          </a:p>
          <a:p>
            <a:pPr marL="342900" indent="-342900">
              <a:buFont typeface="Calibri"/>
              <a:buChar char="-"/>
            </a:pPr>
            <a:r>
              <a:rPr lang="en-US" sz="2400" dirty="0">
                <a:latin typeface="Arial"/>
                <a:ea typeface="+mn-lt"/>
                <a:cs typeface="Arial"/>
              </a:rPr>
              <a:t>Учи </a:t>
            </a:r>
            <a:r>
              <a:rPr lang="en-US" sz="2400" dirty="0" err="1">
                <a:latin typeface="Arial"/>
                <a:ea typeface="+mn-lt"/>
                <a:cs typeface="Arial"/>
              </a:rPr>
              <a:t>језички</a:t>
            </a:r>
            <a:r>
              <a:rPr lang="en-US" sz="2400" dirty="0">
                <a:latin typeface="Arial"/>
                <a:ea typeface="+mn-lt"/>
                <a:cs typeface="Arial"/>
              </a:rPr>
              <a:t> и </a:t>
            </a:r>
            <a:r>
              <a:rPr lang="en-US" sz="2400" dirty="0" err="1">
                <a:latin typeface="Arial"/>
                <a:ea typeface="+mn-lt"/>
                <a:cs typeface="Arial"/>
              </a:rPr>
              <a:t>говорни</a:t>
            </a:r>
            <a:r>
              <a:rPr lang="en-US" sz="2400" dirty="0">
                <a:latin typeface="Arial"/>
                <a:ea typeface="+mn-lt"/>
                <a:cs typeface="Arial"/>
              </a:rPr>
              <a:t> </a:t>
            </a:r>
            <a:r>
              <a:rPr lang="en-US" sz="2400" dirty="0" err="1">
                <a:latin typeface="Arial"/>
                <a:ea typeface="+mn-lt"/>
                <a:cs typeface="Arial"/>
              </a:rPr>
              <a:t>контекст</a:t>
            </a:r>
            <a:r>
              <a:rPr lang="en-US" sz="2400" dirty="0">
                <a:latin typeface="Arial"/>
                <a:ea typeface="+mn-lt"/>
                <a:cs typeface="Arial"/>
              </a:rPr>
              <a:t>. </a:t>
            </a:r>
          </a:p>
          <a:p>
            <a:r>
              <a:rPr lang="en-US" sz="2400" dirty="0">
                <a:solidFill>
                  <a:schemeClr val="accent1">
                    <a:lumMod val="76000"/>
                  </a:schemeClr>
                </a:solidFill>
                <a:latin typeface="Arial"/>
                <a:ea typeface="+mn-lt"/>
                <a:cs typeface="Arial"/>
              </a:rPr>
              <a:t>Аудио </a:t>
            </a:r>
            <a:r>
              <a:rPr lang="en-US" sz="2400" dirty="0" err="1">
                <a:solidFill>
                  <a:schemeClr val="accent1">
                    <a:lumMod val="76000"/>
                  </a:schemeClr>
                </a:solidFill>
                <a:latin typeface="Arial"/>
                <a:ea typeface="+mn-lt"/>
                <a:cs typeface="Arial"/>
              </a:rPr>
              <a:t>репрезентација</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a:latin typeface="Arial"/>
                <a:ea typeface="+mn-lt"/>
                <a:cs typeface="Arial"/>
              </a:rPr>
              <a:t>Формира </a:t>
            </a:r>
            <a:r>
              <a:rPr lang="en-US" sz="2400" dirty="0" err="1">
                <a:latin typeface="Arial"/>
                <a:ea typeface="+mn-lt"/>
                <a:cs typeface="Arial"/>
              </a:rPr>
              <a:t>акустичке</a:t>
            </a:r>
            <a:r>
              <a:rPr lang="en-US" sz="2400" dirty="0">
                <a:latin typeface="Arial"/>
                <a:ea typeface="+mn-lt"/>
                <a:cs typeface="Arial"/>
              </a:rPr>
              <a:t> </a:t>
            </a:r>
            <a:r>
              <a:rPr lang="en-US" sz="2400" dirty="0" err="1">
                <a:latin typeface="Arial"/>
                <a:ea typeface="+mn-lt"/>
                <a:cs typeface="Arial"/>
              </a:rPr>
              <a:t>карактеристике</a:t>
            </a:r>
            <a:r>
              <a:rPr lang="en-US" sz="2400" dirty="0">
                <a:latin typeface="Arial"/>
                <a:ea typeface="+mn-lt"/>
                <a:cs typeface="Arial"/>
              </a:rPr>
              <a:t>. </a:t>
            </a:r>
          </a:p>
          <a:p>
            <a:r>
              <a:rPr lang="en-US" sz="2400">
                <a:solidFill>
                  <a:schemeClr val="accent1">
                    <a:lumMod val="76000"/>
                  </a:schemeClr>
                </a:solidFill>
                <a:latin typeface="Arial"/>
                <a:ea typeface="+mn-lt"/>
                <a:cs typeface="Arial"/>
              </a:rPr>
              <a:t>Decoder </a:t>
            </a:r>
            <a:endParaRPr lang="en-US" sz="2400" dirty="0">
              <a:solidFill>
                <a:schemeClr val="accent1">
                  <a:lumMod val="76000"/>
                </a:schemeClr>
              </a:solidFill>
              <a:latin typeface="Arial"/>
              <a:ea typeface="+mn-lt"/>
              <a:cs typeface="Arial"/>
            </a:endParaRPr>
          </a:p>
          <a:p>
            <a:pPr marL="342900" indent="-342900">
              <a:buFont typeface="Calibri"/>
              <a:buChar char="-"/>
            </a:pPr>
            <a:r>
              <a:rPr lang="en-US" sz="2400" dirty="0">
                <a:latin typeface="Arial"/>
                <a:ea typeface="+mn-lt"/>
                <a:cs typeface="Arial"/>
              </a:rPr>
              <a:t>Генерише </a:t>
            </a:r>
            <a:r>
              <a:rPr lang="en-US" sz="2400" dirty="0" err="1">
                <a:latin typeface="Arial"/>
                <a:ea typeface="+mn-lt"/>
                <a:cs typeface="Arial"/>
              </a:rPr>
              <a:t>звучни</a:t>
            </a:r>
            <a:r>
              <a:rPr lang="en-US" sz="2400" dirty="0">
                <a:latin typeface="Arial"/>
                <a:ea typeface="+mn-lt"/>
                <a:cs typeface="Arial"/>
              </a:rPr>
              <a:t> </a:t>
            </a:r>
            <a:r>
              <a:rPr lang="en-US" sz="2400" dirty="0" err="1">
                <a:latin typeface="Arial"/>
                <a:ea typeface="+mn-lt"/>
                <a:cs typeface="Arial"/>
              </a:rPr>
              <a:t>сигнал</a:t>
            </a:r>
            <a:r>
              <a:rPr lang="en-US" sz="2400" dirty="0">
                <a:latin typeface="Arial"/>
                <a:ea typeface="+mn-lt"/>
                <a:cs typeface="Arial"/>
              </a:rPr>
              <a:t>.</a:t>
            </a:r>
            <a:endParaRPr lang="en-US" sz="2400">
              <a:latin typeface="Arial"/>
              <a:ea typeface="Calibri"/>
              <a:cs typeface="Arial"/>
            </a:endParaRPr>
          </a:p>
        </p:txBody>
      </p:sp>
      <p:pic>
        <p:nvPicPr>
          <p:cNvPr id="5" name="Picture 4" descr="A white rectangle with black text&#10;&#10;AI-generated content may be incorrect.">
            <a:extLst>
              <a:ext uri="{FF2B5EF4-FFF2-40B4-BE49-F238E27FC236}">
                <a16:creationId xmlns:a16="http://schemas.microsoft.com/office/drawing/2014/main" id="{D3115C34-72CD-B5DB-1628-862D929CFFA8}"/>
              </a:ext>
            </a:extLst>
          </p:cNvPr>
          <p:cNvPicPr>
            <a:picLocks noChangeAspect="1"/>
          </p:cNvPicPr>
          <p:nvPr/>
        </p:nvPicPr>
        <p:blipFill>
          <a:blip r:embed="rId3"/>
          <a:stretch>
            <a:fillRect/>
          </a:stretch>
        </p:blipFill>
        <p:spPr>
          <a:xfrm>
            <a:off x="473363" y="1644026"/>
            <a:ext cx="8335819" cy="568129"/>
          </a:xfrm>
          <a:prstGeom prst="rect">
            <a:avLst/>
          </a:prstGeom>
        </p:spPr>
      </p:pic>
    </p:spTree>
    <p:extLst>
      <p:ext uri="{BB962C8B-B14F-4D97-AF65-F5344CB8AC3E}">
        <p14:creationId xmlns:p14="http://schemas.microsoft.com/office/powerpoint/2010/main" val="4205481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6247C-8175-9C39-8E71-F4CF160C70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16C4EB8-5AB1-DD69-8D8E-B1D8D4ABCF62}"/>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33A8BC-7CAD-A866-81A7-1797555BA11B}"/>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4938EA-E794-6AAA-1569-E3E2CC9EE92F}"/>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7DF8AD6-E3F4-C4FD-1A40-6CA2928F6EB3}"/>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F264B89-FA37-EB5B-162E-39787BD5DBE3}"/>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54E2F9-FA4F-5F81-10B7-F7F34CB1CEA5}"/>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2145E82D-7C4A-4398-262D-6BBF24741738}"/>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C759FEA-5728-E364-7A44-76FEB8705855}"/>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ChatTTS модел</a:t>
            </a:r>
            <a:endParaRPr lang="en-US" b="1">
              <a:solidFill>
                <a:schemeClr val="bg1"/>
              </a:solidFill>
            </a:endParaRPr>
          </a:p>
        </p:txBody>
      </p:sp>
      <p:sp>
        <p:nvSpPr>
          <p:cNvPr id="2" name="TextBox 1">
            <a:extLst>
              <a:ext uri="{FF2B5EF4-FFF2-40B4-BE49-F238E27FC236}">
                <a16:creationId xmlns:a16="http://schemas.microsoft.com/office/drawing/2014/main" id="{A2BE0C96-15BE-179A-DA4A-B2BC4020E679}"/>
              </a:ext>
            </a:extLst>
          </p:cNvPr>
          <p:cNvSpPr txBox="1"/>
          <p:nvPr/>
        </p:nvSpPr>
        <p:spPr>
          <a:xfrm>
            <a:off x="714371" y="1586919"/>
            <a:ext cx="71882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Генерисање </a:t>
            </a:r>
            <a:r>
              <a:rPr lang="en-US" sz="2400" dirty="0" err="1">
                <a:latin typeface="Arial"/>
                <a:ea typeface="+mn-lt"/>
                <a:cs typeface="Arial"/>
              </a:rPr>
              <a:t>говора</a:t>
            </a:r>
            <a:r>
              <a:rPr lang="en-US" sz="2400" dirty="0">
                <a:latin typeface="Arial"/>
                <a:ea typeface="+mn-lt"/>
                <a:cs typeface="Arial"/>
              </a:rPr>
              <a:t> </a:t>
            </a:r>
            <a:r>
              <a:rPr lang="en-US" sz="2400" dirty="0" err="1">
                <a:latin typeface="Arial"/>
                <a:ea typeface="+mn-lt"/>
                <a:cs typeface="Arial"/>
              </a:rPr>
              <a:t>из</a:t>
            </a:r>
            <a:r>
              <a:rPr lang="en-US" sz="2400" dirty="0">
                <a:latin typeface="Arial"/>
                <a:ea typeface="+mn-lt"/>
                <a:cs typeface="Arial"/>
              </a:rPr>
              <a:t> </a:t>
            </a:r>
            <a:r>
              <a:rPr lang="en-US" sz="2400" dirty="0" err="1">
                <a:latin typeface="Arial"/>
                <a:ea typeface="+mn-lt"/>
                <a:cs typeface="Arial"/>
              </a:rPr>
              <a:t>текста</a:t>
            </a:r>
            <a:r>
              <a:rPr lang="en-US" sz="2400" dirty="0">
                <a:latin typeface="Arial"/>
                <a:ea typeface="+mn-lt"/>
                <a:cs typeface="Arial"/>
              </a:rPr>
              <a:t> </a:t>
            </a:r>
            <a:r>
              <a:rPr lang="en-US" sz="2400" dirty="0" err="1">
                <a:latin typeface="Arial"/>
                <a:ea typeface="+mn-lt"/>
                <a:cs typeface="Arial"/>
              </a:rPr>
              <a:t>уз</a:t>
            </a:r>
            <a:r>
              <a:rPr lang="en-US" sz="2400" dirty="0">
                <a:latin typeface="Arial"/>
                <a:ea typeface="+mn-lt"/>
                <a:cs typeface="Arial"/>
              </a:rPr>
              <a:t> </a:t>
            </a:r>
            <a:r>
              <a:rPr lang="en-US" sz="2400" b="1" dirty="0">
                <a:latin typeface="Arial"/>
                <a:ea typeface="+mn-lt"/>
                <a:cs typeface="Arial"/>
              </a:rPr>
              <a:t>speaker embedding</a:t>
            </a:r>
            <a:r>
              <a:rPr lang="en-US" sz="2400" dirty="0">
                <a:latin typeface="Arial"/>
                <a:ea typeface="+mn-lt"/>
                <a:cs typeface="Arial"/>
              </a:rPr>
              <a:t>, </a:t>
            </a:r>
            <a:r>
              <a:rPr lang="en-US" sz="2400" dirty="0" err="1">
                <a:latin typeface="Arial"/>
                <a:ea typeface="+mn-lt"/>
                <a:cs typeface="Arial"/>
              </a:rPr>
              <a:t>стохастичко</a:t>
            </a:r>
            <a:r>
              <a:rPr lang="en-US" sz="2400" dirty="0">
                <a:latin typeface="Arial"/>
                <a:ea typeface="+mn-lt"/>
                <a:cs typeface="Arial"/>
              </a:rPr>
              <a:t> </a:t>
            </a:r>
            <a:r>
              <a:rPr lang="en-US" sz="2400" dirty="0" err="1">
                <a:latin typeface="Arial"/>
                <a:ea typeface="+mn-lt"/>
                <a:cs typeface="Arial"/>
              </a:rPr>
              <a:t>узорковање</a:t>
            </a:r>
            <a:r>
              <a:rPr lang="en-US" sz="2400" dirty="0">
                <a:latin typeface="Arial"/>
                <a:ea typeface="+mn-lt"/>
                <a:cs typeface="Arial"/>
              </a:rPr>
              <a:t> и </a:t>
            </a:r>
            <a:r>
              <a:rPr lang="en-US" sz="2400" dirty="0" err="1">
                <a:latin typeface="Arial"/>
                <a:ea typeface="+mn-lt"/>
                <a:cs typeface="Arial"/>
              </a:rPr>
              <a:t>контролне</a:t>
            </a:r>
            <a:r>
              <a:rPr lang="en-US" sz="2400" dirty="0">
                <a:latin typeface="Arial"/>
                <a:ea typeface="+mn-lt"/>
                <a:cs typeface="Arial"/>
              </a:rPr>
              <a:t> </a:t>
            </a:r>
            <a:r>
              <a:rPr lang="en-US" sz="2400" dirty="0" err="1">
                <a:latin typeface="Arial"/>
                <a:ea typeface="+mn-lt"/>
                <a:cs typeface="Arial"/>
              </a:rPr>
              <a:t>ознаке</a:t>
            </a:r>
            <a:r>
              <a:rPr lang="en-US" sz="2400" dirty="0">
                <a:latin typeface="Arial"/>
                <a:ea typeface="+mn-lt"/>
                <a:cs typeface="Arial"/>
              </a:rPr>
              <a:t>.</a:t>
            </a:r>
          </a:p>
          <a:p>
            <a:endParaRPr lang="en-US" sz="2400" dirty="0">
              <a:latin typeface="Arial"/>
              <a:ea typeface="+mn-lt"/>
              <a:cs typeface="Arial"/>
            </a:endParaRPr>
          </a:p>
          <a:p>
            <a:r>
              <a:rPr lang="en-US" sz="2400" dirty="0">
                <a:latin typeface="Arial"/>
                <a:ea typeface="+mn-lt"/>
                <a:cs typeface="Arial"/>
              </a:rPr>
              <a:t>Контрола </a:t>
            </a:r>
            <a:r>
              <a:rPr lang="en-US" sz="2400" dirty="0" err="1">
                <a:latin typeface="Arial"/>
                <a:ea typeface="+mn-lt"/>
                <a:cs typeface="Arial"/>
              </a:rPr>
              <a:t>генерисања</a:t>
            </a:r>
          </a:p>
          <a:p>
            <a:endParaRPr lang="en-US" sz="2400" dirty="0">
              <a:latin typeface="Arial"/>
              <a:ea typeface="+mn-lt"/>
              <a:cs typeface="Arial"/>
            </a:endParaRPr>
          </a:p>
          <a:p>
            <a:r>
              <a:rPr lang="en-US" sz="2400" dirty="0">
                <a:latin typeface="Arial"/>
                <a:ea typeface="+mn-lt"/>
                <a:cs typeface="Arial"/>
              </a:rPr>
              <a:t>Параметри </a:t>
            </a:r>
            <a:r>
              <a:rPr lang="en-US" sz="2400" dirty="0" err="1">
                <a:latin typeface="Arial"/>
                <a:ea typeface="+mn-lt"/>
                <a:cs typeface="Arial"/>
              </a:rPr>
              <a:t>узорковања</a:t>
            </a:r>
            <a:r>
              <a:rPr lang="en-US" sz="2400" dirty="0">
                <a:latin typeface="Arial"/>
                <a:ea typeface="+mn-lt"/>
                <a:cs typeface="Arial"/>
              </a:rPr>
              <a:t>: </a:t>
            </a:r>
          </a:p>
          <a:p>
            <a:pPr marL="342900" indent="-342900">
              <a:buFont typeface="Calibri"/>
              <a:buChar char="-"/>
            </a:pPr>
            <a:r>
              <a:rPr lang="en-US" sz="2400" dirty="0">
                <a:solidFill>
                  <a:schemeClr val="accent1">
                    <a:lumMod val="76000"/>
                  </a:schemeClr>
                </a:solidFill>
                <a:latin typeface="Arial"/>
                <a:ea typeface="+mn-lt"/>
                <a:cs typeface="Arial"/>
              </a:rPr>
              <a:t>temperature, </a:t>
            </a:r>
            <a:r>
              <a:rPr lang="en-US" sz="2400" dirty="0" err="1">
                <a:solidFill>
                  <a:schemeClr val="accent1">
                    <a:lumMod val="76000"/>
                  </a:schemeClr>
                </a:solidFill>
                <a:latin typeface="Arial"/>
                <a:ea typeface="+mn-lt"/>
                <a:cs typeface="Arial"/>
              </a:rPr>
              <a:t>top_P</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top_K</a:t>
            </a:r>
            <a:r>
              <a:rPr lang="en-US" sz="2400" dirty="0">
                <a:solidFill>
                  <a:schemeClr val="accent1">
                    <a:lumMod val="76000"/>
                  </a:schemeClr>
                </a:solidFill>
                <a:latin typeface="Arial"/>
                <a:ea typeface="+mn-lt"/>
                <a:cs typeface="Arial"/>
              </a:rPr>
              <a:t> </a:t>
            </a:r>
          </a:p>
          <a:p>
            <a:r>
              <a:rPr lang="en-US" sz="2400" dirty="0">
                <a:latin typeface="Arial"/>
                <a:ea typeface="+mn-lt"/>
                <a:cs typeface="Arial"/>
              </a:rPr>
              <a:t>Стилски </a:t>
            </a:r>
            <a:r>
              <a:rPr lang="en-US" sz="2400" dirty="0" err="1">
                <a:latin typeface="Arial"/>
                <a:ea typeface="+mn-lt"/>
                <a:cs typeface="Arial"/>
              </a:rPr>
              <a:t>токени</a:t>
            </a:r>
            <a:r>
              <a:rPr lang="en-US" sz="2400" dirty="0">
                <a:latin typeface="Arial"/>
                <a:ea typeface="+mn-lt"/>
                <a:cs typeface="Arial"/>
              </a:rPr>
              <a:t>: </a:t>
            </a:r>
          </a:p>
          <a:p>
            <a:pPr marL="342900" indent="-342900">
              <a:buFont typeface="Calibri"/>
              <a:buChar char="-"/>
            </a:pPr>
            <a:r>
              <a:rPr lang="en-US" sz="2400">
                <a:solidFill>
                  <a:schemeClr val="accent1">
                    <a:lumMod val="76000"/>
                  </a:schemeClr>
                </a:solidFill>
                <a:latin typeface="Arial"/>
                <a:ea typeface="+mn-lt"/>
                <a:cs typeface="Arial"/>
              </a:rPr>
              <a:t>[oral], [laugh], [break] </a:t>
            </a:r>
            <a:endParaRPr lang="en-US" sz="2400" dirty="0">
              <a:solidFill>
                <a:schemeClr val="accent1">
                  <a:lumMod val="76000"/>
                </a:schemeClr>
              </a:solidFill>
              <a:latin typeface="Arial"/>
              <a:ea typeface="+mn-lt"/>
              <a:cs typeface="Arial"/>
            </a:endParaRPr>
          </a:p>
          <a:p>
            <a:r>
              <a:rPr lang="en-US" sz="2400" dirty="0" err="1">
                <a:latin typeface="Arial"/>
                <a:ea typeface="+mn-lt"/>
                <a:cs typeface="Arial"/>
              </a:rPr>
              <a:t>Глас</a:t>
            </a:r>
            <a:r>
              <a:rPr lang="en-US" sz="2400" dirty="0">
                <a:latin typeface="Arial"/>
                <a:ea typeface="+mn-lt"/>
                <a:cs typeface="Arial"/>
              </a:rPr>
              <a:t>: </a:t>
            </a:r>
          </a:p>
          <a:p>
            <a:pPr marL="342900" indent="-342900">
              <a:buFont typeface="Calibri"/>
              <a:buChar char="-"/>
            </a:pPr>
            <a:r>
              <a:rPr lang="en-US" sz="2400" dirty="0" err="1">
                <a:solidFill>
                  <a:schemeClr val="accent1">
                    <a:lumMod val="76000"/>
                  </a:schemeClr>
                </a:solidFill>
                <a:latin typeface="Arial"/>
                <a:ea typeface="+mn-lt"/>
                <a:cs typeface="Arial"/>
              </a:rPr>
              <a:t>случајни</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или</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сачувани</a:t>
            </a:r>
            <a:r>
              <a:rPr lang="en-US" sz="2400" dirty="0">
                <a:solidFill>
                  <a:schemeClr val="accent1">
                    <a:lumMod val="76000"/>
                  </a:schemeClr>
                </a:solidFill>
                <a:latin typeface="Arial"/>
                <a:ea typeface="+mn-lt"/>
                <a:cs typeface="Arial"/>
              </a:rPr>
              <a:t> speaker embedding</a:t>
            </a:r>
            <a:endParaRPr lang="en-US" sz="2400">
              <a:solidFill>
                <a:schemeClr val="accent1">
                  <a:lumMod val="76000"/>
                </a:schemeClr>
              </a:solidFill>
              <a:latin typeface="Arial"/>
              <a:ea typeface="Calibri"/>
              <a:cs typeface="Arial"/>
            </a:endParaRPr>
          </a:p>
        </p:txBody>
      </p:sp>
    </p:spTree>
    <p:extLst>
      <p:ext uri="{BB962C8B-B14F-4D97-AF65-F5344CB8AC3E}">
        <p14:creationId xmlns:p14="http://schemas.microsoft.com/office/powerpoint/2010/main" val="2746340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E129E-3D69-9E43-2F35-42611E57D33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E65C10D-3556-DFD2-1AB4-8F3CEC3321AD}"/>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ED402D1-4A3F-C364-77DB-1DA56B85AABC}"/>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576DE6E-E2DE-EE66-9DCE-4390CC9FF880}"/>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84602F0-A973-FBD5-3273-AA2FFCEA3F03}"/>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5AC5BC-BD3C-5323-5605-D9855B0C3ABD}"/>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F2B373-4CDF-3969-5120-4C8CA8C19FCE}"/>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824717C-E684-C176-1C4C-F9ED799473C8}"/>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2743CD7-69E0-184B-D37D-2A94DCF4CDC1}"/>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Концептуална архитектура</a:t>
            </a:r>
            <a:endParaRPr lang="en-US" b="1">
              <a:solidFill>
                <a:schemeClr val="bg1"/>
              </a:solidFill>
            </a:endParaRPr>
          </a:p>
        </p:txBody>
      </p:sp>
      <p:sp>
        <p:nvSpPr>
          <p:cNvPr id="2" name="TextBox 1">
            <a:extLst>
              <a:ext uri="{FF2B5EF4-FFF2-40B4-BE49-F238E27FC236}">
                <a16:creationId xmlns:a16="http://schemas.microsoft.com/office/drawing/2014/main" id="{783D97CE-661A-96FF-B5E0-5B791142C058}"/>
              </a:ext>
            </a:extLst>
          </p:cNvPr>
          <p:cNvSpPr txBox="1"/>
          <p:nvPr/>
        </p:nvSpPr>
        <p:spPr>
          <a:xfrm>
            <a:off x="622007" y="2504783"/>
            <a:ext cx="691110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1">
                    <a:lumMod val="76000"/>
                  </a:schemeClr>
                </a:solidFill>
                <a:latin typeface="Arial"/>
                <a:ea typeface="+mn-lt"/>
                <a:cs typeface="Arial"/>
              </a:rPr>
              <a:t>Текст </a:t>
            </a:r>
            <a:endParaRPr lang="en-US" sz="2400">
              <a:solidFill>
                <a:schemeClr val="accent1">
                  <a:lumMod val="76000"/>
                </a:schemeClr>
              </a:solidFill>
              <a:latin typeface="Arial"/>
              <a:ea typeface="+mn-lt"/>
              <a:cs typeface="Arial"/>
            </a:endParaRPr>
          </a:p>
          <a:p>
            <a:pPr marL="342900" indent="-342900">
              <a:buFont typeface="Calibri"/>
              <a:buChar char="-"/>
            </a:pPr>
            <a:r>
              <a:rPr lang="en-US" sz="2400" dirty="0">
                <a:latin typeface="Arial"/>
                <a:ea typeface="+mn-lt"/>
                <a:cs typeface="Arial"/>
              </a:rPr>
              <a:t>Улазна </a:t>
            </a:r>
            <a:r>
              <a:rPr lang="en-US" sz="2400" dirty="0" err="1">
                <a:latin typeface="Arial"/>
                <a:ea typeface="+mn-lt"/>
                <a:cs typeface="Arial"/>
              </a:rPr>
              <a:t>реченица</a:t>
            </a:r>
            <a:r>
              <a:rPr lang="en-US" sz="2400" dirty="0">
                <a:latin typeface="Arial"/>
                <a:ea typeface="+mn-lt"/>
                <a:cs typeface="Arial"/>
              </a:rPr>
              <a:t> </a:t>
            </a:r>
            <a:r>
              <a:rPr lang="en-US" sz="2400" dirty="0" err="1">
                <a:latin typeface="Arial"/>
                <a:ea typeface="+mn-lt"/>
                <a:cs typeface="Arial"/>
              </a:rPr>
              <a:t>или</a:t>
            </a:r>
            <a:r>
              <a:rPr lang="en-US" sz="2400" dirty="0">
                <a:latin typeface="Arial"/>
                <a:ea typeface="+mn-lt"/>
                <a:cs typeface="Arial"/>
              </a:rPr>
              <a:t> </a:t>
            </a:r>
            <a:r>
              <a:rPr lang="en-US" sz="2400" dirty="0" err="1">
                <a:latin typeface="Arial"/>
                <a:ea typeface="+mn-lt"/>
                <a:cs typeface="Arial"/>
              </a:rPr>
              <a:t>реплика</a:t>
            </a:r>
            <a:r>
              <a:rPr lang="en-US" sz="2400" dirty="0">
                <a:latin typeface="Arial"/>
                <a:ea typeface="+mn-lt"/>
                <a:cs typeface="Arial"/>
              </a:rPr>
              <a:t>. </a:t>
            </a:r>
          </a:p>
          <a:p>
            <a:r>
              <a:rPr lang="en-US" sz="2400" dirty="0">
                <a:solidFill>
                  <a:schemeClr val="accent1">
                    <a:lumMod val="76000"/>
                  </a:schemeClr>
                </a:solidFill>
                <a:latin typeface="Arial"/>
                <a:ea typeface="+mn-lt"/>
                <a:cs typeface="Arial"/>
              </a:rPr>
              <a:t>Text refinement </a:t>
            </a:r>
            <a:endParaRPr lang="en-US" dirty="0">
              <a:solidFill>
                <a:schemeClr val="accent1">
                  <a:lumMod val="76000"/>
                </a:schemeClr>
              </a:solidFill>
              <a:latin typeface="Calibri" panose="020F0502020204030204"/>
              <a:ea typeface="+mn-lt"/>
              <a:cs typeface="Calibri" panose="020F0502020204030204"/>
            </a:endParaRPr>
          </a:p>
          <a:p>
            <a:pPr marL="342900" indent="-342900">
              <a:buFont typeface="Calibri"/>
              <a:buChar char="-"/>
            </a:pPr>
            <a:r>
              <a:rPr lang="en-US" sz="2400" dirty="0">
                <a:latin typeface="Arial"/>
                <a:ea typeface="+mn-lt"/>
                <a:cs typeface="Arial"/>
              </a:rPr>
              <a:t>Припрема </a:t>
            </a:r>
            <a:r>
              <a:rPr lang="en-US" sz="2400" dirty="0" err="1">
                <a:latin typeface="Arial"/>
                <a:ea typeface="+mn-lt"/>
                <a:cs typeface="Arial"/>
              </a:rPr>
              <a:t>текст</a:t>
            </a:r>
            <a:r>
              <a:rPr lang="en-US" sz="2400" dirty="0">
                <a:latin typeface="Arial"/>
                <a:ea typeface="+mn-lt"/>
                <a:cs typeface="Arial"/>
              </a:rPr>
              <a:t> и </a:t>
            </a:r>
            <a:r>
              <a:rPr lang="en-US" sz="2400" dirty="0" err="1">
                <a:latin typeface="Arial"/>
                <a:ea typeface="+mn-lt"/>
                <a:cs typeface="Arial"/>
              </a:rPr>
              <a:t>контролне</a:t>
            </a:r>
            <a:r>
              <a:rPr lang="en-US" sz="2400" dirty="0">
                <a:latin typeface="Arial"/>
                <a:ea typeface="+mn-lt"/>
                <a:cs typeface="Arial"/>
              </a:rPr>
              <a:t> </a:t>
            </a:r>
            <a:r>
              <a:rPr lang="en-US" sz="2400" dirty="0" err="1">
                <a:latin typeface="Arial"/>
                <a:ea typeface="+mn-lt"/>
                <a:cs typeface="Arial"/>
              </a:rPr>
              <a:t>ознаке</a:t>
            </a:r>
            <a:r>
              <a:rPr lang="en-US" sz="2400" dirty="0">
                <a:latin typeface="Arial"/>
                <a:ea typeface="+mn-lt"/>
                <a:cs typeface="Arial"/>
              </a:rPr>
              <a:t>.</a:t>
            </a:r>
            <a:endParaRPr lang="en-US" dirty="0">
              <a:latin typeface="Calibri" panose="020F0502020204030204"/>
              <a:ea typeface="+mn-lt"/>
              <a:cs typeface="Calibri"/>
            </a:endParaRPr>
          </a:p>
          <a:p>
            <a:r>
              <a:rPr lang="en-US" sz="2400" dirty="0" err="1">
                <a:solidFill>
                  <a:schemeClr val="accent1">
                    <a:lumMod val="76000"/>
                  </a:schemeClr>
                </a:solidFill>
                <a:latin typeface="Arial"/>
                <a:ea typeface="+mn-lt"/>
                <a:cs typeface="Arial"/>
              </a:rPr>
              <a:t>Ауторегресивни</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модел</a:t>
            </a:r>
            <a:r>
              <a:rPr lang="en-US" sz="2400" dirty="0">
                <a:solidFill>
                  <a:schemeClr val="accent1">
                    <a:lumMod val="76000"/>
                  </a:schemeClr>
                </a:solidFill>
                <a:latin typeface="Arial"/>
                <a:ea typeface="+mn-lt"/>
                <a:cs typeface="Arial"/>
              </a:rPr>
              <a:t> </a:t>
            </a:r>
            <a:endParaRPr lang="en-US">
              <a:solidFill>
                <a:schemeClr val="accent1">
                  <a:lumMod val="76000"/>
                </a:schemeClr>
              </a:solidFill>
              <a:latin typeface="Calibri" panose="020F0502020204030204"/>
              <a:ea typeface="+mn-lt"/>
              <a:cs typeface="Calibri"/>
            </a:endParaRPr>
          </a:p>
          <a:p>
            <a:pPr marL="342900" indent="-342900">
              <a:buFont typeface="Calibri"/>
              <a:buChar char="-"/>
            </a:pPr>
            <a:r>
              <a:rPr lang="en-US" sz="2400" dirty="0">
                <a:latin typeface="Arial"/>
                <a:ea typeface="+mn-lt"/>
                <a:cs typeface="Arial"/>
              </a:rPr>
              <a:t>Генерише </a:t>
            </a:r>
            <a:r>
              <a:rPr lang="en-US" sz="2400" dirty="0" err="1">
                <a:latin typeface="Arial"/>
                <a:ea typeface="+mn-lt"/>
                <a:cs typeface="Arial"/>
              </a:rPr>
              <a:t>говорне</a:t>
            </a:r>
            <a:r>
              <a:rPr lang="en-US" sz="2400" dirty="0">
                <a:latin typeface="Arial"/>
                <a:ea typeface="+mn-lt"/>
                <a:cs typeface="Arial"/>
              </a:rPr>
              <a:t> </a:t>
            </a:r>
            <a:r>
              <a:rPr lang="en-US" sz="2400" dirty="0" err="1">
                <a:latin typeface="Arial"/>
                <a:ea typeface="+mn-lt"/>
                <a:cs typeface="Arial"/>
              </a:rPr>
              <a:t>кодове</a:t>
            </a:r>
            <a:r>
              <a:rPr lang="en-US" sz="2400" dirty="0">
                <a:latin typeface="Arial"/>
                <a:ea typeface="+mn-lt"/>
                <a:cs typeface="Arial"/>
              </a:rPr>
              <a:t> </a:t>
            </a:r>
            <a:r>
              <a:rPr lang="en-US" sz="2400" dirty="0" err="1">
                <a:latin typeface="Arial"/>
                <a:ea typeface="+mn-lt"/>
                <a:cs typeface="Arial"/>
              </a:rPr>
              <a:t>корак</a:t>
            </a:r>
            <a:r>
              <a:rPr lang="en-US" sz="2400" dirty="0">
                <a:latin typeface="Arial"/>
                <a:ea typeface="+mn-lt"/>
                <a:cs typeface="Arial"/>
              </a:rPr>
              <a:t> </a:t>
            </a:r>
            <a:r>
              <a:rPr lang="en-US" sz="2400" dirty="0" err="1">
                <a:latin typeface="Arial"/>
                <a:ea typeface="+mn-lt"/>
                <a:cs typeface="Arial"/>
              </a:rPr>
              <a:t>по</a:t>
            </a:r>
            <a:r>
              <a:rPr lang="en-US" sz="2400" dirty="0">
                <a:latin typeface="Arial"/>
                <a:ea typeface="+mn-lt"/>
                <a:cs typeface="Arial"/>
              </a:rPr>
              <a:t> </a:t>
            </a:r>
            <a:r>
              <a:rPr lang="en-US" sz="2400" dirty="0" err="1">
                <a:latin typeface="Arial"/>
                <a:ea typeface="+mn-lt"/>
                <a:cs typeface="Arial"/>
              </a:rPr>
              <a:t>корак</a:t>
            </a:r>
            <a:r>
              <a:rPr lang="en-US" sz="2400" dirty="0">
                <a:latin typeface="Arial"/>
                <a:ea typeface="+mn-lt"/>
                <a:cs typeface="Arial"/>
              </a:rPr>
              <a:t>.</a:t>
            </a:r>
            <a:endParaRPr lang="en-US" dirty="0">
              <a:latin typeface="Calibri" panose="020F0502020204030204"/>
              <a:ea typeface="+mn-lt"/>
              <a:cs typeface="Calibri"/>
            </a:endParaRPr>
          </a:p>
          <a:p>
            <a:r>
              <a:rPr lang="en-US" sz="2400" dirty="0" err="1">
                <a:solidFill>
                  <a:schemeClr val="accent1">
                    <a:lumMod val="76000"/>
                  </a:schemeClr>
                </a:solidFill>
                <a:latin typeface="Arial"/>
                <a:ea typeface="+mn-lt"/>
                <a:cs typeface="Arial"/>
              </a:rPr>
              <a:t>Дискретни</a:t>
            </a:r>
            <a:r>
              <a:rPr lang="en-US" sz="2400" dirty="0">
                <a:solidFill>
                  <a:schemeClr val="accent1">
                    <a:lumMod val="76000"/>
                  </a:schemeClr>
                </a:solidFill>
                <a:latin typeface="Arial"/>
                <a:ea typeface="+mn-lt"/>
                <a:cs typeface="Arial"/>
              </a:rPr>
              <a:t> </a:t>
            </a:r>
            <a:r>
              <a:rPr lang="en-US" sz="2400" dirty="0" err="1">
                <a:solidFill>
                  <a:schemeClr val="accent1">
                    <a:lumMod val="76000"/>
                  </a:schemeClr>
                </a:solidFill>
                <a:latin typeface="Arial"/>
                <a:ea typeface="+mn-lt"/>
                <a:cs typeface="Arial"/>
              </a:rPr>
              <a:t>кодови</a:t>
            </a:r>
            <a:endParaRPr lang="en-US" sz="2400" dirty="0">
              <a:solidFill>
                <a:schemeClr val="accent1">
                  <a:lumMod val="76000"/>
                </a:schemeClr>
              </a:solidFill>
              <a:latin typeface="Arial"/>
              <a:ea typeface="+mn-lt"/>
              <a:cs typeface="Arial"/>
            </a:endParaRPr>
          </a:p>
          <a:p>
            <a:pPr marL="342900" indent="-342900">
              <a:buFont typeface="Calibri"/>
              <a:buChar char="-"/>
            </a:pPr>
            <a:r>
              <a:rPr lang="en-US" sz="2400" dirty="0">
                <a:latin typeface="Arial"/>
                <a:ea typeface="+mn-lt"/>
                <a:cs typeface="Arial"/>
              </a:rPr>
              <a:t>Компактна </a:t>
            </a:r>
            <a:r>
              <a:rPr lang="en-US" sz="2400" dirty="0" err="1">
                <a:latin typeface="Arial"/>
                <a:ea typeface="+mn-lt"/>
                <a:cs typeface="Arial"/>
              </a:rPr>
              <a:t>аудио</a:t>
            </a:r>
            <a:r>
              <a:rPr lang="en-US" sz="2400" dirty="0">
                <a:latin typeface="Arial"/>
                <a:ea typeface="+mn-lt"/>
                <a:cs typeface="Arial"/>
              </a:rPr>
              <a:t> </a:t>
            </a:r>
            <a:r>
              <a:rPr lang="en-US" sz="2400" dirty="0" err="1">
                <a:latin typeface="Arial"/>
                <a:ea typeface="+mn-lt"/>
                <a:cs typeface="Arial"/>
              </a:rPr>
              <a:t>репрезентација</a:t>
            </a:r>
            <a:r>
              <a:rPr lang="en-US" sz="2400" dirty="0">
                <a:latin typeface="Arial"/>
                <a:ea typeface="+mn-lt"/>
                <a:cs typeface="Arial"/>
              </a:rPr>
              <a:t>. </a:t>
            </a:r>
            <a:endParaRPr lang="en-US">
              <a:latin typeface="Calibri" panose="020F0502020204030204"/>
              <a:ea typeface="+mn-lt"/>
              <a:cs typeface="Calibri"/>
            </a:endParaRPr>
          </a:p>
          <a:p>
            <a:r>
              <a:rPr lang="en-US" sz="2400">
                <a:solidFill>
                  <a:schemeClr val="accent1">
                    <a:lumMod val="76000"/>
                  </a:schemeClr>
                </a:solidFill>
                <a:latin typeface="Arial"/>
                <a:ea typeface="+mn-lt"/>
                <a:cs typeface="Arial"/>
              </a:rPr>
              <a:t>Audio </a:t>
            </a:r>
            <a:r>
              <a:rPr lang="en-US" sz="2400" dirty="0">
                <a:solidFill>
                  <a:schemeClr val="accent1">
                    <a:lumMod val="76000"/>
                  </a:schemeClr>
                </a:solidFill>
                <a:latin typeface="Arial"/>
                <a:ea typeface="+mn-lt"/>
                <a:cs typeface="Arial"/>
              </a:rPr>
              <a:t>decoder </a:t>
            </a:r>
            <a:endParaRPr lang="en-US">
              <a:solidFill>
                <a:schemeClr val="accent1">
                  <a:lumMod val="76000"/>
                </a:schemeClr>
              </a:solidFill>
              <a:latin typeface="Calibri" panose="020F0502020204030204"/>
              <a:ea typeface="+mn-lt"/>
              <a:cs typeface="Calibri"/>
            </a:endParaRPr>
          </a:p>
          <a:p>
            <a:pPr marL="342900" indent="-342900">
              <a:buFont typeface="Calibri"/>
              <a:buChar char="-"/>
            </a:pPr>
            <a:r>
              <a:rPr lang="en-US" sz="2400" dirty="0">
                <a:latin typeface="Arial"/>
                <a:ea typeface="+mn-lt"/>
                <a:cs typeface="Arial"/>
              </a:rPr>
              <a:t>Претвара </a:t>
            </a:r>
            <a:r>
              <a:rPr lang="en-US" sz="2400" dirty="0" err="1">
                <a:latin typeface="Arial"/>
                <a:ea typeface="+mn-lt"/>
                <a:cs typeface="Arial"/>
              </a:rPr>
              <a:t>кодове</a:t>
            </a:r>
            <a:r>
              <a:rPr lang="en-US" sz="2400" dirty="0">
                <a:latin typeface="Arial"/>
                <a:ea typeface="+mn-lt"/>
                <a:cs typeface="Arial"/>
              </a:rPr>
              <a:t> у waveform.</a:t>
            </a:r>
            <a:endParaRPr lang="en-US">
              <a:ea typeface="Calibri"/>
              <a:cs typeface="Calibri"/>
            </a:endParaRPr>
          </a:p>
        </p:txBody>
      </p:sp>
      <p:pic>
        <p:nvPicPr>
          <p:cNvPr id="4" name="Picture 3" descr="A white rectangle with black text&#10;&#10;AI-generated content may be incorrect.">
            <a:extLst>
              <a:ext uri="{FF2B5EF4-FFF2-40B4-BE49-F238E27FC236}">
                <a16:creationId xmlns:a16="http://schemas.microsoft.com/office/drawing/2014/main" id="{4BDB44FC-0884-A553-390F-D2484F7ECDB0}"/>
              </a:ext>
            </a:extLst>
          </p:cNvPr>
          <p:cNvPicPr>
            <a:picLocks noChangeAspect="1"/>
          </p:cNvPicPr>
          <p:nvPr/>
        </p:nvPicPr>
        <p:blipFill>
          <a:blip r:embed="rId3"/>
          <a:stretch>
            <a:fillRect/>
          </a:stretch>
        </p:blipFill>
        <p:spPr>
          <a:xfrm>
            <a:off x="484909" y="1656847"/>
            <a:ext cx="8070273" cy="548261"/>
          </a:xfrm>
          <a:prstGeom prst="rect">
            <a:avLst/>
          </a:prstGeom>
        </p:spPr>
      </p:pic>
    </p:spTree>
    <p:extLst>
      <p:ext uri="{BB962C8B-B14F-4D97-AF65-F5344CB8AC3E}">
        <p14:creationId xmlns:p14="http://schemas.microsoft.com/office/powerpoint/2010/main" val="2592858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FD29A-36EE-E6ED-2DC7-5A55AA0F0B0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2932397-C51E-1423-384B-7BEC1A328106}"/>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7F4A2AB-8C03-3CCD-2C00-E0F481139738}"/>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A962DF2-C95A-4BED-D952-47CE7DD1D403}"/>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D2E456D-E14D-F73A-926C-2E4D02BD556A}"/>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EEF2BEC-E4E2-CF86-54CF-3AC23BE3206A}"/>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3E25D1-B489-66B6-276F-DFD24DAB73FB}"/>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3D88318-9221-C16B-D56D-A4F8C057C364}"/>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5B1566E-F1F8-D925-30A6-906B5055C896}"/>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Обрада текста</a:t>
            </a:r>
            <a:endParaRPr lang="en-US" b="1">
              <a:solidFill>
                <a:schemeClr val="bg1"/>
              </a:solidFill>
            </a:endParaRPr>
          </a:p>
        </p:txBody>
      </p:sp>
      <p:sp>
        <p:nvSpPr>
          <p:cNvPr id="2" name="TextBox 1">
            <a:extLst>
              <a:ext uri="{FF2B5EF4-FFF2-40B4-BE49-F238E27FC236}">
                <a16:creationId xmlns:a16="http://schemas.microsoft.com/office/drawing/2014/main" id="{E7A309CC-C2E7-D40D-251B-4C6D1E2EFE85}"/>
              </a:ext>
            </a:extLst>
          </p:cNvPr>
          <p:cNvSpPr txBox="1"/>
          <p:nvPr/>
        </p:nvSpPr>
        <p:spPr>
          <a:xfrm>
            <a:off x="636957" y="1541381"/>
            <a:ext cx="7570211"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Токенизација</a:t>
            </a:r>
            <a:r>
              <a:rPr lang="en-US" sz="2400" dirty="0">
                <a:latin typeface="Arial"/>
                <a:ea typeface="+mn-lt"/>
                <a:cs typeface="Arial"/>
              </a:rPr>
              <a:t> и refinement</a:t>
            </a:r>
          </a:p>
          <a:p>
            <a:endParaRPr lang="en-US" sz="2400" dirty="0">
              <a:latin typeface="Arial"/>
              <a:ea typeface="+mn-lt"/>
              <a:cs typeface="Arial"/>
            </a:endParaRPr>
          </a:p>
          <a:p>
            <a:r>
              <a:rPr lang="en-US" sz="2400" dirty="0" err="1">
                <a:solidFill>
                  <a:srgbClr val="C00000"/>
                </a:solidFill>
                <a:latin typeface="Arial"/>
                <a:ea typeface="+mn-lt"/>
                <a:cs typeface="Arial"/>
              </a:rPr>
              <a:t>Улаз</a:t>
            </a:r>
            <a:endParaRPr lang="en-US" sz="2400" dirty="0">
              <a:solidFill>
                <a:srgbClr val="C00000"/>
              </a:solidFill>
              <a:latin typeface="Arial"/>
              <a:ea typeface="+mn-lt"/>
              <a:cs typeface="Arial"/>
            </a:endParaRPr>
          </a:p>
          <a:p>
            <a:pPr marL="342900" indent="-342900">
              <a:buFont typeface="Calibri"/>
              <a:buChar char="-"/>
            </a:pPr>
            <a:r>
              <a:rPr lang="en-US" sz="2400">
                <a:latin typeface="Arial"/>
                <a:ea typeface="+mn-lt"/>
                <a:cs typeface="Arial"/>
              </a:rPr>
              <a:t>Can this voice sound natural?</a:t>
            </a:r>
            <a:endParaRPr lang="en-US" sz="2400" dirty="0">
              <a:latin typeface="Arial"/>
              <a:ea typeface="+mn-lt"/>
              <a:cs typeface="Arial"/>
            </a:endParaRPr>
          </a:p>
          <a:p>
            <a:r>
              <a:rPr lang="en-US" sz="2400" dirty="0" err="1">
                <a:solidFill>
                  <a:srgbClr val="C00000"/>
                </a:solidFill>
                <a:latin typeface="Arial"/>
                <a:ea typeface="+mn-lt"/>
                <a:cs typeface="Arial"/>
              </a:rPr>
              <a:t>Контролисана</a:t>
            </a:r>
            <a:r>
              <a:rPr lang="en-US" sz="2400" dirty="0">
                <a:solidFill>
                  <a:srgbClr val="C00000"/>
                </a:solidFill>
                <a:latin typeface="Arial"/>
                <a:ea typeface="+mn-lt"/>
                <a:cs typeface="Arial"/>
              </a:rPr>
              <a:t> </a:t>
            </a:r>
            <a:r>
              <a:rPr lang="en-US" sz="2400" dirty="0" err="1">
                <a:solidFill>
                  <a:srgbClr val="C00000"/>
                </a:solidFill>
                <a:latin typeface="Arial"/>
                <a:ea typeface="+mn-lt"/>
                <a:cs typeface="Arial"/>
              </a:rPr>
              <a:t>секвенца</a:t>
            </a:r>
            <a:endParaRPr lang="en-US">
              <a:solidFill>
                <a:srgbClr val="C00000"/>
              </a:solidFill>
              <a:latin typeface="Arial"/>
              <a:ea typeface="+mn-lt"/>
              <a:cs typeface="Arial"/>
            </a:endParaRPr>
          </a:p>
          <a:p>
            <a:pPr marL="342900" indent="-342900">
              <a:buFont typeface="Calibri"/>
              <a:buChar char="-"/>
            </a:pPr>
            <a:r>
              <a:rPr lang="en-US" sz="2400" b="1">
                <a:latin typeface="Arial"/>
                <a:ea typeface="+mn-lt"/>
                <a:cs typeface="Arial"/>
              </a:rPr>
              <a:t>[oral_2]</a:t>
            </a:r>
            <a:r>
              <a:rPr lang="en-US" sz="2400">
                <a:latin typeface="Arial"/>
                <a:ea typeface="+mn-lt"/>
                <a:cs typeface="Arial"/>
              </a:rPr>
              <a:t> Can this voice </a:t>
            </a:r>
            <a:r>
              <a:rPr lang="en-US" sz="2400" b="1">
                <a:latin typeface="Arial"/>
                <a:ea typeface="+mn-lt"/>
                <a:cs typeface="Arial"/>
              </a:rPr>
              <a:t>[break_4]</a:t>
            </a:r>
            <a:r>
              <a:rPr lang="en-US" sz="2400">
                <a:latin typeface="Arial"/>
                <a:ea typeface="+mn-lt"/>
                <a:cs typeface="Arial"/>
              </a:rPr>
              <a:t> sound natural?</a:t>
            </a:r>
            <a:endParaRPr lang="en-US" sz="2400" dirty="0">
              <a:latin typeface="Arial"/>
              <a:ea typeface="+mn-lt"/>
              <a:cs typeface="Arial"/>
            </a:endParaRPr>
          </a:p>
          <a:p>
            <a:r>
              <a:rPr lang="en-US" sz="2400" dirty="0" err="1">
                <a:solidFill>
                  <a:srgbClr val="C00000"/>
                </a:solidFill>
                <a:latin typeface="Arial"/>
                <a:ea typeface="+mn-lt"/>
                <a:cs typeface="Arial"/>
              </a:rPr>
              <a:t>Циљ</a:t>
            </a:r>
            <a:r>
              <a:rPr lang="en-US" sz="2400" dirty="0">
                <a:solidFill>
                  <a:srgbClr val="C00000"/>
                </a:solidFill>
                <a:latin typeface="Arial"/>
                <a:ea typeface="+mn-lt"/>
                <a:cs typeface="Arial"/>
              </a:rPr>
              <a:t> </a:t>
            </a:r>
            <a:endParaRPr lang="en-US" dirty="0">
              <a:solidFill>
                <a:srgbClr val="C00000"/>
              </a:solidFill>
              <a:latin typeface="Arial"/>
              <a:ea typeface="+mn-lt"/>
              <a:cs typeface="Arial"/>
            </a:endParaRPr>
          </a:p>
          <a:p>
            <a:pPr marL="342900" indent="-342900">
              <a:buFont typeface="Calibri"/>
              <a:buChar char="-"/>
            </a:pPr>
            <a:r>
              <a:rPr lang="en-US" sz="2400" dirty="0">
                <a:latin typeface="Arial"/>
                <a:ea typeface="+mn-lt"/>
                <a:cs typeface="Arial"/>
              </a:rPr>
              <a:t>Модел </a:t>
            </a:r>
            <a:r>
              <a:rPr lang="en-US" sz="2400" dirty="0" err="1">
                <a:latin typeface="Arial"/>
                <a:ea typeface="+mn-lt"/>
                <a:cs typeface="Arial"/>
              </a:rPr>
              <a:t>добија</a:t>
            </a:r>
            <a:r>
              <a:rPr lang="en-US" sz="2400" dirty="0">
                <a:latin typeface="Arial"/>
                <a:ea typeface="+mn-lt"/>
                <a:cs typeface="Arial"/>
              </a:rPr>
              <a:t> и </a:t>
            </a:r>
            <a:r>
              <a:rPr lang="en-US" sz="2400" dirty="0" err="1">
                <a:latin typeface="Arial"/>
                <a:ea typeface="+mn-lt"/>
                <a:cs typeface="Arial"/>
              </a:rPr>
              <a:t>текст</a:t>
            </a:r>
            <a:r>
              <a:rPr lang="en-US" sz="2400" dirty="0">
                <a:latin typeface="Arial"/>
                <a:ea typeface="+mn-lt"/>
                <a:cs typeface="Arial"/>
              </a:rPr>
              <a:t> и </a:t>
            </a:r>
            <a:r>
              <a:rPr lang="en-US" sz="2400" dirty="0" err="1">
                <a:latin typeface="Arial"/>
                <a:ea typeface="+mn-lt"/>
                <a:cs typeface="Arial"/>
              </a:rPr>
              <a:t>смернице</a:t>
            </a:r>
            <a:r>
              <a:rPr lang="en-US" sz="2400" dirty="0">
                <a:latin typeface="Arial"/>
                <a:ea typeface="+mn-lt"/>
                <a:cs typeface="Arial"/>
              </a:rPr>
              <a:t> </a:t>
            </a:r>
            <a:r>
              <a:rPr lang="en-US" sz="2400" dirty="0" err="1">
                <a:latin typeface="Arial"/>
                <a:ea typeface="+mn-lt"/>
                <a:cs typeface="Arial"/>
              </a:rPr>
              <a:t>за</a:t>
            </a:r>
            <a:r>
              <a:rPr lang="en-US" sz="2400" dirty="0">
                <a:latin typeface="Arial"/>
                <a:ea typeface="+mn-lt"/>
                <a:cs typeface="Arial"/>
              </a:rPr>
              <a:t> </a:t>
            </a:r>
            <a:r>
              <a:rPr lang="en-US" sz="2400" dirty="0" err="1">
                <a:latin typeface="Arial"/>
                <a:ea typeface="+mn-lt"/>
                <a:cs typeface="Arial"/>
              </a:rPr>
              <a:t>стил</a:t>
            </a:r>
            <a:r>
              <a:rPr lang="en-US" sz="2400" dirty="0">
                <a:latin typeface="Arial"/>
                <a:ea typeface="+mn-lt"/>
                <a:cs typeface="Arial"/>
              </a:rPr>
              <a:t>. </a:t>
            </a:r>
            <a:endParaRPr lang="en-US">
              <a:latin typeface="Arial"/>
              <a:ea typeface="+mn-lt"/>
              <a:cs typeface="Arial"/>
            </a:endParaRPr>
          </a:p>
          <a:p>
            <a:r>
              <a:rPr lang="en-US" sz="2400" dirty="0" err="1">
                <a:solidFill>
                  <a:srgbClr val="C00000"/>
                </a:solidFill>
                <a:latin typeface="Arial"/>
                <a:ea typeface="+mn-lt"/>
                <a:cs typeface="Arial"/>
              </a:rPr>
              <a:t>Контролне</a:t>
            </a:r>
            <a:r>
              <a:rPr lang="en-US" sz="2400" dirty="0">
                <a:solidFill>
                  <a:srgbClr val="C00000"/>
                </a:solidFill>
                <a:latin typeface="Arial"/>
                <a:ea typeface="+mn-lt"/>
                <a:cs typeface="Arial"/>
              </a:rPr>
              <a:t> </a:t>
            </a:r>
            <a:r>
              <a:rPr lang="en-US" sz="2400" dirty="0" err="1">
                <a:solidFill>
                  <a:srgbClr val="C00000"/>
                </a:solidFill>
                <a:latin typeface="Arial"/>
                <a:ea typeface="+mn-lt"/>
                <a:cs typeface="Arial"/>
              </a:rPr>
              <a:t>ознаке</a:t>
            </a:r>
            <a:r>
              <a:rPr lang="en-US" sz="2400" dirty="0">
                <a:solidFill>
                  <a:srgbClr val="C00000"/>
                </a:solidFill>
                <a:latin typeface="Arial"/>
                <a:ea typeface="+mn-lt"/>
                <a:cs typeface="Arial"/>
              </a:rPr>
              <a:t> </a:t>
            </a:r>
            <a:endParaRPr lang="en-US" dirty="0">
              <a:solidFill>
                <a:srgbClr val="C00000"/>
              </a:solidFill>
              <a:latin typeface="Arial"/>
              <a:ea typeface="+mn-lt"/>
              <a:cs typeface="Arial"/>
            </a:endParaRPr>
          </a:p>
          <a:p>
            <a:pPr marL="342900" indent="-342900">
              <a:buFont typeface="Calibri"/>
              <a:buChar char="-"/>
            </a:pPr>
            <a:r>
              <a:rPr lang="en-US" sz="2400" dirty="0">
                <a:latin typeface="Arial"/>
                <a:ea typeface="+mn-lt"/>
                <a:cs typeface="Arial"/>
              </a:rPr>
              <a:t>[oral] </a:t>
            </a:r>
            <a:r>
              <a:rPr lang="en-US" sz="2400" dirty="0" err="1">
                <a:latin typeface="Arial"/>
                <a:ea typeface="+mn-lt"/>
                <a:cs typeface="Arial"/>
              </a:rPr>
              <a:t>утиче</a:t>
            </a:r>
            <a:r>
              <a:rPr lang="en-US" sz="2400" dirty="0">
                <a:latin typeface="Arial"/>
                <a:ea typeface="+mn-lt"/>
                <a:cs typeface="Arial"/>
              </a:rPr>
              <a:t> </a:t>
            </a:r>
            <a:r>
              <a:rPr lang="en-US" sz="2400" dirty="0" err="1">
                <a:latin typeface="Arial"/>
                <a:ea typeface="+mn-lt"/>
                <a:cs typeface="Arial"/>
              </a:rPr>
              <a:t>на</a:t>
            </a:r>
            <a:r>
              <a:rPr lang="en-US" sz="2400" dirty="0">
                <a:latin typeface="Arial"/>
                <a:ea typeface="+mn-lt"/>
                <a:cs typeface="Arial"/>
              </a:rPr>
              <a:t> </a:t>
            </a:r>
            <a:r>
              <a:rPr lang="en-US" sz="2400" dirty="0" err="1">
                <a:latin typeface="Arial"/>
                <a:ea typeface="+mn-lt"/>
                <a:cs typeface="Arial"/>
              </a:rPr>
              <a:t>говорност</a:t>
            </a:r>
            <a:r>
              <a:rPr lang="en-US" sz="2400" dirty="0">
                <a:latin typeface="Arial"/>
                <a:ea typeface="+mn-lt"/>
                <a:cs typeface="Arial"/>
              </a:rPr>
              <a:t>, а [break] </a:t>
            </a:r>
            <a:r>
              <a:rPr lang="en-US" sz="2400" dirty="0" err="1">
                <a:latin typeface="Arial"/>
                <a:ea typeface="+mn-lt"/>
                <a:cs typeface="Arial"/>
              </a:rPr>
              <a:t>уводи</a:t>
            </a:r>
            <a:r>
              <a:rPr lang="en-US" sz="2400" dirty="0">
                <a:latin typeface="Arial"/>
                <a:ea typeface="+mn-lt"/>
                <a:cs typeface="Arial"/>
              </a:rPr>
              <a:t> </a:t>
            </a:r>
            <a:r>
              <a:rPr lang="en-US" sz="2400" dirty="0" err="1">
                <a:latin typeface="Arial"/>
                <a:ea typeface="+mn-lt"/>
                <a:cs typeface="Arial"/>
              </a:rPr>
              <a:t>паузу</a:t>
            </a:r>
            <a:r>
              <a:rPr lang="en-US" sz="2400" dirty="0">
                <a:latin typeface="Arial"/>
                <a:ea typeface="+mn-lt"/>
                <a:cs typeface="Arial"/>
              </a:rPr>
              <a:t>. </a:t>
            </a:r>
            <a:endParaRPr lang="en-US" dirty="0">
              <a:latin typeface="Arial"/>
              <a:ea typeface="+mn-lt"/>
              <a:cs typeface="Arial"/>
            </a:endParaRPr>
          </a:p>
          <a:p>
            <a:r>
              <a:rPr lang="en-US" sz="2400" dirty="0">
                <a:solidFill>
                  <a:srgbClr val="C00000"/>
                </a:solidFill>
                <a:latin typeface="Arial"/>
                <a:ea typeface="+mn-lt"/>
                <a:cs typeface="Arial"/>
              </a:rPr>
              <a:t>Значај </a:t>
            </a:r>
            <a:endParaRPr lang="en-US" dirty="0">
              <a:solidFill>
                <a:srgbClr val="C00000"/>
              </a:solidFill>
              <a:latin typeface="Arial"/>
              <a:ea typeface="+mn-lt"/>
              <a:cs typeface="Arial"/>
            </a:endParaRPr>
          </a:p>
          <a:p>
            <a:pPr marL="342900" indent="-342900">
              <a:buFont typeface="Calibri"/>
              <a:buChar char="-"/>
            </a:pPr>
            <a:r>
              <a:rPr lang="en-US" sz="2400" dirty="0">
                <a:latin typeface="Arial"/>
                <a:ea typeface="+mn-lt"/>
                <a:cs typeface="Arial"/>
              </a:rPr>
              <a:t>Исти </a:t>
            </a:r>
            <a:r>
              <a:rPr lang="en-US" sz="2400" dirty="0" err="1">
                <a:latin typeface="Arial"/>
                <a:ea typeface="+mn-lt"/>
                <a:cs typeface="Arial"/>
              </a:rPr>
              <a:t>текст</a:t>
            </a:r>
            <a:r>
              <a:rPr lang="en-US" sz="2400" dirty="0">
                <a:latin typeface="Arial"/>
                <a:ea typeface="+mn-lt"/>
                <a:cs typeface="Arial"/>
              </a:rPr>
              <a:t> </a:t>
            </a:r>
            <a:r>
              <a:rPr lang="en-US" sz="2400" dirty="0" err="1">
                <a:latin typeface="Arial"/>
                <a:ea typeface="+mn-lt"/>
                <a:cs typeface="Arial"/>
              </a:rPr>
              <a:t>може</a:t>
            </a:r>
            <a:r>
              <a:rPr lang="en-US" sz="2400" dirty="0">
                <a:latin typeface="Arial"/>
                <a:ea typeface="+mn-lt"/>
                <a:cs typeface="Arial"/>
              </a:rPr>
              <a:t> </a:t>
            </a:r>
            <a:r>
              <a:rPr lang="en-US" sz="2400" dirty="0" err="1">
                <a:latin typeface="Arial"/>
                <a:ea typeface="+mn-lt"/>
                <a:cs typeface="Arial"/>
              </a:rPr>
              <a:t>добити</a:t>
            </a:r>
            <a:r>
              <a:rPr lang="en-US" sz="2400" dirty="0">
                <a:latin typeface="Arial"/>
                <a:ea typeface="+mn-lt"/>
                <a:cs typeface="Arial"/>
              </a:rPr>
              <a:t> </a:t>
            </a:r>
            <a:r>
              <a:rPr lang="en-US" sz="2400" dirty="0" err="1">
                <a:latin typeface="Arial"/>
                <a:ea typeface="+mn-lt"/>
                <a:cs typeface="Arial"/>
              </a:rPr>
              <a:t>различит</a:t>
            </a:r>
            <a:r>
              <a:rPr lang="en-US" sz="2400" dirty="0">
                <a:latin typeface="Arial"/>
                <a:ea typeface="+mn-lt"/>
                <a:cs typeface="Arial"/>
              </a:rPr>
              <a:t> </a:t>
            </a:r>
            <a:r>
              <a:rPr lang="en-US" sz="2400" dirty="0" err="1">
                <a:latin typeface="Arial"/>
                <a:ea typeface="+mn-lt"/>
                <a:cs typeface="Arial"/>
              </a:rPr>
              <a:t>ритам</a:t>
            </a:r>
            <a:r>
              <a:rPr lang="en-US" sz="2400" dirty="0">
                <a:latin typeface="Arial"/>
                <a:ea typeface="+mn-lt"/>
                <a:cs typeface="Arial"/>
              </a:rPr>
              <a:t> и </a:t>
            </a:r>
            <a:r>
              <a:rPr lang="en-US" sz="2400" dirty="0" err="1">
                <a:latin typeface="Arial"/>
                <a:ea typeface="+mn-lt"/>
                <a:cs typeface="Arial"/>
              </a:rPr>
              <a:t>интонацију</a:t>
            </a:r>
            <a:r>
              <a:rPr lang="en-US" sz="2400" dirty="0">
                <a:latin typeface="Arial"/>
                <a:ea typeface="+mn-lt"/>
                <a:cs typeface="Arial"/>
              </a:rPr>
              <a:t>.</a:t>
            </a:r>
            <a:endParaRPr lang="en-US">
              <a:latin typeface="Arial"/>
              <a:cs typeface="Arial"/>
            </a:endParaRPr>
          </a:p>
          <a:p>
            <a:endParaRPr lang="en-US" sz="2400" dirty="0">
              <a:latin typeface="Arial"/>
              <a:ea typeface="Calibri"/>
              <a:cs typeface="Arial"/>
            </a:endParaRPr>
          </a:p>
          <a:p>
            <a:endParaRPr lang="en-US" sz="2400" dirty="0">
              <a:latin typeface="Arial"/>
              <a:ea typeface="Calibri"/>
              <a:cs typeface="Arial"/>
            </a:endParaRPr>
          </a:p>
        </p:txBody>
      </p:sp>
    </p:spTree>
    <p:extLst>
      <p:ext uri="{BB962C8B-B14F-4D97-AF65-F5344CB8AC3E}">
        <p14:creationId xmlns:p14="http://schemas.microsoft.com/office/powerpoint/2010/main" val="1314300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29B02-46AC-52C9-3175-3A4FCF79C9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BE37663-29AF-7028-3407-81BEE95EE4F0}"/>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2390933-7B19-5244-58A7-E9F7A9B6F878}"/>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63EC1C8-762A-E2D3-F500-B9DBA51AFCCD}"/>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B1E368E-CBAB-0446-6083-A2ADFA6F2140}"/>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7D1F15-DD5B-CA54-04E7-71600A244A20}"/>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C48AF0-8172-C677-0668-5911429A1FCB}"/>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F072D30C-35ED-39A6-5502-A1853CCDFEB0}"/>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D5D719C-9C34-A854-FAAD-A0E65954DD00}"/>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Говорни токени</a:t>
            </a:r>
            <a:endParaRPr lang="en-US" b="1">
              <a:solidFill>
                <a:schemeClr val="bg1"/>
              </a:solidFill>
            </a:endParaRPr>
          </a:p>
        </p:txBody>
      </p:sp>
      <p:sp>
        <p:nvSpPr>
          <p:cNvPr id="2" name="TextBox 1">
            <a:extLst>
              <a:ext uri="{FF2B5EF4-FFF2-40B4-BE49-F238E27FC236}">
                <a16:creationId xmlns:a16="http://schemas.microsoft.com/office/drawing/2014/main" id="{299EC293-2830-F5A5-AB15-3DA6DA6E72EA}"/>
              </a:ext>
            </a:extLst>
          </p:cNvPr>
          <p:cNvSpPr txBox="1"/>
          <p:nvPr/>
        </p:nvSpPr>
        <p:spPr>
          <a:xfrm>
            <a:off x="627780" y="1540737"/>
            <a:ext cx="587201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Дискретни </a:t>
            </a:r>
            <a:r>
              <a:rPr lang="en-US" sz="2400" dirty="0" err="1">
                <a:latin typeface="Arial"/>
                <a:ea typeface="+mn-lt"/>
                <a:cs typeface="Arial"/>
              </a:rPr>
              <a:t>говорни</a:t>
            </a:r>
            <a:r>
              <a:rPr lang="en-US" sz="2400" dirty="0">
                <a:latin typeface="Arial"/>
                <a:ea typeface="+mn-lt"/>
                <a:cs typeface="Arial"/>
              </a:rPr>
              <a:t> </a:t>
            </a:r>
            <a:r>
              <a:rPr lang="en-US" sz="2400" dirty="0" err="1">
                <a:latin typeface="Arial"/>
                <a:ea typeface="+mn-lt"/>
                <a:cs typeface="Arial"/>
              </a:rPr>
              <a:t>токени</a:t>
            </a:r>
            <a:endParaRPr lang="en-US" sz="2400">
              <a:latin typeface="Arial"/>
              <a:cs typeface="Arial"/>
            </a:endParaRPr>
          </a:p>
        </p:txBody>
      </p:sp>
      <p:pic>
        <p:nvPicPr>
          <p:cNvPr id="4" name="Picture 3" descr="A close-up of a sign&#10;&#10;AI-generated content may be incorrect.">
            <a:extLst>
              <a:ext uri="{FF2B5EF4-FFF2-40B4-BE49-F238E27FC236}">
                <a16:creationId xmlns:a16="http://schemas.microsoft.com/office/drawing/2014/main" id="{4D744F52-A37C-C392-6258-910AD4B8AC2E}"/>
              </a:ext>
            </a:extLst>
          </p:cNvPr>
          <p:cNvPicPr>
            <a:picLocks noChangeAspect="1"/>
          </p:cNvPicPr>
          <p:nvPr/>
        </p:nvPicPr>
        <p:blipFill>
          <a:blip r:embed="rId3"/>
          <a:stretch>
            <a:fillRect/>
          </a:stretch>
        </p:blipFill>
        <p:spPr>
          <a:xfrm>
            <a:off x="502227" y="2002303"/>
            <a:ext cx="7804728" cy="1046531"/>
          </a:xfrm>
          <a:prstGeom prst="rect">
            <a:avLst/>
          </a:prstGeom>
        </p:spPr>
      </p:pic>
      <p:sp>
        <p:nvSpPr>
          <p:cNvPr id="5" name="TextBox 4">
            <a:extLst>
              <a:ext uri="{FF2B5EF4-FFF2-40B4-BE49-F238E27FC236}">
                <a16:creationId xmlns:a16="http://schemas.microsoft.com/office/drawing/2014/main" id="{20FFABEB-2DCA-7811-ACF1-E0BCF6FDC745}"/>
              </a:ext>
            </a:extLst>
          </p:cNvPr>
          <p:cNvSpPr txBox="1"/>
          <p:nvPr/>
        </p:nvSpPr>
        <p:spPr>
          <a:xfrm>
            <a:off x="629227" y="3047998"/>
            <a:ext cx="790978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1">
                    <a:lumMod val="76000"/>
                  </a:schemeClr>
                </a:solidFill>
                <a:latin typeface="Arial"/>
                <a:ea typeface="+mn-lt"/>
                <a:cs typeface="Arial"/>
              </a:rPr>
              <a:t>Идеја </a:t>
            </a:r>
          </a:p>
          <a:p>
            <a:pPr marL="342900" indent="-342900">
              <a:buFont typeface="Calibri"/>
              <a:buChar char="-"/>
            </a:pPr>
            <a:r>
              <a:rPr lang="en-US" sz="2400" dirty="0" err="1">
                <a:latin typeface="Arial"/>
                <a:ea typeface="+mn-lt"/>
                <a:cs typeface="Arial"/>
              </a:rPr>
              <a:t>Говор</a:t>
            </a:r>
            <a:r>
              <a:rPr lang="en-US" sz="2400" dirty="0">
                <a:latin typeface="Arial"/>
                <a:ea typeface="+mn-lt"/>
                <a:cs typeface="Arial"/>
              </a:rPr>
              <a:t> </a:t>
            </a:r>
            <a:r>
              <a:rPr lang="en-US" sz="2400" dirty="0" err="1">
                <a:latin typeface="Arial"/>
                <a:ea typeface="+mn-lt"/>
                <a:cs typeface="Arial"/>
              </a:rPr>
              <a:t>се</a:t>
            </a:r>
            <a:r>
              <a:rPr lang="en-US" sz="2400" dirty="0">
                <a:latin typeface="Arial"/>
                <a:ea typeface="+mn-lt"/>
                <a:cs typeface="Arial"/>
              </a:rPr>
              <a:t> </a:t>
            </a:r>
            <a:r>
              <a:rPr lang="en-US" sz="2400" dirty="0" err="1">
                <a:latin typeface="Arial"/>
                <a:ea typeface="+mn-lt"/>
                <a:cs typeface="Arial"/>
              </a:rPr>
              <a:t>представља</a:t>
            </a:r>
            <a:r>
              <a:rPr lang="en-US" sz="2400" dirty="0">
                <a:latin typeface="Arial"/>
                <a:ea typeface="+mn-lt"/>
                <a:cs typeface="Arial"/>
              </a:rPr>
              <a:t> </a:t>
            </a:r>
            <a:r>
              <a:rPr lang="en-US" sz="2400" dirty="0" err="1">
                <a:latin typeface="Arial"/>
                <a:ea typeface="+mn-lt"/>
                <a:cs typeface="Arial"/>
              </a:rPr>
              <a:t>низом</a:t>
            </a:r>
            <a:r>
              <a:rPr lang="en-US" sz="2400" dirty="0">
                <a:latin typeface="Arial"/>
                <a:ea typeface="+mn-lt"/>
                <a:cs typeface="Arial"/>
              </a:rPr>
              <a:t> </a:t>
            </a:r>
            <a:r>
              <a:rPr lang="en-US" sz="2400" dirty="0" err="1">
                <a:latin typeface="Arial"/>
                <a:ea typeface="+mn-lt"/>
                <a:cs typeface="Arial"/>
              </a:rPr>
              <a:t>кодова</a:t>
            </a:r>
            <a:r>
              <a:rPr lang="en-US" sz="2400" dirty="0">
                <a:latin typeface="Arial"/>
                <a:ea typeface="+mn-lt"/>
                <a:cs typeface="Arial"/>
              </a:rPr>
              <a:t>, </a:t>
            </a:r>
            <a:r>
              <a:rPr lang="en-US" sz="2400" dirty="0" err="1">
                <a:latin typeface="Arial"/>
                <a:ea typeface="+mn-lt"/>
                <a:cs typeface="Arial"/>
              </a:rPr>
              <a:t>не</a:t>
            </a:r>
            <a:r>
              <a:rPr lang="en-US" sz="2400" dirty="0">
                <a:latin typeface="Arial"/>
                <a:ea typeface="+mn-lt"/>
                <a:cs typeface="Arial"/>
              </a:rPr>
              <a:t> </a:t>
            </a:r>
            <a:r>
              <a:rPr lang="en-US" sz="2400" dirty="0" err="1">
                <a:latin typeface="Arial"/>
                <a:ea typeface="+mn-lt"/>
                <a:cs typeface="Arial"/>
              </a:rPr>
              <a:t>сировим</a:t>
            </a:r>
            <a:r>
              <a:rPr lang="en-US" sz="2400" dirty="0">
                <a:latin typeface="Arial"/>
                <a:ea typeface="+mn-lt"/>
                <a:cs typeface="Arial"/>
              </a:rPr>
              <a:t> waveform-</a:t>
            </a:r>
            <a:r>
              <a:rPr lang="en-US" sz="2400" dirty="0" err="1">
                <a:latin typeface="Arial"/>
                <a:ea typeface="+mn-lt"/>
                <a:cs typeface="Arial"/>
              </a:rPr>
              <a:t>ом</a:t>
            </a:r>
            <a:r>
              <a:rPr lang="en-US" sz="2400" dirty="0">
                <a:latin typeface="Arial"/>
                <a:ea typeface="+mn-lt"/>
                <a:cs typeface="Arial"/>
              </a:rPr>
              <a:t>. </a:t>
            </a:r>
          </a:p>
          <a:p>
            <a:r>
              <a:rPr lang="en-US" sz="2400" dirty="0">
                <a:solidFill>
                  <a:schemeClr val="accent1">
                    <a:lumMod val="76000"/>
                  </a:schemeClr>
                </a:solidFill>
                <a:latin typeface="Arial"/>
                <a:ea typeface="+mn-lt"/>
                <a:cs typeface="Arial"/>
              </a:rPr>
              <a:t>Предност </a:t>
            </a:r>
          </a:p>
          <a:p>
            <a:pPr marL="342900" indent="-342900">
              <a:buFont typeface="Calibri"/>
              <a:buChar char="-"/>
            </a:pPr>
            <a:r>
              <a:rPr lang="en-US" sz="2400" dirty="0" err="1">
                <a:latin typeface="Arial"/>
                <a:ea typeface="+mn-lt"/>
                <a:cs typeface="Arial"/>
              </a:rPr>
              <a:t>Кодови</a:t>
            </a:r>
            <a:r>
              <a:rPr lang="en-US" sz="2400" dirty="0">
                <a:latin typeface="Arial"/>
                <a:ea typeface="+mn-lt"/>
                <a:cs typeface="Arial"/>
              </a:rPr>
              <a:t> </a:t>
            </a:r>
            <a:r>
              <a:rPr lang="en-US" sz="2400" dirty="0" err="1">
                <a:latin typeface="Arial"/>
                <a:ea typeface="+mn-lt"/>
                <a:cs typeface="Arial"/>
              </a:rPr>
              <a:t>су</a:t>
            </a:r>
            <a:r>
              <a:rPr lang="en-US" sz="2400" dirty="0">
                <a:latin typeface="Arial"/>
                <a:ea typeface="+mn-lt"/>
                <a:cs typeface="Arial"/>
              </a:rPr>
              <a:t> </a:t>
            </a:r>
            <a:r>
              <a:rPr lang="en-US" sz="2400" dirty="0" err="1">
                <a:latin typeface="Arial"/>
                <a:ea typeface="+mn-lt"/>
                <a:cs typeface="Arial"/>
              </a:rPr>
              <a:t>компактнији</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24.000 </a:t>
            </a:r>
            <a:r>
              <a:rPr lang="en-US" sz="2400" dirty="0" err="1">
                <a:latin typeface="Arial"/>
                <a:ea typeface="+mn-lt"/>
                <a:cs typeface="Arial"/>
              </a:rPr>
              <a:t>узорака</a:t>
            </a:r>
            <a:r>
              <a:rPr lang="en-US" sz="2400" dirty="0">
                <a:latin typeface="Arial"/>
                <a:ea typeface="+mn-lt"/>
                <a:cs typeface="Arial"/>
              </a:rPr>
              <a:t> у </a:t>
            </a:r>
            <a:r>
              <a:rPr lang="en-US" sz="2400" dirty="0" err="1">
                <a:latin typeface="Arial"/>
                <a:ea typeface="+mn-lt"/>
                <a:cs typeface="Arial"/>
              </a:rPr>
              <a:t>секунди</a:t>
            </a:r>
            <a:r>
              <a:rPr lang="en-US" sz="2400" dirty="0">
                <a:latin typeface="Arial"/>
                <a:ea typeface="+mn-lt"/>
                <a:cs typeface="Arial"/>
              </a:rPr>
              <a:t>. </a:t>
            </a:r>
          </a:p>
          <a:p>
            <a:r>
              <a:rPr lang="en-US" sz="2400">
                <a:solidFill>
                  <a:schemeClr val="accent1">
                    <a:lumMod val="76000"/>
                  </a:schemeClr>
                </a:solidFill>
                <a:latin typeface="Arial"/>
                <a:ea typeface="+mn-lt"/>
                <a:cs typeface="Arial"/>
              </a:rPr>
              <a:t>Decoder </a:t>
            </a:r>
            <a:endParaRPr lang="en-US" sz="2400" dirty="0">
              <a:solidFill>
                <a:schemeClr val="accent1">
                  <a:lumMod val="76000"/>
                </a:schemeClr>
              </a:solidFill>
              <a:latin typeface="Arial"/>
              <a:ea typeface="+mn-lt"/>
              <a:cs typeface="Arial"/>
            </a:endParaRPr>
          </a:p>
          <a:p>
            <a:pPr marL="342900" indent="-342900">
              <a:buFont typeface="Calibri"/>
              <a:buChar char="-"/>
            </a:pPr>
            <a:r>
              <a:rPr lang="en-US" sz="2400" dirty="0" err="1">
                <a:latin typeface="Arial"/>
                <a:ea typeface="+mn-lt"/>
                <a:cs typeface="Arial"/>
              </a:rPr>
              <a:t>Из</a:t>
            </a:r>
            <a:r>
              <a:rPr lang="en-US" sz="2400" dirty="0">
                <a:latin typeface="Arial"/>
                <a:ea typeface="+mn-lt"/>
                <a:cs typeface="Arial"/>
              </a:rPr>
              <a:t> </a:t>
            </a:r>
            <a:r>
              <a:rPr lang="en-US" sz="2400" dirty="0" err="1">
                <a:latin typeface="Arial"/>
                <a:ea typeface="+mn-lt"/>
                <a:cs typeface="Arial"/>
              </a:rPr>
              <a:t>кодова</a:t>
            </a:r>
            <a:r>
              <a:rPr lang="en-US" sz="2400" dirty="0">
                <a:latin typeface="Arial"/>
                <a:ea typeface="+mn-lt"/>
                <a:cs typeface="Arial"/>
              </a:rPr>
              <a:t> </a:t>
            </a:r>
            <a:r>
              <a:rPr lang="en-US" sz="2400" dirty="0" err="1">
                <a:latin typeface="Arial"/>
                <a:ea typeface="+mn-lt"/>
                <a:cs typeface="Arial"/>
              </a:rPr>
              <a:t>реконструише</a:t>
            </a:r>
            <a:r>
              <a:rPr lang="en-US" sz="2400" dirty="0">
                <a:latin typeface="Arial"/>
                <a:ea typeface="+mn-lt"/>
                <a:cs typeface="Arial"/>
              </a:rPr>
              <a:t> </a:t>
            </a:r>
            <a:r>
              <a:rPr lang="en-US" sz="2400" dirty="0" err="1">
                <a:latin typeface="Arial"/>
                <a:ea typeface="+mn-lt"/>
                <a:cs typeface="Arial"/>
              </a:rPr>
              <a:t>звучни</a:t>
            </a:r>
            <a:r>
              <a:rPr lang="en-US" sz="2400" dirty="0">
                <a:latin typeface="Arial"/>
                <a:ea typeface="+mn-lt"/>
                <a:cs typeface="Arial"/>
              </a:rPr>
              <a:t> </a:t>
            </a:r>
            <a:r>
              <a:rPr lang="en-US" sz="2400" dirty="0" err="1">
                <a:latin typeface="Arial"/>
                <a:ea typeface="+mn-lt"/>
                <a:cs typeface="Arial"/>
              </a:rPr>
              <a:t>сигнал</a:t>
            </a:r>
            <a:r>
              <a:rPr lang="en-US" sz="2400" dirty="0">
                <a:latin typeface="Arial"/>
                <a:ea typeface="+mn-lt"/>
                <a:cs typeface="Arial"/>
              </a:rPr>
              <a:t>. </a:t>
            </a:r>
          </a:p>
          <a:p>
            <a:r>
              <a:rPr lang="en-US" sz="2400" dirty="0" err="1">
                <a:solidFill>
                  <a:schemeClr val="accent1">
                    <a:lumMod val="76000"/>
                  </a:schemeClr>
                </a:solidFill>
                <a:latin typeface="Arial"/>
                <a:ea typeface="+mn-lt"/>
                <a:cs typeface="Arial"/>
              </a:rPr>
              <a:t>Квалитет</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err="1">
                <a:latin typeface="Arial"/>
                <a:ea typeface="+mn-lt"/>
                <a:cs typeface="Arial"/>
              </a:rPr>
              <a:t>Зависи</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кодова</a:t>
            </a:r>
            <a:r>
              <a:rPr lang="en-US" sz="2400" dirty="0">
                <a:latin typeface="Arial"/>
                <a:ea typeface="+mn-lt"/>
                <a:cs typeface="Arial"/>
              </a:rPr>
              <a:t> и </a:t>
            </a:r>
            <a:r>
              <a:rPr lang="en-US" sz="2400" dirty="0" err="1">
                <a:latin typeface="Arial"/>
                <a:ea typeface="+mn-lt"/>
                <a:cs typeface="Arial"/>
              </a:rPr>
              <a:t>декодера</a:t>
            </a:r>
            <a:r>
              <a:rPr lang="en-US" sz="2400" dirty="0">
                <a:latin typeface="Arial"/>
                <a:ea typeface="+mn-lt"/>
                <a:cs typeface="Arial"/>
              </a:rPr>
              <a:t>.</a:t>
            </a:r>
            <a:endParaRPr lang="en-US" sz="2400">
              <a:latin typeface="Arial"/>
              <a:ea typeface="Calibri"/>
              <a:cs typeface="Arial"/>
            </a:endParaRPr>
          </a:p>
        </p:txBody>
      </p:sp>
    </p:spTree>
    <p:extLst>
      <p:ext uri="{BB962C8B-B14F-4D97-AF65-F5344CB8AC3E}">
        <p14:creationId xmlns:p14="http://schemas.microsoft.com/office/powerpoint/2010/main" val="1418357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5E49F-04D0-5520-CA08-F91342AB4BA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F63C6EF-B4AA-3798-5B9F-21AD60C17E21}"/>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E1A65B6-E268-1D71-4219-239060C40CD9}"/>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67D0FB7-4D6E-F03B-FAC0-95C35D983D8B}"/>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D953E4F-8B38-DC7C-DBF4-7310A422B265}"/>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B030E71-30DB-9D18-8BDB-D54130B58E42}"/>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1630FF-2821-E4B3-829B-C6B00E171E09}"/>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2AE63D82-65D4-B8BB-4161-1B99B83B2F5C}"/>
              </a:ext>
            </a:extLst>
          </p:cNvPr>
          <p:cNvSpPr/>
          <p:nvPr/>
        </p:nvSpPr>
        <p:spPr>
          <a:xfrm>
            <a:off x="-464" y="278925"/>
            <a:ext cx="7555831" cy="917827"/>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4034E52-049C-2551-266E-21E5A606A9E3}"/>
              </a:ext>
            </a:extLst>
          </p:cNvPr>
          <p:cNvSpPr/>
          <p:nvPr/>
        </p:nvSpPr>
        <p:spPr>
          <a:xfrm>
            <a:off x="502576" y="438622"/>
            <a:ext cx="6884301"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Ауторегресивно генерисање</a:t>
            </a:r>
            <a:endParaRPr lang="en-US" b="1">
              <a:solidFill>
                <a:schemeClr val="bg1"/>
              </a:solidFill>
            </a:endParaRPr>
          </a:p>
        </p:txBody>
      </p:sp>
      <p:sp>
        <p:nvSpPr>
          <p:cNvPr id="2" name="TextBox 1">
            <a:extLst>
              <a:ext uri="{FF2B5EF4-FFF2-40B4-BE49-F238E27FC236}">
                <a16:creationId xmlns:a16="http://schemas.microsoft.com/office/drawing/2014/main" id="{55450BA4-A95E-EF57-25D0-264D8CFAE8E4}"/>
              </a:ext>
            </a:extLst>
          </p:cNvPr>
          <p:cNvSpPr txBox="1"/>
          <p:nvPr/>
        </p:nvSpPr>
        <p:spPr>
          <a:xfrm>
            <a:off x="714371" y="3936419"/>
            <a:ext cx="7603836"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6">
                    <a:lumMod val="76000"/>
                  </a:schemeClr>
                </a:solidFill>
                <a:latin typeface="Arial"/>
                <a:ea typeface="+mn-lt"/>
                <a:cs typeface="Arial"/>
              </a:rPr>
              <a:t>Предност </a:t>
            </a:r>
          </a:p>
          <a:p>
            <a:pPr marL="285750" indent="-285750">
              <a:buFont typeface="Calibri"/>
              <a:buChar char="-"/>
            </a:pPr>
            <a:r>
              <a:rPr lang="en-US" sz="2400" dirty="0">
                <a:latin typeface="Arial"/>
                <a:ea typeface="+mn-lt"/>
                <a:cs typeface="Arial"/>
              </a:rPr>
              <a:t>Богато </a:t>
            </a:r>
            <a:r>
              <a:rPr lang="en-US" sz="2400" dirty="0" err="1">
                <a:latin typeface="Arial"/>
                <a:ea typeface="+mn-lt"/>
                <a:cs typeface="Arial"/>
              </a:rPr>
              <a:t>моделирање</a:t>
            </a:r>
            <a:r>
              <a:rPr lang="en-US" sz="2400" dirty="0">
                <a:latin typeface="Arial"/>
                <a:ea typeface="+mn-lt"/>
                <a:cs typeface="Arial"/>
              </a:rPr>
              <a:t> </a:t>
            </a:r>
            <a:r>
              <a:rPr lang="en-US" sz="2400" dirty="0" err="1">
                <a:latin typeface="Arial"/>
                <a:ea typeface="+mn-lt"/>
                <a:cs typeface="Arial"/>
              </a:rPr>
              <a:t>контекста</a:t>
            </a:r>
            <a:r>
              <a:rPr lang="en-US" sz="2400" dirty="0">
                <a:latin typeface="Arial"/>
                <a:ea typeface="+mn-lt"/>
                <a:cs typeface="Arial"/>
              </a:rPr>
              <a:t>, </a:t>
            </a:r>
            <a:r>
              <a:rPr lang="en-US" sz="2400" dirty="0" err="1">
                <a:latin typeface="Arial"/>
                <a:ea typeface="+mn-lt"/>
                <a:cs typeface="Arial"/>
              </a:rPr>
              <a:t>ритма</a:t>
            </a:r>
            <a:r>
              <a:rPr lang="en-US" sz="2400" dirty="0">
                <a:latin typeface="Arial"/>
                <a:ea typeface="+mn-lt"/>
                <a:cs typeface="Arial"/>
              </a:rPr>
              <a:t> и </a:t>
            </a:r>
            <a:r>
              <a:rPr lang="en-US" sz="2400" dirty="0" err="1">
                <a:latin typeface="Arial"/>
                <a:ea typeface="+mn-lt"/>
                <a:cs typeface="Arial"/>
              </a:rPr>
              <a:t>секвенце</a:t>
            </a:r>
            <a:r>
              <a:rPr lang="en-US" sz="2400" dirty="0">
                <a:latin typeface="Arial"/>
                <a:ea typeface="+mn-lt"/>
                <a:cs typeface="Arial"/>
              </a:rPr>
              <a:t>. </a:t>
            </a:r>
          </a:p>
          <a:p>
            <a:r>
              <a:rPr lang="en-US" sz="2400" err="1">
                <a:solidFill>
                  <a:srgbClr val="C00000"/>
                </a:solidFill>
                <a:latin typeface="Arial"/>
                <a:ea typeface="+mn-lt"/>
                <a:cs typeface="Arial"/>
              </a:rPr>
              <a:t>Цена</a:t>
            </a:r>
            <a:r>
              <a:rPr lang="en-US" sz="2400" dirty="0">
                <a:solidFill>
                  <a:srgbClr val="C00000"/>
                </a:solidFill>
                <a:latin typeface="Arial"/>
                <a:ea typeface="+mn-lt"/>
                <a:cs typeface="Arial"/>
              </a:rPr>
              <a:t> </a:t>
            </a:r>
          </a:p>
          <a:p>
            <a:pPr marL="285750" indent="-285750">
              <a:buFont typeface="Calibri"/>
              <a:buChar char="-"/>
            </a:pPr>
            <a:r>
              <a:rPr lang="en-US" sz="2400" dirty="0">
                <a:latin typeface="Arial"/>
                <a:ea typeface="+mn-lt"/>
                <a:cs typeface="Arial"/>
              </a:rPr>
              <a:t>Секвенцијално </a:t>
            </a:r>
            <a:r>
              <a:rPr lang="en-US" sz="2400" dirty="0" err="1">
                <a:latin typeface="Arial"/>
                <a:ea typeface="+mn-lt"/>
                <a:cs typeface="Arial"/>
              </a:rPr>
              <a:t>генерисање</a:t>
            </a:r>
            <a:r>
              <a:rPr lang="en-US" sz="2400" dirty="0">
                <a:latin typeface="Arial"/>
                <a:ea typeface="+mn-lt"/>
                <a:cs typeface="Arial"/>
              </a:rPr>
              <a:t> </a:t>
            </a:r>
            <a:r>
              <a:rPr lang="en-US" sz="2400" dirty="0" err="1">
                <a:latin typeface="Arial"/>
                <a:ea typeface="+mn-lt"/>
                <a:cs typeface="Arial"/>
              </a:rPr>
              <a:t>отежава</a:t>
            </a:r>
            <a:r>
              <a:rPr lang="en-US" sz="2400" dirty="0">
                <a:latin typeface="Arial"/>
                <a:ea typeface="+mn-lt"/>
                <a:cs typeface="Arial"/>
              </a:rPr>
              <a:t> </a:t>
            </a:r>
            <a:r>
              <a:rPr lang="en-US" sz="2400" dirty="0" err="1">
                <a:latin typeface="Arial"/>
                <a:ea typeface="+mn-lt"/>
                <a:cs typeface="Arial"/>
              </a:rPr>
              <a:t>потпуно</a:t>
            </a:r>
            <a:r>
              <a:rPr lang="en-US" sz="2400" dirty="0">
                <a:latin typeface="Arial"/>
                <a:ea typeface="+mn-lt"/>
                <a:cs typeface="Arial"/>
              </a:rPr>
              <a:t> </a:t>
            </a:r>
            <a:r>
              <a:rPr lang="en-US" sz="2400" dirty="0" err="1">
                <a:latin typeface="Arial"/>
                <a:ea typeface="+mn-lt"/>
                <a:cs typeface="Arial"/>
              </a:rPr>
              <a:t>паралелну</a:t>
            </a:r>
            <a:r>
              <a:rPr lang="en-US" sz="2400" dirty="0">
                <a:latin typeface="Arial"/>
                <a:ea typeface="+mn-lt"/>
                <a:cs typeface="Arial"/>
              </a:rPr>
              <a:t> </a:t>
            </a:r>
            <a:r>
              <a:rPr lang="en-US" sz="2400" dirty="0" err="1">
                <a:latin typeface="Arial"/>
                <a:ea typeface="+mn-lt"/>
                <a:cs typeface="Arial"/>
              </a:rPr>
              <a:t>синтезу</a:t>
            </a:r>
            <a:r>
              <a:rPr lang="en-US" sz="2400" dirty="0">
                <a:latin typeface="Arial"/>
                <a:ea typeface="+mn-lt"/>
                <a:cs typeface="Arial"/>
              </a:rPr>
              <a:t>.</a:t>
            </a:r>
            <a:endParaRPr lang="en-US" sz="2400">
              <a:latin typeface="Arial"/>
              <a:ea typeface="Calibri"/>
              <a:cs typeface="Arial"/>
            </a:endParaRPr>
          </a:p>
        </p:txBody>
      </p:sp>
      <p:pic>
        <p:nvPicPr>
          <p:cNvPr id="4" name="Picture 3" descr="A two rectangular shapes with a black arrow&#10;&#10;AI-generated content may be incorrect.">
            <a:extLst>
              <a:ext uri="{FF2B5EF4-FFF2-40B4-BE49-F238E27FC236}">
                <a16:creationId xmlns:a16="http://schemas.microsoft.com/office/drawing/2014/main" id="{443AC69F-5CF8-B628-22A7-9F0C673B94E2}"/>
              </a:ext>
            </a:extLst>
          </p:cNvPr>
          <p:cNvPicPr>
            <a:picLocks noChangeAspect="1"/>
          </p:cNvPicPr>
          <p:nvPr/>
        </p:nvPicPr>
        <p:blipFill>
          <a:blip r:embed="rId3"/>
          <a:stretch>
            <a:fillRect/>
          </a:stretch>
        </p:blipFill>
        <p:spPr>
          <a:xfrm>
            <a:off x="398317" y="2714837"/>
            <a:ext cx="8543637" cy="816416"/>
          </a:xfrm>
          <a:prstGeom prst="rect">
            <a:avLst/>
          </a:prstGeom>
        </p:spPr>
      </p:pic>
      <p:sp>
        <p:nvSpPr>
          <p:cNvPr id="5" name="TextBox 4">
            <a:extLst>
              <a:ext uri="{FF2B5EF4-FFF2-40B4-BE49-F238E27FC236}">
                <a16:creationId xmlns:a16="http://schemas.microsoft.com/office/drawing/2014/main" id="{02499C5C-6907-8FC9-44E5-01D5829FDD5A}"/>
              </a:ext>
            </a:extLst>
          </p:cNvPr>
          <p:cNvSpPr txBox="1"/>
          <p:nvPr/>
        </p:nvSpPr>
        <p:spPr>
          <a:xfrm>
            <a:off x="583045" y="1524000"/>
            <a:ext cx="797906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Говорни </a:t>
            </a:r>
            <a:r>
              <a:rPr lang="en-US" sz="2400" dirty="0" err="1">
                <a:latin typeface="Arial"/>
                <a:ea typeface="+mn-lt"/>
                <a:cs typeface="Arial"/>
              </a:rPr>
              <a:t>кодови</a:t>
            </a:r>
            <a:r>
              <a:rPr lang="en-US" sz="2400" dirty="0">
                <a:latin typeface="Arial"/>
                <a:ea typeface="+mn-lt"/>
                <a:cs typeface="Arial"/>
              </a:rPr>
              <a:t> </a:t>
            </a:r>
            <a:r>
              <a:rPr lang="en-US" sz="2400" dirty="0" err="1">
                <a:latin typeface="Arial"/>
                <a:ea typeface="+mn-lt"/>
                <a:cs typeface="Arial"/>
              </a:rPr>
              <a:t>се</a:t>
            </a:r>
            <a:r>
              <a:rPr lang="en-US" sz="2400" dirty="0">
                <a:latin typeface="Arial"/>
                <a:ea typeface="+mn-lt"/>
                <a:cs typeface="Arial"/>
              </a:rPr>
              <a:t> </a:t>
            </a:r>
            <a:r>
              <a:rPr lang="en-US" sz="2400" dirty="0" err="1">
                <a:latin typeface="Arial"/>
                <a:ea typeface="+mn-lt"/>
                <a:cs typeface="Arial"/>
              </a:rPr>
              <a:t>генеришу</a:t>
            </a:r>
            <a:r>
              <a:rPr lang="en-US" sz="2400" dirty="0">
                <a:latin typeface="Arial"/>
                <a:ea typeface="+mn-lt"/>
                <a:cs typeface="Arial"/>
              </a:rPr>
              <a:t> </a:t>
            </a:r>
            <a:r>
              <a:rPr lang="en-US" sz="2400" dirty="0" err="1">
                <a:latin typeface="Arial"/>
                <a:ea typeface="+mn-lt"/>
                <a:cs typeface="Arial"/>
              </a:rPr>
              <a:t>редом</a:t>
            </a:r>
            <a:r>
              <a:rPr lang="en-US" sz="2400" dirty="0">
                <a:latin typeface="Arial"/>
                <a:ea typeface="+mn-lt"/>
                <a:cs typeface="Arial"/>
              </a:rPr>
              <a:t>, </a:t>
            </a:r>
            <a:r>
              <a:rPr lang="en-US" sz="2400" dirty="0" err="1">
                <a:latin typeface="Arial"/>
                <a:ea typeface="+mn-lt"/>
                <a:cs typeface="Arial"/>
              </a:rPr>
              <a:t>тако</a:t>
            </a:r>
            <a:r>
              <a:rPr lang="en-US" sz="2400" dirty="0">
                <a:latin typeface="Arial"/>
                <a:ea typeface="+mn-lt"/>
                <a:cs typeface="Arial"/>
              </a:rPr>
              <a:t> </a:t>
            </a:r>
            <a:r>
              <a:rPr lang="en-US" sz="2400" dirty="0" err="1">
                <a:latin typeface="Arial"/>
                <a:ea typeface="+mn-lt"/>
                <a:cs typeface="Arial"/>
              </a:rPr>
              <a:t>да</a:t>
            </a:r>
            <a:r>
              <a:rPr lang="en-US" sz="2400" dirty="0">
                <a:latin typeface="Arial"/>
                <a:ea typeface="+mn-lt"/>
                <a:cs typeface="Arial"/>
              </a:rPr>
              <a:t> </a:t>
            </a:r>
            <a:r>
              <a:rPr lang="en-US" sz="2400" dirty="0" err="1">
                <a:latin typeface="Arial"/>
                <a:ea typeface="+mn-lt"/>
                <a:cs typeface="Arial"/>
              </a:rPr>
              <a:t>сваки</a:t>
            </a:r>
            <a:r>
              <a:rPr lang="en-US" sz="2400" dirty="0">
                <a:latin typeface="Arial"/>
                <a:ea typeface="+mn-lt"/>
                <a:cs typeface="Arial"/>
              </a:rPr>
              <a:t> </a:t>
            </a:r>
            <a:r>
              <a:rPr lang="en-US" sz="2400" dirty="0" err="1">
                <a:latin typeface="Arial"/>
                <a:ea typeface="+mn-lt"/>
                <a:cs typeface="Arial"/>
              </a:rPr>
              <a:t>наредни</a:t>
            </a:r>
            <a:r>
              <a:rPr lang="en-US" sz="2400" dirty="0">
                <a:latin typeface="Arial"/>
                <a:ea typeface="+mn-lt"/>
                <a:cs typeface="Arial"/>
              </a:rPr>
              <a:t> </a:t>
            </a:r>
            <a:r>
              <a:rPr lang="en-US" sz="2400" dirty="0" err="1">
                <a:latin typeface="Arial"/>
                <a:ea typeface="+mn-lt"/>
                <a:cs typeface="Arial"/>
              </a:rPr>
              <a:t>код</a:t>
            </a:r>
            <a:r>
              <a:rPr lang="en-US" sz="2400" dirty="0">
                <a:latin typeface="Arial"/>
                <a:ea typeface="+mn-lt"/>
                <a:cs typeface="Arial"/>
              </a:rPr>
              <a:t> </a:t>
            </a:r>
            <a:r>
              <a:rPr lang="en-US" sz="2400" dirty="0" err="1">
                <a:latin typeface="Arial"/>
                <a:ea typeface="+mn-lt"/>
                <a:cs typeface="Arial"/>
              </a:rPr>
              <a:t>зависи</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претходно</a:t>
            </a:r>
            <a:r>
              <a:rPr lang="en-US" sz="2400" dirty="0">
                <a:latin typeface="Arial"/>
                <a:ea typeface="+mn-lt"/>
                <a:cs typeface="Arial"/>
              </a:rPr>
              <a:t> </a:t>
            </a:r>
            <a:r>
              <a:rPr lang="en-US" sz="2400" dirty="0" err="1">
                <a:latin typeface="Arial"/>
                <a:ea typeface="+mn-lt"/>
                <a:cs typeface="Arial"/>
              </a:rPr>
              <a:t>генерисаних</a:t>
            </a:r>
            <a:r>
              <a:rPr lang="en-US" sz="2400" dirty="0">
                <a:latin typeface="Arial"/>
                <a:ea typeface="+mn-lt"/>
                <a:cs typeface="Arial"/>
              </a:rPr>
              <a:t> </a:t>
            </a:r>
            <a:r>
              <a:rPr lang="en-US" sz="2400" dirty="0" err="1">
                <a:latin typeface="Arial"/>
                <a:ea typeface="+mn-lt"/>
                <a:cs typeface="Arial"/>
              </a:rPr>
              <a:t>кодова</a:t>
            </a:r>
            <a:r>
              <a:rPr lang="en-US" sz="2400" dirty="0">
                <a:latin typeface="Arial"/>
                <a:ea typeface="+mn-lt"/>
                <a:cs typeface="Arial"/>
              </a:rPr>
              <a:t>.</a:t>
            </a:r>
          </a:p>
        </p:txBody>
      </p:sp>
    </p:spTree>
    <p:extLst>
      <p:ext uri="{BB962C8B-B14F-4D97-AF65-F5344CB8AC3E}">
        <p14:creationId xmlns:p14="http://schemas.microsoft.com/office/powerpoint/2010/main" val="8479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648D9-5E3E-5C84-08C8-A359E523ED0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C6521BC-02B7-D67C-3C3D-BC0FFBA00F4F}"/>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4992B6-E707-F5BB-6C50-05DF7FA2144C}"/>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F37B6D6-1DB0-A2EE-AE43-A8B3E43C5A4D}"/>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F025FC2-019C-B3C0-50DA-DD07F94CD25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6C3221-8115-E179-A1AC-B56AF2B8B0EB}"/>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B1057E-79A1-74DE-6420-196AC6723A16}"/>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8EEED966-7F03-424D-A220-A92263390230}"/>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B1077F2-4F05-F01B-5DBD-1503EC5A811B}"/>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Говорник, стил и контрола</a:t>
            </a:r>
            <a:endParaRPr lang="en-US" b="1">
              <a:solidFill>
                <a:schemeClr val="bg1"/>
              </a:solidFill>
            </a:endParaRPr>
          </a:p>
        </p:txBody>
      </p:sp>
      <p:sp>
        <p:nvSpPr>
          <p:cNvPr id="2" name="TextBox 1">
            <a:extLst>
              <a:ext uri="{FF2B5EF4-FFF2-40B4-BE49-F238E27FC236}">
                <a16:creationId xmlns:a16="http://schemas.microsoft.com/office/drawing/2014/main" id="{FFC95CAD-35E2-8493-8CD3-A12AF76FE03F}"/>
              </a:ext>
            </a:extLst>
          </p:cNvPr>
          <p:cNvSpPr txBox="1"/>
          <p:nvPr/>
        </p:nvSpPr>
        <p:spPr>
          <a:xfrm>
            <a:off x="714371" y="1586919"/>
            <a:ext cx="733829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1">
                    <a:lumMod val="76000"/>
                  </a:schemeClr>
                </a:solidFill>
                <a:latin typeface="Arial"/>
                <a:ea typeface="+mn-lt"/>
                <a:cs typeface="Arial"/>
              </a:rPr>
              <a:t>Speaker embedding</a:t>
            </a:r>
            <a:r>
              <a:rPr lang="en-US" sz="2400" dirty="0">
                <a:latin typeface="Arial"/>
                <a:ea typeface="+mn-lt"/>
                <a:cs typeface="Arial"/>
              </a:rPr>
              <a:t> </a:t>
            </a:r>
          </a:p>
          <a:p>
            <a:pPr marL="342900" indent="-342900">
              <a:buFont typeface="Calibri"/>
              <a:buChar char="-"/>
            </a:pPr>
            <a:r>
              <a:rPr lang="en-US" sz="2400" dirty="0">
                <a:latin typeface="Arial"/>
                <a:ea typeface="+mn-lt"/>
                <a:cs typeface="Arial"/>
              </a:rPr>
              <a:t>Одређује </a:t>
            </a:r>
            <a:r>
              <a:rPr lang="en-US" sz="2400" dirty="0" err="1">
                <a:latin typeface="Arial"/>
                <a:ea typeface="+mn-lt"/>
                <a:cs typeface="Arial"/>
              </a:rPr>
              <a:t>карактер</a:t>
            </a:r>
            <a:r>
              <a:rPr lang="en-US" sz="2400" dirty="0">
                <a:latin typeface="Arial"/>
                <a:ea typeface="+mn-lt"/>
                <a:cs typeface="Arial"/>
              </a:rPr>
              <a:t> и </a:t>
            </a:r>
            <a:r>
              <a:rPr lang="en-US" sz="2400" dirty="0" err="1">
                <a:latin typeface="Arial"/>
                <a:ea typeface="+mn-lt"/>
                <a:cs typeface="Arial"/>
              </a:rPr>
              <a:t>боју</a:t>
            </a:r>
            <a:r>
              <a:rPr lang="en-US" sz="2400" dirty="0">
                <a:latin typeface="Arial"/>
                <a:ea typeface="+mn-lt"/>
                <a:cs typeface="Arial"/>
              </a:rPr>
              <a:t> </a:t>
            </a:r>
            <a:r>
              <a:rPr lang="en-US" sz="2400" dirty="0" err="1">
                <a:latin typeface="Arial"/>
                <a:ea typeface="+mn-lt"/>
                <a:cs typeface="Arial"/>
              </a:rPr>
              <a:t>гласа</a:t>
            </a:r>
            <a:r>
              <a:rPr lang="en-US" sz="2400" dirty="0">
                <a:latin typeface="Arial"/>
                <a:ea typeface="+mn-lt"/>
                <a:cs typeface="Arial"/>
              </a:rPr>
              <a:t>. </a:t>
            </a:r>
          </a:p>
          <a:p>
            <a:r>
              <a:rPr lang="en-US" sz="2400" dirty="0">
                <a:solidFill>
                  <a:schemeClr val="accent1">
                    <a:lumMod val="76000"/>
                  </a:schemeClr>
                </a:solidFill>
                <a:latin typeface="Arial"/>
                <a:ea typeface="+mn-lt"/>
                <a:cs typeface="Arial"/>
              </a:rPr>
              <a:t>Sampling </a:t>
            </a:r>
          </a:p>
          <a:p>
            <a:pPr marL="342900" indent="-342900">
              <a:buFont typeface="Calibri"/>
              <a:buChar char="-"/>
            </a:pPr>
            <a:r>
              <a:rPr lang="en-US" sz="2400" dirty="0" err="1">
                <a:latin typeface="Arial"/>
                <a:ea typeface="+mn-lt"/>
                <a:cs typeface="Arial"/>
              </a:rPr>
              <a:t>Утиче</a:t>
            </a:r>
            <a:r>
              <a:rPr lang="en-US" sz="2400" dirty="0">
                <a:latin typeface="Arial"/>
                <a:ea typeface="+mn-lt"/>
                <a:cs typeface="Arial"/>
              </a:rPr>
              <a:t> </a:t>
            </a:r>
            <a:r>
              <a:rPr lang="en-US" sz="2400" dirty="0" err="1">
                <a:latin typeface="Arial"/>
                <a:ea typeface="+mn-lt"/>
                <a:cs typeface="Arial"/>
              </a:rPr>
              <a:t>на</a:t>
            </a:r>
            <a:r>
              <a:rPr lang="en-US" sz="2400" dirty="0">
                <a:latin typeface="Arial"/>
                <a:ea typeface="+mn-lt"/>
                <a:cs typeface="Arial"/>
              </a:rPr>
              <a:t> </a:t>
            </a:r>
            <a:r>
              <a:rPr lang="en-US" sz="2400" dirty="0" err="1">
                <a:latin typeface="Arial"/>
                <a:ea typeface="+mn-lt"/>
                <a:cs typeface="Arial"/>
              </a:rPr>
              <a:t>стабилност</a:t>
            </a:r>
            <a:r>
              <a:rPr lang="en-US" sz="2400" dirty="0">
                <a:latin typeface="Arial"/>
                <a:ea typeface="+mn-lt"/>
                <a:cs typeface="Arial"/>
              </a:rPr>
              <a:t> и </a:t>
            </a:r>
            <a:r>
              <a:rPr lang="en-US" sz="2400" dirty="0" err="1">
                <a:latin typeface="Arial"/>
                <a:ea typeface="+mn-lt"/>
                <a:cs typeface="Arial"/>
              </a:rPr>
              <a:t>разноврсност</a:t>
            </a:r>
            <a:r>
              <a:rPr lang="en-US" sz="2400" dirty="0">
                <a:latin typeface="Arial"/>
                <a:ea typeface="+mn-lt"/>
                <a:cs typeface="Arial"/>
              </a:rPr>
              <a:t> </a:t>
            </a:r>
            <a:r>
              <a:rPr lang="en-US" sz="2400" dirty="0" err="1">
                <a:latin typeface="Arial"/>
                <a:ea typeface="+mn-lt"/>
                <a:cs typeface="Arial"/>
              </a:rPr>
              <a:t>излаза</a:t>
            </a:r>
            <a:r>
              <a:rPr lang="en-US" sz="2400" dirty="0">
                <a:latin typeface="Arial"/>
                <a:ea typeface="+mn-lt"/>
                <a:cs typeface="Arial"/>
              </a:rPr>
              <a:t>. </a:t>
            </a:r>
          </a:p>
          <a:p>
            <a:r>
              <a:rPr lang="en-US" sz="2400">
                <a:solidFill>
                  <a:schemeClr val="accent1">
                    <a:lumMod val="76000"/>
                  </a:schemeClr>
                </a:solidFill>
                <a:latin typeface="Arial"/>
                <a:ea typeface="+mn-lt"/>
                <a:cs typeface="Arial"/>
              </a:rPr>
              <a:t>Control tokens </a:t>
            </a:r>
            <a:endParaRPr lang="en-US" sz="2400" dirty="0">
              <a:solidFill>
                <a:schemeClr val="accent1">
                  <a:lumMod val="76000"/>
                </a:schemeClr>
              </a:solidFill>
              <a:latin typeface="Arial"/>
              <a:ea typeface="+mn-lt"/>
              <a:cs typeface="Arial"/>
            </a:endParaRPr>
          </a:p>
          <a:p>
            <a:pPr marL="342900" indent="-342900">
              <a:buFont typeface="Calibri"/>
              <a:buChar char="-"/>
            </a:pPr>
            <a:r>
              <a:rPr lang="en-US" sz="2400" dirty="0">
                <a:latin typeface="Arial"/>
                <a:ea typeface="+mn-lt"/>
                <a:cs typeface="Arial"/>
              </a:rPr>
              <a:t>Додају </a:t>
            </a:r>
            <a:r>
              <a:rPr lang="en-US" sz="2400" dirty="0" err="1">
                <a:latin typeface="Arial"/>
                <a:ea typeface="+mn-lt"/>
                <a:cs typeface="Arial"/>
              </a:rPr>
              <a:t>паузе</a:t>
            </a:r>
            <a:r>
              <a:rPr lang="en-US" sz="2400" dirty="0">
                <a:latin typeface="Arial"/>
                <a:ea typeface="+mn-lt"/>
                <a:cs typeface="Arial"/>
              </a:rPr>
              <a:t>, </a:t>
            </a:r>
            <a:r>
              <a:rPr lang="en-US" sz="2400" dirty="0" err="1">
                <a:latin typeface="Arial"/>
                <a:ea typeface="+mn-lt"/>
                <a:cs typeface="Arial"/>
              </a:rPr>
              <a:t>смех</a:t>
            </a:r>
            <a:r>
              <a:rPr lang="en-US" sz="2400" dirty="0">
                <a:latin typeface="Arial"/>
                <a:ea typeface="+mn-lt"/>
                <a:cs typeface="Arial"/>
              </a:rPr>
              <a:t> и </a:t>
            </a:r>
            <a:r>
              <a:rPr lang="en-US" sz="2400" dirty="0" err="1">
                <a:latin typeface="Arial"/>
                <a:ea typeface="+mn-lt"/>
                <a:cs typeface="Arial"/>
              </a:rPr>
              <a:t>говорнији</a:t>
            </a:r>
            <a:r>
              <a:rPr lang="en-US" sz="2400" dirty="0">
                <a:latin typeface="Arial"/>
                <a:ea typeface="+mn-lt"/>
                <a:cs typeface="Arial"/>
              </a:rPr>
              <a:t> </a:t>
            </a:r>
            <a:r>
              <a:rPr lang="en-US" sz="2400" dirty="0" err="1">
                <a:latin typeface="Arial"/>
                <a:ea typeface="+mn-lt"/>
                <a:cs typeface="Arial"/>
              </a:rPr>
              <a:t>стил</a:t>
            </a:r>
            <a:r>
              <a:rPr lang="en-US" sz="2400" dirty="0">
                <a:latin typeface="Arial"/>
                <a:ea typeface="+mn-lt"/>
                <a:cs typeface="Arial"/>
              </a:rPr>
              <a:t>. </a:t>
            </a:r>
          </a:p>
          <a:p>
            <a:r>
              <a:rPr lang="en-US" sz="2400" dirty="0" err="1">
                <a:solidFill>
                  <a:srgbClr val="C00000"/>
                </a:solidFill>
                <a:latin typeface="Arial"/>
                <a:ea typeface="+mn-lt"/>
                <a:cs typeface="Arial"/>
              </a:rPr>
              <a:t>Важно</a:t>
            </a:r>
            <a:r>
              <a:rPr lang="en-US" sz="2400" dirty="0">
                <a:solidFill>
                  <a:srgbClr val="C00000"/>
                </a:solidFill>
                <a:latin typeface="Arial"/>
                <a:ea typeface="+mn-lt"/>
                <a:cs typeface="Arial"/>
              </a:rPr>
              <a:t> </a:t>
            </a:r>
          </a:p>
          <a:p>
            <a:pPr marL="342900" indent="-342900">
              <a:buFont typeface="Calibri"/>
              <a:buChar char="-"/>
            </a:pPr>
            <a:r>
              <a:rPr lang="en-US" sz="2400" dirty="0">
                <a:latin typeface="Arial"/>
                <a:ea typeface="+mn-lt"/>
                <a:cs typeface="Arial"/>
              </a:rPr>
              <a:t>Исти </a:t>
            </a:r>
            <a:r>
              <a:rPr lang="en-US" sz="2400" dirty="0" err="1">
                <a:latin typeface="Arial"/>
                <a:ea typeface="+mn-lt"/>
                <a:cs typeface="Arial"/>
              </a:rPr>
              <a:t>текст</a:t>
            </a:r>
            <a:r>
              <a:rPr lang="en-US" sz="2400" dirty="0">
                <a:latin typeface="Arial"/>
                <a:ea typeface="+mn-lt"/>
                <a:cs typeface="Arial"/>
              </a:rPr>
              <a:t> </a:t>
            </a:r>
            <a:r>
              <a:rPr lang="en-US" sz="2400" dirty="0" err="1">
                <a:latin typeface="Arial"/>
                <a:ea typeface="+mn-lt"/>
                <a:cs typeface="Arial"/>
              </a:rPr>
              <a:t>може</a:t>
            </a:r>
            <a:r>
              <a:rPr lang="en-US" sz="2400" dirty="0">
                <a:latin typeface="Arial"/>
                <a:ea typeface="+mn-lt"/>
                <a:cs typeface="Arial"/>
              </a:rPr>
              <a:t> </a:t>
            </a:r>
            <a:r>
              <a:rPr lang="en-US" sz="2400" dirty="0" err="1">
                <a:latin typeface="Arial"/>
                <a:ea typeface="+mn-lt"/>
                <a:cs typeface="Arial"/>
              </a:rPr>
              <a:t>звучати</a:t>
            </a:r>
            <a:r>
              <a:rPr lang="en-US" sz="2400" dirty="0">
                <a:latin typeface="Arial"/>
                <a:ea typeface="+mn-lt"/>
                <a:cs typeface="Arial"/>
              </a:rPr>
              <a:t> </a:t>
            </a:r>
            <a:r>
              <a:rPr lang="en-US" sz="2400" dirty="0" err="1">
                <a:latin typeface="Arial"/>
                <a:ea typeface="+mn-lt"/>
                <a:cs typeface="Arial"/>
              </a:rPr>
              <a:t>различито</a:t>
            </a:r>
            <a:r>
              <a:rPr lang="en-US" sz="2400" dirty="0">
                <a:latin typeface="Arial"/>
                <a:ea typeface="+mn-lt"/>
                <a:cs typeface="Arial"/>
              </a:rPr>
              <a:t> у </a:t>
            </a:r>
            <a:r>
              <a:rPr lang="en-US" sz="2400" dirty="0" err="1">
                <a:latin typeface="Arial"/>
                <a:ea typeface="+mn-lt"/>
                <a:cs typeface="Arial"/>
              </a:rPr>
              <a:t>зависности</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ових</a:t>
            </a:r>
            <a:r>
              <a:rPr lang="en-US" sz="2400" dirty="0">
                <a:latin typeface="Arial"/>
                <a:ea typeface="+mn-lt"/>
                <a:cs typeface="Arial"/>
              </a:rPr>
              <a:t> </a:t>
            </a:r>
            <a:r>
              <a:rPr lang="en-US" sz="2400" dirty="0" err="1">
                <a:latin typeface="Arial"/>
                <a:ea typeface="+mn-lt"/>
                <a:cs typeface="Arial"/>
              </a:rPr>
              <a:t>подешавања</a:t>
            </a:r>
            <a:r>
              <a:rPr lang="en-US" sz="2400" dirty="0">
                <a:latin typeface="Arial"/>
                <a:ea typeface="+mn-lt"/>
                <a:cs typeface="Arial"/>
              </a:rPr>
              <a:t>.</a:t>
            </a:r>
            <a:endParaRPr lang="en-US" sz="2400">
              <a:latin typeface="Arial"/>
              <a:ea typeface="Calibri"/>
              <a:cs typeface="Arial"/>
            </a:endParaRPr>
          </a:p>
        </p:txBody>
      </p:sp>
    </p:spTree>
    <p:extLst>
      <p:ext uri="{BB962C8B-B14F-4D97-AF65-F5344CB8AC3E}">
        <p14:creationId xmlns:p14="http://schemas.microsoft.com/office/powerpoint/2010/main" val="3380844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25924-2956-59B6-4ED1-B03D3A27DA6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7FA208-9F0F-7476-9BDC-47C4F5AD4CA1}"/>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9F55C41-D2DC-8C7B-2E7B-13BA2ED6A58F}"/>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F61B41-8462-5A98-F694-0448840AB822}"/>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0B33A2D-80B7-80E4-0AC1-2F4E264F48C5}"/>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BC5D73-A401-166C-F3C8-CF002EA972EA}"/>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DBBC075-AC0A-CF5F-E206-6E1C79DA21E1}"/>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4E8D437-0C88-5662-1F97-AF17827B6538}"/>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C25BDD6-C4CA-1D17-B7E9-09119C0BAAE5}"/>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Декодирање</a:t>
            </a:r>
            <a:endParaRPr lang="sr-Cyrl-RS" sz="3600" b="1">
              <a:solidFill>
                <a:schemeClr val="bg1"/>
              </a:solidFill>
              <a:effectLst>
                <a:outerShdw blurRad="38100" dist="38100" dir="2700000" algn="tl">
                  <a:srgbClr val="000000">
                    <a:alpha val="43137"/>
                  </a:srgbClr>
                </a:outerShdw>
              </a:effectLst>
              <a:cs typeface="Arial"/>
            </a:endParaRPr>
          </a:p>
        </p:txBody>
      </p:sp>
      <p:sp>
        <p:nvSpPr>
          <p:cNvPr id="2" name="TextBox 1">
            <a:extLst>
              <a:ext uri="{FF2B5EF4-FFF2-40B4-BE49-F238E27FC236}">
                <a16:creationId xmlns:a16="http://schemas.microsoft.com/office/drawing/2014/main" id="{38925305-97B4-5008-8930-C45F265DF17D}"/>
              </a:ext>
            </a:extLst>
          </p:cNvPr>
          <p:cNvSpPr txBox="1"/>
          <p:nvPr/>
        </p:nvSpPr>
        <p:spPr>
          <a:xfrm>
            <a:off x="679735" y="1471464"/>
            <a:ext cx="62769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кодова</a:t>
            </a:r>
            <a:r>
              <a:rPr lang="en-US" sz="2400" dirty="0">
                <a:latin typeface="Arial"/>
                <a:ea typeface="+mn-lt"/>
                <a:cs typeface="Arial"/>
              </a:rPr>
              <a:t> </a:t>
            </a:r>
            <a:r>
              <a:rPr lang="en-US" sz="2400" dirty="0" err="1">
                <a:latin typeface="Arial"/>
                <a:ea typeface="+mn-lt"/>
                <a:cs typeface="Arial"/>
              </a:rPr>
              <a:t>до</a:t>
            </a:r>
            <a:r>
              <a:rPr lang="en-US" sz="2400" dirty="0">
                <a:latin typeface="Arial"/>
                <a:ea typeface="+mn-lt"/>
                <a:cs typeface="Arial"/>
              </a:rPr>
              <a:t> </a:t>
            </a:r>
            <a:r>
              <a:rPr lang="en-US" sz="2400" dirty="0" err="1">
                <a:latin typeface="Arial"/>
                <a:ea typeface="+mn-lt"/>
                <a:cs typeface="Arial"/>
              </a:rPr>
              <a:t>звука</a:t>
            </a:r>
            <a:r>
              <a:rPr lang="en-US" sz="2400" dirty="0">
                <a:latin typeface="Arial"/>
                <a:ea typeface="+mn-lt"/>
                <a:cs typeface="Arial"/>
              </a:rPr>
              <a:t>.</a:t>
            </a:r>
            <a:endParaRPr lang="en-US" sz="2400" dirty="0">
              <a:latin typeface="Arial"/>
              <a:cs typeface="Arial"/>
            </a:endParaRPr>
          </a:p>
        </p:txBody>
      </p:sp>
      <p:sp>
        <p:nvSpPr>
          <p:cNvPr id="4" name="TextBox 3">
            <a:extLst>
              <a:ext uri="{FF2B5EF4-FFF2-40B4-BE49-F238E27FC236}">
                <a16:creationId xmlns:a16="http://schemas.microsoft.com/office/drawing/2014/main" id="{B15EC840-677D-572C-9D61-3BA86E087062}"/>
              </a:ext>
            </a:extLst>
          </p:cNvPr>
          <p:cNvSpPr txBox="1"/>
          <p:nvPr/>
        </p:nvSpPr>
        <p:spPr>
          <a:xfrm>
            <a:off x="679735" y="3076282"/>
            <a:ext cx="726984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chemeClr val="accent1">
                    <a:lumMod val="76000"/>
                  </a:schemeClr>
                </a:solidFill>
                <a:latin typeface="Arial"/>
                <a:ea typeface="+mn-lt"/>
                <a:cs typeface="Arial"/>
              </a:rPr>
              <a:t>Дискретни </a:t>
            </a:r>
            <a:r>
              <a:rPr lang="en-US" sz="2400" dirty="0" err="1">
                <a:solidFill>
                  <a:schemeClr val="accent1">
                    <a:lumMod val="76000"/>
                  </a:schemeClr>
                </a:solidFill>
                <a:latin typeface="Arial"/>
                <a:ea typeface="+mn-lt"/>
                <a:cs typeface="Arial"/>
              </a:rPr>
              <a:t>кодови</a:t>
            </a:r>
            <a:r>
              <a:rPr lang="en-US" sz="2400" dirty="0">
                <a:solidFill>
                  <a:schemeClr val="accent1">
                    <a:lumMod val="76000"/>
                  </a:schemeClr>
                </a:solidFill>
                <a:latin typeface="Arial"/>
                <a:ea typeface="+mn-lt"/>
                <a:cs typeface="Arial"/>
              </a:rPr>
              <a:t> </a:t>
            </a:r>
          </a:p>
          <a:p>
            <a:pPr marL="342900" indent="-342900">
              <a:buFont typeface="Calibri"/>
              <a:buChar char="-"/>
            </a:pPr>
            <a:r>
              <a:rPr lang="en-US" sz="2400" dirty="0">
                <a:latin typeface="Arial"/>
                <a:ea typeface="+mn-lt"/>
                <a:cs typeface="Arial"/>
              </a:rPr>
              <a:t>Компактна </a:t>
            </a:r>
            <a:r>
              <a:rPr lang="en-US" sz="2400" dirty="0" err="1">
                <a:latin typeface="Arial"/>
                <a:ea typeface="+mn-lt"/>
                <a:cs typeface="Arial"/>
              </a:rPr>
              <a:t>репрезентација</a:t>
            </a:r>
            <a:r>
              <a:rPr lang="en-US" sz="2400" dirty="0">
                <a:latin typeface="Arial"/>
                <a:ea typeface="+mn-lt"/>
                <a:cs typeface="Arial"/>
              </a:rPr>
              <a:t> </a:t>
            </a:r>
            <a:r>
              <a:rPr lang="en-US" sz="2400" dirty="0" err="1">
                <a:latin typeface="Arial"/>
                <a:ea typeface="+mn-lt"/>
                <a:cs typeface="Arial"/>
              </a:rPr>
              <a:t>говора</a:t>
            </a:r>
            <a:r>
              <a:rPr lang="en-US" sz="2400" dirty="0">
                <a:latin typeface="Arial"/>
                <a:ea typeface="+mn-lt"/>
                <a:cs typeface="Arial"/>
              </a:rPr>
              <a:t>. </a:t>
            </a:r>
            <a:endParaRPr lang="en-US">
              <a:latin typeface="Arial"/>
              <a:ea typeface="+mn-lt"/>
              <a:cs typeface="Arial"/>
            </a:endParaRPr>
          </a:p>
          <a:p>
            <a:r>
              <a:rPr lang="en-US" sz="2400">
                <a:solidFill>
                  <a:schemeClr val="accent1">
                    <a:lumMod val="76000"/>
                  </a:schemeClr>
                </a:solidFill>
                <a:latin typeface="Arial"/>
                <a:ea typeface="+mn-lt"/>
                <a:cs typeface="Arial"/>
              </a:rPr>
              <a:t>Decoder / vocoder </a:t>
            </a:r>
          </a:p>
          <a:p>
            <a:pPr marL="342900" indent="-342900">
              <a:buFont typeface="Calibri"/>
              <a:buChar char="-"/>
            </a:pPr>
            <a:r>
              <a:rPr lang="en-US" sz="2400" dirty="0">
                <a:latin typeface="Arial"/>
                <a:ea typeface="+mn-lt"/>
                <a:cs typeface="Arial"/>
              </a:rPr>
              <a:t>Претвара </a:t>
            </a:r>
            <a:r>
              <a:rPr lang="en-US" sz="2400" dirty="0" err="1">
                <a:latin typeface="Arial"/>
                <a:ea typeface="+mn-lt"/>
                <a:cs typeface="Arial"/>
              </a:rPr>
              <a:t>кодове</a:t>
            </a:r>
            <a:r>
              <a:rPr lang="en-US" sz="2400" dirty="0">
                <a:latin typeface="Arial"/>
                <a:ea typeface="+mn-lt"/>
                <a:cs typeface="Arial"/>
              </a:rPr>
              <a:t> у </a:t>
            </a:r>
            <a:r>
              <a:rPr lang="en-US" sz="2400" dirty="0" err="1">
                <a:latin typeface="Arial"/>
                <a:ea typeface="+mn-lt"/>
                <a:cs typeface="Arial"/>
              </a:rPr>
              <a:t>аудио-сигнал</a:t>
            </a:r>
            <a:r>
              <a:rPr lang="en-US" sz="2400" dirty="0">
                <a:latin typeface="Arial"/>
                <a:ea typeface="+mn-lt"/>
                <a:cs typeface="Arial"/>
              </a:rPr>
              <a:t>. </a:t>
            </a:r>
            <a:endParaRPr lang="en-US">
              <a:latin typeface="Arial"/>
              <a:ea typeface="+mn-lt"/>
              <a:cs typeface="Arial"/>
            </a:endParaRPr>
          </a:p>
          <a:p>
            <a:r>
              <a:rPr lang="en-US" sz="2400">
                <a:solidFill>
                  <a:schemeClr val="accent1">
                    <a:lumMod val="76000"/>
                  </a:schemeClr>
                </a:solidFill>
                <a:latin typeface="Arial"/>
                <a:ea typeface="+mn-lt"/>
                <a:cs typeface="Arial"/>
              </a:rPr>
              <a:t>24 kHz waveform </a:t>
            </a:r>
          </a:p>
          <a:p>
            <a:pPr marL="342900" indent="-342900">
              <a:buFont typeface="Calibri"/>
              <a:buChar char="-"/>
            </a:pPr>
            <a:r>
              <a:rPr lang="en-US" sz="2400" dirty="0">
                <a:latin typeface="Arial"/>
                <a:ea typeface="+mn-lt"/>
                <a:cs typeface="Arial"/>
              </a:rPr>
              <a:t>Коначни </a:t>
            </a:r>
            <a:r>
              <a:rPr lang="en-US" sz="2400" dirty="0" err="1">
                <a:latin typeface="Arial"/>
                <a:ea typeface="+mn-lt"/>
                <a:cs typeface="Arial"/>
              </a:rPr>
              <a:t>звучни</a:t>
            </a:r>
            <a:r>
              <a:rPr lang="en-US" sz="2400" dirty="0">
                <a:latin typeface="Arial"/>
                <a:ea typeface="+mn-lt"/>
                <a:cs typeface="Arial"/>
              </a:rPr>
              <a:t> </a:t>
            </a:r>
            <a:r>
              <a:rPr lang="en-US" sz="2400" dirty="0" err="1">
                <a:latin typeface="Arial"/>
                <a:ea typeface="+mn-lt"/>
                <a:cs typeface="Arial"/>
              </a:rPr>
              <a:t>излаз</a:t>
            </a:r>
            <a:r>
              <a:rPr lang="en-US" sz="2400" dirty="0">
                <a:latin typeface="Arial"/>
                <a:ea typeface="+mn-lt"/>
                <a:cs typeface="Arial"/>
              </a:rPr>
              <a:t>. </a:t>
            </a:r>
            <a:endParaRPr lang="en-US">
              <a:latin typeface="Arial"/>
              <a:ea typeface="+mn-lt"/>
              <a:cs typeface="Arial"/>
            </a:endParaRPr>
          </a:p>
          <a:p>
            <a:r>
              <a:rPr lang="en-US" sz="2400" dirty="0" err="1">
                <a:solidFill>
                  <a:srgbClr val="C00000"/>
                </a:solidFill>
                <a:latin typeface="Arial"/>
                <a:ea typeface="+mn-lt"/>
                <a:cs typeface="Arial"/>
              </a:rPr>
              <a:t>Важно</a:t>
            </a:r>
            <a:r>
              <a:rPr lang="en-US" sz="2400" dirty="0">
                <a:solidFill>
                  <a:srgbClr val="C00000"/>
                </a:solidFill>
                <a:latin typeface="Arial"/>
                <a:ea typeface="+mn-lt"/>
                <a:cs typeface="Arial"/>
              </a:rPr>
              <a:t> </a:t>
            </a:r>
          </a:p>
          <a:p>
            <a:pPr marL="342900" indent="-342900">
              <a:buFont typeface="Calibri"/>
              <a:buChar char="-"/>
            </a:pPr>
            <a:r>
              <a:rPr lang="en-US" sz="2400" dirty="0">
                <a:latin typeface="Arial"/>
                <a:ea typeface="+mn-lt"/>
                <a:cs typeface="Arial"/>
              </a:rPr>
              <a:t>Квалитет </a:t>
            </a:r>
            <a:r>
              <a:rPr lang="en-US" sz="2400" dirty="0" err="1">
                <a:latin typeface="Arial"/>
                <a:ea typeface="+mn-lt"/>
                <a:cs typeface="Arial"/>
              </a:rPr>
              <a:t>гласа</a:t>
            </a:r>
            <a:r>
              <a:rPr lang="en-US" sz="2400" dirty="0">
                <a:latin typeface="Arial"/>
                <a:ea typeface="+mn-lt"/>
                <a:cs typeface="Arial"/>
              </a:rPr>
              <a:t> </a:t>
            </a:r>
            <a:r>
              <a:rPr lang="en-US" sz="2400" dirty="0" err="1">
                <a:latin typeface="Arial"/>
                <a:ea typeface="+mn-lt"/>
                <a:cs typeface="Arial"/>
              </a:rPr>
              <a:t>зависи</a:t>
            </a:r>
            <a:r>
              <a:rPr lang="en-US" sz="2400" dirty="0">
                <a:latin typeface="Arial"/>
                <a:ea typeface="+mn-lt"/>
                <a:cs typeface="Arial"/>
              </a:rPr>
              <a:t> и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декодера</a:t>
            </a:r>
            <a:r>
              <a:rPr lang="en-US" sz="2400" dirty="0">
                <a:latin typeface="Arial"/>
                <a:ea typeface="+mn-lt"/>
                <a:cs typeface="Arial"/>
              </a:rPr>
              <a:t>, </a:t>
            </a:r>
            <a:r>
              <a:rPr lang="en-US" sz="2400" dirty="0" err="1">
                <a:latin typeface="Arial"/>
                <a:ea typeface="+mn-lt"/>
                <a:cs typeface="Arial"/>
              </a:rPr>
              <a:t>не</a:t>
            </a:r>
            <a:r>
              <a:rPr lang="en-US" sz="2400" dirty="0">
                <a:latin typeface="Arial"/>
                <a:ea typeface="+mn-lt"/>
                <a:cs typeface="Arial"/>
              </a:rPr>
              <a:t> </a:t>
            </a:r>
            <a:r>
              <a:rPr lang="en-US" sz="2400" dirty="0" err="1">
                <a:latin typeface="Arial"/>
                <a:ea typeface="+mn-lt"/>
                <a:cs typeface="Arial"/>
              </a:rPr>
              <a:t>само</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текстуалног</a:t>
            </a:r>
            <a:r>
              <a:rPr lang="en-US" sz="2400" dirty="0">
                <a:latin typeface="Arial"/>
                <a:ea typeface="+mn-lt"/>
                <a:cs typeface="Arial"/>
              </a:rPr>
              <a:t> </a:t>
            </a:r>
            <a:r>
              <a:rPr lang="en-US" sz="2400" dirty="0" err="1">
                <a:latin typeface="Arial"/>
                <a:ea typeface="+mn-lt"/>
                <a:cs typeface="Arial"/>
              </a:rPr>
              <a:t>модела</a:t>
            </a:r>
            <a:r>
              <a:rPr lang="en-US" sz="2400" dirty="0">
                <a:latin typeface="Arial"/>
                <a:ea typeface="+mn-lt"/>
                <a:cs typeface="Arial"/>
              </a:rPr>
              <a:t>.</a:t>
            </a:r>
            <a:endParaRPr lang="en-US">
              <a:latin typeface="Arial"/>
              <a:ea typeface="+mn-lt"/>
              <a:cs typeface="Arial"/>
            </a:endParaRPr>
          </a:p>
        </p:txBody>
      </p:sp>
      <p:pic>
        <p:nvPicPr>
          <p:cNvPr id="5" name="Picture 4" descr="A close-up of a sign&#10;&#10;AI-generated content may be incorrect.">
            <a:extLst>
              <a:ext uri="{FF2B5EF4-FFF2-40B4-BE49-F238E27FC236}">
                <a16:creationId xmlns:a16="http://schemas.microsoft.com/office/drawing/2014/main" id="{6A1B0382-538D-E3C9-9310-7976DB693E19}"/>
              </a:ext>
            </a:extLst>
          </p:cNvPr>
          <p:cNvPicPr>
            <a:picLocks noChangeAspect="1"/>
          </p:cNvPicPr>
          <p:nvPr/>
        </p:nvPicPr>
        <p:blipFill>
          <a:blip r:embed="rId3"/>
          <a:stretch>
            <a:fillRect/>
          </a:stretch>
        </p:blipFill>
        <p:spPr>
          <a:xfrm>
            <a:off x="484909" y="2116903"/>
            <a:ext cx="8174182" cy="880829"/>
          </a:xfrm>
          <a:prstGeom prst="rect">
            <a:avLst/>
          </a:prstGeom>
        </p:spPr>
      </p:pic>
    </p:spTree>
    <p:extLst>
      <p:ext uri="{BB962C8B-B14F-4D97-AF65-F5344CB8AC3E}">
        <p14:creationId xmlns:p14="http://schemas.microsoft.com/office/powerpoint/2010/main" val="381455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3D0CE-13F0-DD5C-3115-C16599DC58D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1E6096-E8D0-7720-4426-016B921908D5}"/>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EE1ED07-284A-FF9C-B362-50887FA4CD79}"/>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21B08CD-89EA-56AE-3E0A-C680EB744451}"/>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CB62B84-84AF-BB55-7514-0A753DBE19E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38A70AB-164A-8D42-AACA-733AC58A9350}"/>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D87637B-B6F8-FFCF-A0AC-D001817565DB}"/>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35256DF-0CEC-9597-E685-FAAF87B61854}"/>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54EE95D-C599-5B4F-4782-2E603127A86F}"/>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Прозодија</a:t>
            </a:r>
            <a:endParaRPr lang="en-US" b="1">
              <a:solidFill>
                <a:schemeClr val="bg1"/>
              </a:solidFill>
              <a:latin typeface="Arial"/>
            </a:endParaRPr>
          </a:p>
        </p:txBody>
      </p:sp>
      <p:sp>
        <p:nvSpPr>
          <p:cNvPr id="2" name="TextBox 1">
            <a:extLst>
              <a:ext uri="{FF2B5EF4-FFF2-40B4-BE49-F238E27FC236}">
                <a16:creationId xmlns:a16="http://schemas.microsoft.com/office/drawing/2014/main" id="{7DAA2F2B-728A-52CC-917A-C46C6F0ED1B5}"/>
              </a:ext>
            </a:extLst>
          </p:cNvPr>
          <p:cNvSpPr txBox="1"/>
          <p:nvPr/>
        </p:nvSpPr>
        <p:spPr>
          <a:xfrm>
            <a:off x="714371" y="1586919"/>
            <a:ext cx="712467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Шта </a:t>
            </a:r>
            <a:r>
              <a:rPr lang="en-US" sz="2400" dirty="0" err="1">
                <a:latin typeface="Arial"/>
                <a:ea typeface="+mn-lt"/>
                <a:cs typeface="Arial"/>
              </a:rPr>
              <a:t>чини</a:t>
            </a:r>
            <a:r>
              <a:rPr lang="en-US" sz="2400" dirty="0">
                <a:latin typeface="Arial"/>
                <a:ea typeface="+mn-lt"/>
                <a:cs typeface="Arial"/>
              </a:rPr>
              <a:t> </a:t>
            </a:r>
            <a:r>
              <a:rPr lang="en-US" sz="2400" dirty="0" err="1">
                <a:latin typeface="Arial"/>
                <a:ea typeface="+mn-lt"/>
                <a:cs typeface="Arial"/>
              </a:rPr>
              <a:t>говор</a:t>
            </a:r>
            <a:r>
              <a:rPr lang="en-US" sz="2400" dirty="0">
                <a:latin typeface="Arial"/>
                <a:ea typeface="+mn-lt"/>
                <a:cs typeface="Arial"/>
              </a:rPr>
              <a:t> </a:t>
            </a:r>
            <a:r>
              <a:rPr lang="en-US" sz="2400" dirty="0" err="1">
                <a:latin typeface="Arial"/>
                <a:ea typeface="+mn-lt"/>
                <a:cs typeface="Arial"/>
              </a:rPr>
              <a:t>природним</a:t>
            </a:r>
            <a:r>
              <a:rPr lang="en-US" sz="2400" dirty="0">
                <a:latin typeface="Arial"/>
                <a:ea typeface="+mn-lt"/>
                <a:cs typeface="Arial"/>
              </a:rPr>
              <a:t>?</a:t>
            </a:r>
          </a:p>
          <a:p>
            <a:endParaRPr lang="en-US" sz="2400" dirty="0">
              <a:latin typeface="Arial"/>
              <a:ea typeface="+mn-lt"/>
              <a:cs typeface="Arial"/>
            </a:endParaRPr>
          </a:p>
          <a:p>
            <a:r>
              <a:rPr lang="en-US" sz="2400" dirty="0">
                <a:solidFill>
                  <a:schemeClr val="accent1">
                    <a:lumMod val="76000"/>
                  </a:schemeClr>
                </a:solidFill>
                <a:latin typeface="Arial"/>
                <a:ea typeface="+mn-lt"/>
                <a:cs typeface="Arial"/>
              </a:rPr>
              <a:t>F0/pitch </a:t>
            </a:r>
            <a:endParaRPr lang="en-US" dirty="0">
              <a:solidFill>
                <a:schemeClr val="accent1">
                  <a:lumMod val="76000"/>
                </a:schemeClr>
              </a:solidFill>
              <a:latin typeface="Arial"/>
              <a:ea typeface="+mn-lt"/>
              <a:cs typeface="Arial"/>
            </a:endParaRPr>
          </a:p>
          <a:p>
            <a:pPr marL="342900" indent="-342900">
              <a:buFont typeface="Calibri"/>
              <a:buChar char="-"/>
            </a:pPr>
            <a:r>
              <a:rPr lang="en-US" sz="2400" dirty="0" err="1">
                <a:latin typeface="Arial"/>
                <a:ea typeface="+mn-lt"/>
                <a:cs typeface="Arial"/>
              </a:rPr>
              <a:t>Висина</a:t>
            </a:r>
            <a:r>
              <a:rPr lang="en-US" sz="2400" dirty="0">
                <a:latin typeface="Arial"/>
                <a:ea typeface="+mn-lt"/>
                <a:cs typeface="Arial"/>
              </a:rPr>
              <a:t> </a:t>
            </a:r>
            <a:r>
              <a:rPr lang="en-US" sz="2400" dirty="0" err="1">
                <a:latin typeface="Arial"/>
                <a:ea typeface="+mn-lt"/>
                <a:cs typeface="Arial"/>
              </a:rPr>
              <a:t>гласа</a:t>
            </a:r>
            <a:r>
              <a:rPr lang="en-US" sz="2400" dirty="0">
                <a:latin typeface="Arial"/>
                <a:ea typeface="+mn-lt"/>
                <a:cs typeface="Arial"/>
              </a:rPr>
              <a:t> и </a:t>
            </a:r>
            <a:r>
              <a:rPr lang="en-US" sz="2400" dirty="0" err="1">
                <a:latin typeface="Arial"/>
                <a:ea typeface="+mn-lt"/>
                <a:cs typeface="Arial"/>
              </a:rPr>
              <a:t>мелодија</a:t>
            </a:r>
            <a:r>
              <a:rPr lang="en-US" sz="2400" dirty="0">
                <a:latin typeface="Arial"/>
                <a:ea typeface="+mn-lt"/>
                <a:cs typeface="Arial"/>
              </a:rPr>
              <a:t> </a:t>
            </a:r>
            <a:r>
              <a:rPr lang="en-US" sz="2400" dirty="0" err="1">
                <a:latin typeface="Arial"/>
                <a:ea typeface="+mn-lt"/>
                <a:cs typeface="Arial"/>
              </a:rPr>
              <a:t>реченице</a:t>
            </a:r>
            <a:r>
              <a:rPr lang="en-US" sz="2400" dirty="0">
                <a:latin typeface="Arial"/>
                <a:ea typeface="+mn-lt"/>
                <a:cs typeface="Arial"/>
              </a:rPr>
              <a:t>. </a:t>
            </a:r>
            <a:endParaRPr lang="en-US">
              <a:latin typeface="Arial"/>
              <a:ea typeface="+mn-lt"/>
              <a:cs typeface="Arial"/>
            </a:endParaRPr>
          </a:p>
          <a:p>
            <a:r>
              <a:rPr lang="en-US" sz="2400" dirty="0" err="1">
                <a:solidFill>
                  <a:schemeClr val="accent1">
                    <a:lumMod val="76000"/>
                  </a:schemeClr>
                </a:solidFill>
                <a:latin typeface="Arial"/>
                <a:ea typeface="+mn-lt"/>
                <a:cs typeface="Arial"/>
              </a:rPr>
              <a:t>Енергија</a:t>
            </a:r>
            <a:r>
              <a:rPr lang="en-US" sz="2400" dirty="0">
                <a:solidFill>
                  <a:schemeClr val="accent1">
                    <a:lumMod val="76000"/>
                  </a:schemeClr>
                </a:solidFill>
                <a:latin typeface="Arial"/>
                <a:ea typeface="+mn-lt"/>
                <a:cs typeface="Arial"/>
              </a:rPr>
              <a:t> </a:t>
            </a:r>
            <a:endParaRPr lang="en-US" dirty="0">
              <a:solidFill>
                <a:schemeClr val="accent1">
                  <a:lumMod val="76000"/>
                </a:schemeClr>
              </a:solidFill>
              <a:latin typeface="Arial"/>
              <a:ea typeface="+mn-lt"/>
              <a:cs typeface="Arial"/>
            </a:endParaRPr>
          </a:p>
          <a:p>
            <a:pPr marL="342900" indent="-342900">
              <a:buFont typeface="Calibri"/>
              <a:buChar char="-"/>
            </a:pPr>
            <a:r>
              <a:rPr lang="en-US" sz="2400" dirty="0" err="1">
                <a:latin typeface="Arial"/>
                <a:ea typeface="+mn-lt"/>
                <a:cs typeface="Arial"/>
              </a:rPr>
              <a:t>Јачина</a:t>
            </a:r>
            <a:r>
              <a:rPr lang="en-US" sz="2400" dirty="0">
                <a:latin typeface="Arial"/>
                <a:ea typeface="+mn-lt"/>
                <a:cs typeface="Arial"/>
              </a:rPr>
              <a:t>, </a:t>
            </a:r>
            <a:r>
              <a:rPr lang="en-US" sz="2400" dirty="0" err="1">
                <a:latin typeface="Arial"/>
                <a:ea typeface="+mn-lt"/>
                <a:cs typeface="Arial"/>
              </a:rPr>
              <a:t>нагласак</a:t>
            </a:r>
            <a:r>
              <a:rPr lang="en-US" sz="2400" dirty="0">
                <a:latin typeface="Arial"/>
                <a:ea typeface="+mn-lt"/>
                <a:cs typeface="Arial"/>
              </a:rPr>
              <a:t> и </a:t>
            </a:r>
            <a:r>
              <a:rPr lang="en-US" sz="2400" dirty="0" err="1">
                <a:latin typeface="Arial"/>
                <a:ea typeface="+mn-lt"/>
                <a:cs typeface="Arial"/>
              </a:rPr>
              <a:t>истакнуте</a:t>
            </a:r>
            <a:r>
              <a:rPr lang="en-US" sz="2400" dirty="0">
                <a:latin typeface="Arial"/>
                <a:ea typeface="+mn-lt"/>
                <a:cs typeface="Arial"/>
              </a:rPr>
              <a:t> </a:t>
            </a:r>
            <a:r>
              <a:rPr lang="en-US" sz="2400" dirty="0" err="1">
                <a:latin typeface="Arial"/>
                <a:ea typeface="+mn-lt"/>
                <a:cs typeface="Arial"/>
              </a:rPr>
              <a:t>речи</a:t>
            </a:r>
            <a:r>
              <a:rPr lang="en-US" sz="2400" dirty="0">
                <a:latin typeface="Arial"/>
                <a:ea typeface="+mn-lt"/>
                <a:cs typeface="Arial"/>
              </a:rPr>
              <a:t>. </a:t>
            </a:r>
            <a:endParaRPr lang="en-US">
              <a:latin typeface="Arial"/>
              <a:ea typeface="+mn-lt"/>
              <a:cs typeface="Arial"/>
            </a:endParaRPr>
          </a:p>
          <a:p>
            <a:r>
              <a:rPr lang="en-US" sz="2400" dirty="0" err="1">
                <a:solidFill>
                  <a:schemeClr val="accent1">
                    <a:lumMod val="76000"/>
                  </a:schemeClr>
                </a:solidFill>
                <a:latin typeface="Arial"/>
                <a:ea typeface="+mn-lt"/>
                <a:cs typeface="Arial"/>
              </a:rPr>
              <a:t>Трајање</a:t>
            </a:r>
            <a:r>
              <a:rPr lang="en-US" sz="2400" dirty="0">
                <a:solidFill>
                  <a:schemeClr val="accent1">
                    <a:lumMod val="76000"/>
                  </a:schemeClr>
                </a:solidFill>
                <a:latin typeface="Arial"/>
                <a:ea typeface="+mn-lt"/>
                <a:cs typeface="Arial"/>
              </a:rPr>
              <a:t> </a:t>
            </a:r>
            <a:endParaRPr lang="en-US" dirty="0">
              <a:solidFill>
                <a:schemeClr val="accent1">
                  <a:lumMod val="76000"/>
                </a:schemeClr>
              </a:solidFill>
              <a:latin typeface="Arial"/>
              <a:ea typeface="+mn-lt"/>
              <a:cs typeface="Arial"/>
            </a:endParaRPr>
          </a:p>
          <a:p>
            <a:pPr marL="342900" indent="-342900">
              <a:buFont typeface="Calibri"/>
              <a:buChar char="-"/>
            </a:pPr>
            <a:r>
              <a:rPr lang="en-US" sz="2400" dirty="0" err="1">
                <a:latin typeface="Arial"/>
                <a:ea typeface="+mn-lt"/>
                <a:cs typeface="Arial"/>
              </a:rPr>
              <a:t>Ритам</a:t>
            </a:r>
            <a:r>
              <a:rPr lang="en-US" sz="2400" dirty="0">
                <a:latin typeface="Arial"/>
                <a:ea typeface="+mn-lt"/>
                <a:cs typeface="Arial"/>
              </a:rPr>
              <a:t>, </a:t>
            </a:r>
            <a:r>
              <a:rPr lang="en-US" sz="2400" dirty="0" err="1">
                <a:latin typeface="Arial"/>
                <a:ea typeface="+mn-lt"/>
                <a:cs typeface="Arial"/>
              </a:rPr>
              <a:t>темпо</a:t>
            </a:r>
            <a:r>
              <a:rPr lang="en-US" sz="2400" dirty="0">
                <a:latin typeface="Arial"/>
                <a:ea typeface="+mn-lt"/>
                <a:cs typeface="Arial"/>
              </a:rPr>
              <a:t> и </a:t>
            </a:r>
            <a:r>
              <a:rPr lang="en-US" sz="2400" dirty="0" err="1">
                <a:latin typeface="Arial"/>
                <a:ea typeface="+mn-lt"/>
                <a:cs typeface="Arial"/>
              </a:rPr>
              <a:t>дужина</a:t>
            </a:r>
            <a:r>
              <a:rPr lang="en-US" sz="2400" dirty="0">
                <a:latin typeface="Arial"/>
                <a:ea typeface="+mn-lt"/>
                <a:cs typeface="Arial"/>
              </a:rPr>
              <a:t> </a:t>
            </a:r>
            <a:r>
              <a:rPr lang="en-US" sz="2400" dirty="0" err="1">
                <a:latin typeface="Arial"/>
                <a:ea typeface="+mn-lt"/>
                <a:cs typeface="Arial"/>
              </a:rPr>
              <a:t>гласова</a:t>
            </a:r>
            <a:r>
              <a:rPr lang="en-US" sz="2400" dirty="0">
                <a:latin typeface="Arial"/>
                <a:ea typeface="+mn-lt"/>
                <a:cs typeface="Arial"/>
              </a:rPr>
              <a:t>. </a:t>
            </a:r>
            <a:endParaRPr lang="en-US">
              <a:latin typeface="Arial"/>
              <a:ea typeface="+mn-lt"/>
              <a:cs typeface="Arial"/>
            </a:endParaRPr>
          </a:p>
          <a:p>
            <a:r>
              <a:rPr lang="en-US" sz="2400" dirty="0" err="1">
                <a:solidFill>
                  <a:schemeClr val="accent1">
                    <a:lumMod val="76000"/>
                  </a:schemeClr>
                </a:solidFill>
                <a:latin typeface="Arial"/>
                <a:ea typeface="+mn-lt"/>
                <a:cs typeface="Arial"/>
              </a:rPr>
              <a:t>Паузе</a:t>
            </a:r>
            <a:r>
              <a:rPr lang="en-US" sz="2400" dirty="0">
                <a:solidFill>
                  <a:schemeClr val="accent1">
                    <a:lumMod val="76000"/>
                  </a:schemeClr>
                </a:solidFill>
                <a:latin typeface="Arial"/>
                <a:ea typeface="+mn-lt"/>
                <a:cs typeface="Arial"/>
              </a:rPr>
              <a:t> </a:t>
            </a:r>
            <a:endParaRPr lang="en-US" dirty="0">
              <a:solidFill>
                <a:schemeClr val="accent1">
                  <a:lumMod val="76000"/>
                </a:schemeClr>
              </a:solidFill>
              <a:latin typeface="Arial"/>
              <a:ea typeface="+mn-lt"/>
              <a:cs typeface="Arial"/>
            </a:endParaRPr>
          </a:p>
          <a:p>
            <a:pPr marL="342900" indent="-342900">
              <a:buFont typeface="Calibri"/>
              <a:buChar char="-"/>
            </a:pPr>
            <a:r>
              <a:rPr lang="en-US" sz="2400" dirty="0" err="1">
                <a:latin typeface="Arial"/>
                <a:ea typeface="+mn-lt"/>
                <a:cs typeface="Arial"/>
              </a:rPr>
              <a:t>Фразирање</a:t>
            </a:r>
            <a:r>
              <a:rPr lang="en-US" sz="2400" dirty="0">
                <a:latin typeface="Arial"/>
                <a:ea typeface="+mn-lt"/>
                <a:cs typeface="Arial"/>
              </a:rPr>
              <a:t> и </a:t>
            </a:r>
            <a:r>
              <a:rPr lang="en-US" sz="2400" dirty="0" err="1">
                <a:latin typeface="Arial"/>
                <a:ea typeface="+mn-lt"/>
                <a:cs typeface="Arial"/>
              </a:rPr>
              <a:t>раздвајање</a:t>
            </a:r>
            <a:r>
              <a:rPr lang="en-US" sz="2400" dirty="0">
                <a:latin typeface="Arial"/>
                <a:ea typeface="+mn-lt"/>
                <a:cs typeface="Arial"/>
              </a:rPr>
              <a:t> </a:t>
            </a:r>
            <a:r>
              <a:rPr lang="en-US" sz="2400" dirty="0" err="1">
                <a:latin typeface="Arial"/>
                <a:ea typeface="+mn-lt"/>
                <a:cs typeface="Arial"/>
              </a:rPr>
              <a:t>целина</a:t>
            </a:r>
            <a:r>
              <a:rPr lang="en-US" sz="2400" dirty="0">
                <a:latin typeface="Arial"/>
                <a:ea typeface="+mn-lt"/>
                <a:cs typeface="Arial"/>
              </a:rPr>
              <a:t>.</a:t>
            </a:r>
            <a:endParaRPr lang="en-US">
              <a:latin typeface="Arial"/>
              <a:cs typeface="Arial"/>
            </a:endParaRPr>
          </a:p>
        </p:txBody>
      </p:sp>
    </p:spTree>
    <p:extLst>
      <p:ext uri="{BB962C8B-B14F-4D97-AF65-F5344CB8AC3E}">
        <p14:creationId xmlns:p14="http://schemas.microsoft.com/office/powerpoint/2010/main" val="1579914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1FE7F-D5EF-3F1A-96FF-2A375410605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3F3246D-2EFD-B360-9B28-212F67B78EF5}"/>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486A75-3558-E79C-1878-675133C8F62A}"/>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6BF950F-244F-6C6E-C941-FD2D7FD50405}"/>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93AB116-389B-1987-FCFD-108921A1CD35}"/>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F7E838F-128F-7B30-1C6E-044C8FD83B89}"/>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602BAC-5533-DF39-EA6B-87EB4A56DD3B}"/>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60FED6D-1958-2F15-606C-670AB989DC3E}"/>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79DCDD9-3B2C-405D-337D-1BCCCED07E38}"/>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Евалуација</a:t>
            </a:r>
            <a:endParaRPr lang="en-US" b="1">
              <a:solidFill>
                <a:schemeClr val="bg1"/>
              </a:solidFill>
            </a:endParaRPr>
          </a:p>
        </p:txBody>
      </p:sp>
      <p:sp>
        <p:nvSpPr>
          <p:cNvPr id="2" name="TextBox 1">
            <a:extLst>
              <a:ext uri="{FF2B5EF4-FFF2-40B4-BE49-F238E27FC236}">
                <a16:creationId xmlns:a16="http://schemas.microsoft.com/office/drawing/2014/main" id="{190EAD37-CBF5-6BAC-923A-499BAACD9CF1}"/>
              </a:ext>
            </a:extLst>
          </p:cNvPr>
          <p:cNvSpPr txBox="1"/>
          <p:nvPr/>
        </p:nvSpPr>
        <p:spPr>
          <a:xfrm>
            <a:off x="714371" y="1586919"/>
            <a:ext cx="725600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Како </a:t>
            </a:r>
            <a:r>
              <a:rPr lang="en-US" sz="2400" dirty="0" err="1">
                <a:latin typeface="Arial"/>
                <a:ea typeface="+mn-lt"/>
                <a:cs typeface="Arial"/>
              </a:rPr>
              <a:t>меримо</a:t>
            </a:r>
            <a:r>
              <a:rPr lang="en-US" sz="2400" dirty="0">
                <a:latin typeface="Arial"/>
                <a:ea typeface="+mn-lt"/>
                <a:cs typeface="Arial"/>
              </a:rPr>
              <a:t> </a:t>
            </a:r>
            <a:r>
              <a:rPr lang="en-US" sz="2400" dirty="0" err="1">
                <a:latin typeface="Arial"/>
                <a:ea typeface="+mn-lt"/>
                <a:cs typeface="Arial"/>
              </a:rPr>
              <a:t>квалитет</a:t>
            </a:r>
            <a:r>
              <a:rPr lang="en-US" sz="2400" dirty="0">
                <a:latin typeface="Arial"/>
                <a:ea typeface="+mn-lt"/>
                <a:cs typeface="Arial"/>
              </a:rPr>
              <a:t>?</a:t>
            </a:r>
          </a:p>
          <a:p>
            <a:endParaRPr lang="en-US" sz="2400" dirty="0">
              <a:latin typeface="Arial"/>
              <a:ea typeface="Calibri"/>
              <a:cs typeface="Arial"/>
            </a:endParaRPr>
          </a:p>
          <a:p>
            <a:r>
              <a:rPr lang="en-US" sz="2400" dirty="0" err="1">
                <a:solidFill>
                  <a:srgbClr val="C00000"/>
                </a:solidFill>
                <a:latin typeface="Arial"/>
                <a:ea typeface="+mn-lt"/>
                <a:cs typeface="Arial"/>
              </a:rPr>
              <a:t>Ефикасност</a:t>
            </a:r>
            <a:endParaRPr lang="en-US" sz="2400">
              <a:solidFill>
                <a:srgbClr val="C00000"/>
              </a:solidFill>
              <a:latin typeface="Arial"/>
              <a:ea typeface="+mn-lt"/>
              <a:cs typeface="Arial"/>
            </a:endParaRPr>
          </a:p>
          <a:p>
            <a:pPr marL="285750" indent="-285750">
              <a:buFont typeface="Calibri"/>
              <a:buChar char="-"/>
            </a:pPr>
            <a:r>
              <a:rPr lang="en-US" sz="2400" dirty="0" err="1">
                <a:latin typeface="Arial"/>
                <a:ea typeface="+mn-lt"/>
                <a:cs typeface="Arial"/>
              </a:rPr>
              <a:t>Време</a:t>
            </a:r>
            <a:r>
              <a:rPr lang="en-US" sz="2400" dirty="0">
                <a:latin typeface="Arial"/>
                <a:ea typeface="+mn-lt"/>
                <a:cs typeface="Arial"/>
              </a:rPr>
              <a:t> и RTF.</a:t>
            </a:r>
          </a:p>
          <a:p>
            <a:r>
              <a:rPr lang="en-US" sz="2400" dirty="0" err="1">
                <a:solidFill>
                  <a:srgbClr val="C00000"/>
                </a:solidFill>
                <a:latin typeface="Arial"/>
                <a:ea typeface="+mn-lt"/>
                <a:cs typeface="Arial"/>
              </a:rPr>
              <a:t>Сигнал</a:t>
            </a:r>
            <a:endParaRPr lang="en-US" sz="2400">
              <a:solidFill>
                <a:srgbClr val="C00000"/>
              </a:solidFill>
              <a:latin typeface="Arial"/>
              <a:ea typeface="+mn-lt"/>
              <a:cs typeface="Arial"/>
            </a:endParaRPr>
          </a:p>
          <a:p>
            <a:pPr marL="285750" indent="-285750">
              <a:buFont typeface="Calibri"/>
              <a:buChar char="-"/>
            </a:pPr>
            <a:r>
              <a:rPr lang="en-US" sz="2400">
                <a:latin typeface="Arial"/>
                <a:ea typeface="+mn-lt"/>
                <a:cs typeface="Arial"/>
              </a:rPr>
              <a:t>RMS, ZCR, centroid и pitch.</a:t>
            </a:r>
            <a:endParaRPr lang="en-US" sz="2400" dirty="0">
              <a:latin typeface="Arial"/>
              <a:ea typeface="+mn-lt"/>
              <a:cs typeface="Arial"/>
            </a:endParaRPr>
          </a:p>
          <a:p>
            <a:r>
              <a:rPr lang="en-US" sz="2400" dirty="0" err="1">
                <a:solidFill>
                  <a:srgbClr val="C00000"/>
                </a:solidFill>
                <a:latin typeface="Arial"/>
                <a:ea typeface="+mn-lt"/>
                <a:cs typeface="Arial"/>
              </a:rPr>
              <a:t>Перцепција</a:t>
            </a:r>
            <a:endParaRPr lang="en-US" sz="2400">
              <a:solidFill>
                <a:srgbClr val="C00000"/>
              </a:solidFill>
              <a:latin typeface="Arial"/>
              <a:ea typeface="+mn-lt"/>
              <a:cs typeface="Arial"/>
            </a:endParaRPr>
          </a:p>
          <a:p>
            <a:pPr marL="285750" indent="-285750">
              <a:buFont typeface="Calibri"/>
              <a:buChar char="-"/>
            </a:pPr>
            <a:r>
              <a:rPr lang="en-US" sz="2400" dirty="0" err="1">
                <a:latin typeface="Arial"/>
                <a:ea typeface="+mn-lt"/>
                <a:cs typeface="Arial"/>
              </a:rPr>
              <a:t>Природност</a:t>
            </a:r>
            <a:r>
              <a:rPr lang="en-US" sz="2400" dirty="0">
                <a:latin typeface="Arial"/>
                <a:ea typeface="+mn-lt"/>
                <a:cs typeface="Arial"/>
              </a:rPr>
              <a:t>, </a:t>
            </a:r>
            <a:r>
              <a:rPr lang="en-US" sz="2400" dirty="0" err="1">
                <a:latin typeface="Arial"/>
                <a:ea typeface="+mn-lt"/>
                <a:cs typeface="Arial"/>
              </a:rPr>
              <a:t>разумљивост</a:t>
            </a:r>
            <a:r>
              <a:rPr lang="en-US" sz="2400" dirty="0">
                <a:latin typeface="Arial"/>
                <a:ea typeface="+mn-lt"/>
                <a:cs typeface="Arial"/>
              </a:rPr>
              <a:t> и </a:t>
            </a:r>
            <a:r>
              <a:rPr lang="en-US" sz="2400" dirty="0" err="1">
                <a:latin typeface="Arial"/>
                <a:ea typeface="+mn-lt"/>
                <a:cs typeface="Arial"/>
              </a:rPr>
              <a:t>грешке</a:t>
            </a:r>
            <a:r>
              <a:rPr lang="en-US" sz="2400" dirty="0">
                <a:latin typeface="Arial"/>
                <a:ea typeface="+mn-lt"/>
                <a:cs typeface="Arial"/>
              </a:rPr>
              <a:t>.</a:t>
            </a:r>
          </a:p>
          <a:p>
            <a:pPr marL="285750" indent="-285750">
              <a:buFont typeface="Calibri"/>
              <a:buChar char="-"/>
            </a:pPr>
            <a:endParaRPr lang="en-US" sz="2400" dirty="0">
              <a:latin typeface="Arial"/>
              <a:ea typeface="Calibri"/>
              <a:cs typeface="Arial"/>
            </a:endParaRPr>
          </a:p>
          <a:p>
            <a:r>
              <a:rPr lang="en-US" sz="2400" dirty="0" err="1">
                <a:latin typeface="Arial"/>
                <a:ea typeface="+mn-lt"/>
                <a:cs typeface="Arial"/>
              </a:rPr>
              <a:t>Квалитет</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a:t>
            </a:r>
            <a:r>
              <a:rPr lang="en-US" sz="2400" dirty="0" err="1">
                <a:latin typeface="Arial"/>
                <a:ea typeface="+mn-lt"/>
                <a:cs typeface="Arial"/>
              </a:rPr>
              <a:t>овде</a:t>
            </a:r>
            <a:r>
              <a:rPr lang="en-US" sz="2400" dirty="0">
                <a:latin typeface="Arial"/>
                <a:ea typeface="+mn-lt"/>
                <a:cs typeface="Arial"/>
              </a:rPr>
              <a:t> </a:t>
            </a:r>
            <a:r>
              <a:rPr lang="en-US" sz="2400" dirty="0" err="1">
                <a:latin typeface="Arial"/>
                <a:ea typeface="+mn-lt"/>
                <a:cs typeface="Arial"/>
              </a:rPr>
              <a:t>посматран</a:t>
            </a:r>
            <a:r>
              <a:rPr lang="en-US" sz="2400" dirty="0">
                <a:latin typeface="Arial"/>
                <a:ea typeface="+mn-lt"/>
                <a:cs typeface="Arial"/>
              </a:rPr>
              <a:t> </a:t>
            </a:r>
            <a:r>
              <a:rPr lang="en-US" sz="2400" dirty="0" err="1">
                <a:latin typeface="Arial"/>
                <a:ea typeface="+mn-lt"/>
                <a:cs typeface="Arial"/>
              </a:rPr>
              <a:t>из</a:t>
            </a:r>
            <a:r>
              <a:rPr lang="en-US" sz="2400" dirty="0">
                <a:latin typeface="Arial"/>
                <a:ea typeface="+mn-lt"/>
                <a:cs typeface="Arial"/>
              </a:rPr>
              <a:t> </a:t>
            </a:r>
            <a:r>
              <a:rPr lang="en-US" sz="2400" dirty="0" err="1">
                <a:latin typeface="Arial"/>
                <a:ea typeface="+mn-lt"/>
                <a:cs typeface="Arial"/>
              </a:rPr>
              <a:t>више</a:t>
            </a:r>
            <a:r>
              <a:rPr lang="en-US" sz="2400" dirty="0">
                <a:latin typeface="Arial"/>
                <a:ea typeface="+mn-lt"/>
                <a:cs typeface="Arial"/>
              </a:rPr>
              <a:t> </a:t>
            </a:r>
            <a:r>
              <a:rPr lang="en-US" sz="2400" dirty="0" err="1">
                <a:latin typeface="Arial"/>
                <a:ea typeface="+mn-lt"/>
                <a:cs typeface="Arial"/>
              </a:rPr>
              <a:t>углова</a:t>
            </a:r>
            <a:r>
              <a:rPr lang="en-US" sz="2400" dirty="0">
                <a:latin typeface="Arial"/>
                <a:ea typeface="+mn-lt"/>
                <a:cs typeface="Arial"/>
              </a:rPr>
              <a:t>, </a:t>
            </a:r>
            <a:r>
              <a:rPr lang="en-US" sz="2400" dirty="0" err="1">
                <a:latin typeface="Arial"/>
                <a:ea typeface="+mn-lt"/>
                <a:cs typeface="Arial"/>
              </a:rPr>
              <a:t>јер</a:t>
            </a:r>
            <a:r>
              <a:rPr lang="en-US" sz="2400" dirty="0">
                <a:latin typeface="Arial"/>
                <a:ea typeface="+mn-lt"/>
                <a:cs typeface="Arial"/>
              </a:rPr>
              <a:t> </a:t>
            </a:r>
            <a:r>
              <a:rPr lang="en-US" sz="2400" dirty="0" err="1">
                <a:latin typeface="Arial"/>
                <a:ea typeface="+mn-lt"/>
                <a:cs typeface="Arial"/>
              </a:rPr>
              <a:t>брз</a:t>
            </a:r>
            <a:r>
              <a:rPr lang="en-US" sz="2400" dirty="0">
                <a:latin typeface="Arial"/>
                <a:ea typeface="+mn-lt"/>
                <a:cs typeface="Arial"/>
              </a:rPr>
              <a:t>, </a:t>
            </a:r>
            <a:r>
              <a:rPr lang="en-US" sz="2400" dirty="0" err="1">
                <a:latin typeface="Arial"/>
                <a:ea typeface="+mn-lt"/>
                <a:cs typeface="Arial"/>
              </a:rPr>
              <a:t>али</a:t>
            </a:r>
            <a:r>
              <a:rPr lang="en-US" sz="2400" dirty="0">
                <a:latin typeface="Arial"/>
                <a:ea typeface="+mn-lt"/>
                <a:cs typeface="Arial"/>
              </a:rPr>
              <a:t> </a:t>
            </a:r>
            <a:r>
              <a:rPr lang="en-US" sz="2400" dirty="0" err="1">
                <a:latin typeface="Arial"/>
                <a:ea typeface="+mn-lt"/>
                <a:cs typeface="Arial"/>
              </a:rPr>
              <a:t>неприродан</a:t>
            </a:r>
            <a:r>
              <a:rPr lang="en-US" sz="2400" dirty="0">
                <a:latin typeface="Arial"/>
                <a:ea typeface="+mn-lt"/>
                <a:cs typeface="Arial"/>
              </a:rPr>
              <a:t> </a:t>
            </a:r>
            <a:r>
              <a:rPr lang="en-US" sz="2400" dirty="0" err="1">
                <a:latin typeface="Arial"/>
                <a:ea typeface="+mn-lt"/>
                <a:cs typeface="Arial"/>
              </a:rPr>
              <a:t>говор</a:t>
            </a:r>
            <a:r>
              <a:rPr lang="en-US" sz="2400" dirty="0">
                <a:latin typeface="Arial"/>
                <a:ea typeface="+mn-lt"/>
                <a:cs typeface="Arial"/>
              </a:rPr>
              <a:t> </a:t>
            </a:r>
            <a:r>
              <a:rPr lang="en-US" sz="2400" dirty="0" err="1">
                <a:latin typeface="Arial"/>
                <a:ea typeface="+mn-lt"/>
                <a:cs typeface="Arial"/>
              </a:rPr>
              <a:t>није</a:t>
            </a:r>
            <a:r>
              <a:rPr lang="en-US" sz="2400" dirty="0">
                <a:latin typeface="Arial"/>
                <a:ea typeface="+mn-lt"/>
                <a:cs typeface="Arial"/>
              </a:rPr>
              <a:t> </a:t>
            </a:r>
            <a:r>
              <a:rPr lang="en-US" sz="2400" dirty="0" err="1">
                <a:latin typeface="Arial"/>
                <a:ea typeface="+mn-lt"/>
                <a:cs typeface="Arial"/>
              </a:rPr>
              <a:t>довољан</a:t>
            </a:r>
            <a:r>
              <a:rPr lang="en-US" sz="2400" dirty="0">
                <a:latin typeface="Arial"/>
                <a:ea typeface="+mn-lt"/>
                <a:cs typeface="Arial"/>
              </a:rPr>
              <a:t>.</a:t>
            </a:r>
            <a:endParaRPr lang="en-US" dirty="0">
              <a:latin typeface="Arial"/>
              <a:ea typeface="+mn-lt"/>
              <a:cs typeface="Arial"/>
            </a:endParaRPr>
          </a:p>
        </p:txBody>
      </p:sp>
    </p:spTree>
    <p:extLst>
      <p:ext uri="{BB962C8B-B14F-4D97-AF65-F5344CB8AC3E}">
        <p14:creationId xmlns:p14="http://schemas.microsoft.com/office/powerpoint/2010/main" val="33263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18F56-CEEA-1261-5AFA-44EB8C44BE3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A4BDBAD-D39F-1C08-A2E8-F4CCFAC0FCD2}"/>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69ED0DB-C141-695D-2A30-61B8F5E5FF90}"/>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794A01F-F476-673A-7920-517614F9C7AB}"/>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245965B-4CF2-F667-E6B2-9E42D134B72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7FFBAA-5900-DF1B-16CF-636F13AD9CA7}"/>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34B7B7-C2C5-8E9E-145D-E862415F9BAD}"/>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C070F5B-0016-1FEB-85E2-E4F417F24642}"/>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BF459E4-A639-7313-94B6-670F4490DAE9}"/>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Ефикасност RTF</a:t>
            </a:r>
            <a:endParaRPr lang="en-US" b="1">
              <a:solidFill>
                <a:schemeClr val="bg1"/>
              </a:solidFill>
            </a:endParaRPr>
          </a:p>
        </p:txBody>
      </p:sp>
      <p:sp>
        <p:nvSpPr>
          <p:cNvPr id="2" name="TextBox 1">
            <a:extLst>
              <a:ext uri="{FF2B5EF4-FFF2-40B4-BE49-F238E27FC236}">
                <a16:creationId xmlns:a16="http://schemas.microsoft.com/office/drawing/2014/main" id="{0AE0D2B2-F793-591F-71DF-B8A0089ACB08}"/>
              </a:ext>
            </a:extLst>
          </p:cNvPr>
          <p:cNvSpPr txBox="1"/>
          <p:nvPr/>
        </p:nvSpPr>
        <p:spPr>
          <a:xfrm>
            <a:off x="714371" y="1586919"/>
            <a:ext cx="7196801"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ea typeface="+mn-lt"/>
                <a:cs typeface="Arial"/>
              </a:rPr>
              <a:t>RTF (Real-time factor)</a:t>
            </a:r>
            <a:endParaRPr lang="en-US" sz="2400" dirty="0">
              <a:latin typeface="Arial"/>
              <a:ea typeface="+mn-lt"/>
              <a:cs typeface="Arial"/>
            </a:endParaRPr>
          </a:p>
          <a:p>
            <a:endParaRPr lang="en-US" sz="2400" dirty="0">
              <a:latin typeface="Arial"/>
              <a:ea typeface="Calibri"/>
              <a:cs typeface="Arial"/>
            </a:endParaRPr>
          </a:p>
          <a:p>
            <a:r>
              <a:rPr lang="en-US" sz="2400" dirty="0">
                <a:solidFill>
                  <a:schemeClr val="accent1"/>
                </a:solidFill>
                <a:latin typeface="Arial"/>
                <a:ea typeface="+mn-lt"/>
                <a:cs typeface="Arial"/>
              </a:rPr>
              <a:t>RTF = </a:t>
            </a:r>
            <a:r>
              <a:rPr lang="en-US" sz="2400" dirty="0" err="1">
                <a:solidFill>
                  <a:schemeClr val="accent1"/>
                </a:solidFill>
                <a:latin typeface="Arial"/>
                <a:ea typeface="+mn-lt"/>
                <a:cs typeface="Arial"/>
              </a:rPr>
              <a:t>време</a:t>
            </a:r>
            <a:r>
              <a:rPr lang="en-US" sz="2400" dirty="0">
                <a:solidFill>
                  <a:schemeClr val="accent1"/>
                </a:solidFill>
                <a:latin typeface="Arial"/>
                <a:ea typeface="+mn-lt"/>
                <a:cs typeface="Arial"/>
              </a:rPr>
              <a:t> </a:t>
            </a:r>
            <a:r>
              <a:rPr lang="en-US" sz="2400" dirty="0" err="1">
                <a:solidFill>
                  <a:schemeClr val="accent1"/>
                </a:solidFill>
                <a:latin typeface="Arial"/>
                <a:ea typeface="+mn-lt"/>
                <a:cs typeface="Arial"/>
              </a:rPr>
              <a:t>синтезе</a:t>
            </a:r>
            <a:r>
              <a:rPr lang="en-US" sz="2400" dirty="0">
                <a:solidFill>
                  <a:schemeClr val="accent1"/>
                </a:solidFill>
                <a:latin typeface="Arial"/>
                <a:ea typeface="+mn-lt"/>
                <a:cs typeface="Arial"/>
              </a:rPr>
              <a:t> / </a:t>
            </a:r>
            <a:r>
              <a:rPr lang="en-US" sz="2400" dirty="0" err="1">
                <a:solidFill>
                  <a:schemeClr val="accent1"/>
                </a:solidFill>
                <a:latin typeface="Arial"/>
                <a:ea typeface="+mn-lt"/>
                <a:cs typeface="Arial"/>
              </a:rPr>
              <a:t>трајање</a:t>
            </a:r>
            <a:r>
              <a:rPr lang="en-US" sz="2400" dirty="0">
                <a:solidFill>
                  <a:schemeClr val="accent1"/>
                </a:solidFill>
                <a:latin typeface="Arial"/>
                <a:ea typeface="+mn-lt"/>
                <a:cs typeface="Arial"/>
              </a:rPr>
              <a:t> </a:t>
            </a:r>
            <a:r>
              <a:rPr lang="en-US" sz="2400" dirty="0" err="1">
                <a:solidFill>
                  <a:schemeClr val="accent1"/>
                </a:solidFill>
                <a:latin typeface="Arial"/>
                <a:ea typeface="+mn-lt"/>
                <a:cs typeface="Arial"/>
              </a:rPr>
              <a:t>аудио-сигнала</a:t>
            </a:r>
            <a:endParaRPr lang="en-US" sz="2400">
              <a:solidFill>
                <a:schemeClr val="accent1"/>
              </a:solidFill>
              <a:latin typeface="Arial"/>
              <a:ea typeface="+mn-lt"/>
              <a:cs typeface="Arial"/>
            </a:endParaRPr>
          </a:p>
          <a:p>
            <a:endParaRPr lang="en-US" sz="2400" dirty="0">
              <a:latin typeface="Arial"/>
              <a:ea typeface="Calibri"/>
              <a:cs typeface="Arial"/>
            </a:endParaRPr>
          </a:p>
          <a:p>
            <a:r>
              <a:rPr lang="en-US" sz="2400" dirty="0" err="1">
                <a:solidFill>
                  <a:srgbClr val="C00000"/>
                </a:solidFill>
                <a:latin typeface="Arial"/>
                <a:ea typeface="+mn-lt"/>
                <a:cs typeface="Arial"/>
              </a:rPr>
              <a:t>Мање</a:t>
            </a:r>
            <a:r>
              <a:rPr lang="en-US" sz="2400" dirty="0">
                <a:solidFill>
                  <a:srgbClr val="C00000"/>
                </a:solidFill>
                <a:latin typeface="Arial"/>
                <a:ea typeface="+mn-lt"/>
                <a:cs typeface="Arial"/>
              </a:rPr>
              <a:t> </a:t>
            </a:r>
            <a:r>
              <a:rPr lang="en-US" sz="2400" dirty="0" err="1">
                <a:solidFill>
                  <a:srgbClr val="C00000"/>
                </a:solidFill>
                <a:latin typeface="Arial"/>
                <a:ea typeface="+mn-lt"/>
                <a:cs typeface="Arial"/>
              </a:rPr>
              <a:t>од</a:t>
            </a:r>
            <a:r>
              <a:rPr lang="en-US" sz="2400" dirty="0">
                <a:solidFill>
                  <a:srgbClr val="C00000"/>
                </a:solidFill>
                <a:latin typeface="Arial"/>
                <a:ea typeface="+mn-lt"/>
                <a:cs typeface="Arial"/>
              </a:rPr>
              <a:t> 1:</a:t>
            </a:r>
            <a:endParaRPr lang="en-US" sz="2400">
              <a:solidFill>
                <a:srgbClr val="C00000"/>
              </a:solidFill>
              <a:latin typeface="Arial"/>
              <a:cs typeface="Arial"/>
            </a:endParaRPr>
          </a:p>
          <a:p>
            <a:pPr marL="285750" indent="-285750">
              <a:buFont typeface="Calibri"/>
              <a:buChar char="-"/>
            </a:pPr>
            <a:r>
              <a:rPr lang="en-US" sz="2400" dirty="0" err="1">
                <a:latin typeface="Arial"/>
                <a:ea typeface="+mn-lt"/>
                <a:cs typeface="Arial"/>
              </a:rPr>
              <a:t>брже</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реалног</a:t>
            </a:r>
            <a:r>
              <a:rPr lang="en-US" sz="2400" dirty="0">
                <a:latin typeface="Arial"/>
                <a:ea typeface="+mn-lt"/>
                <a:cs typeface="Arial"/>
              </a:rPr>
              <a:t> </a:t>
            </a:r>
            <a:r>
              <a:rPr lang="en-US" sz="2400" dirty="0" err="1">
                <a:latin typeface="Arial"/>
                <a:ea typeface="+mn-lt"/>
                <a:cs typeface="Arial"/>
              </a:rPr>
              <a:t>времена</a:t>
            </a:r>
            <a:endParaRPr lang="en-US" sz="2400">
              <a:latin typeface="Arial"/>
              <a:ea typeface="+mn-lt"/>
              <a:cs typeface="Arial"/>
            </a:endParaRPr>
          </a:p>
          <a:p>
            <a:r>
              <a:rPr lang="en-US" sz="2400" dirty="0" err="1">
                <a:solidFill>
                  <a:srgbClr val="C00000"/>
                </a:solidFill>
                <a:latin typeface="Arial"/>
                <a:ea typeface="+mn-lt"/>
                <a:cs typeface="Arial"/>
              </a:rPr>
              <a:t>Једнако</a:t>
            </a:r>
            <a:r>
              <a:rPr lang="en-US" sz="2400" dirty="0">
                <a:solidFill>
                  <a:srgbClr val="C00000"/>
                </a:solidFill>
                <a:latin typeface="Arial"/>
                <a:ea typeface="+mn-lt"/>
                <a:cs typeface="Arial"/>
              </a:rPr>
              <a:t> 1:</a:t>
            </a:r>
            <a:endParaRPr lang="en-US" sz="2400">
              <a:solidFill>
                <a:srgbClr val="C00000"/>
              </a:solidFill>
              <a:latin typeface="Arial"/>
              <a:cs typeface="Arial"/>
            </a:endParaRPr>
          </a:p>
          <a:p>
            <a:pPr marL="285750" indent="-285750">
              <a:buFont typeface="Calibri"/>
              <a:buChar char="-"/>
            </a:pPr>
            <a:r>
              <a:rPr lang="en-US" sz="2400" dirty="0" err="1">
                <a:latin typeface="Arial"/>
                <a:ea typeface="+mn-lt"/>
                <a:cs typeface="Arial"/>
              </a:rPr>
              <a:t>реално</a:t>
            </a:r>
            <a:r>
              <a:rPr lang="en-US" sz="2400" dirty="0">
                <a:latin typeface="Arial"/>
                <a:ea typeface="+mn-lt"/>
                <a:cs typeface="Arial"/>
              </a:rPr>
              <a:t> </a:t>
            </a:r>
            <a:r>
              <a:rPr lang="en-US" sz="2400" dirty="0" err="1">
                <a:latin typeface="Arial"/>
                <a:ea typeface="+mn-lt"/>
                <a:cs typeface="Arial"/>
              </a:rPr>
              <a:t>време</a:t>
            </a:r>
            <a:endParaRPr lang="en-US" sz="2400">
              <a:latin typeface="Arial"/>
              <a:ea typeface="+mn-lt"/>
              <a:cs typeface="Arial"/>
            </a:endParaRPr>
          </a:p>
          <a:p>
            <a:r>
              <a:rPr lang="en-US" sz="2400" dirty="0" err="1">
                <a:solidFill>
                  <a:srgbClr val="C00000"/>
                </a:solidFill>
                <a:latin typeface="Arial"/>
                <a:ea typeface="+mn-lt"/>
                <a:cs typeface="Arial"/>
              </a:rPr>
              <a:t>Веће</a:t>
            </a:r>
            <a:r>
              <a:rPr lang="en-US" sz="2400" dirty="0">
                <a:solidFill>
                  <a:srgbClr val="C00000"/>
                </a:solidFill>
                <a:latin typeface="Arial"/>
                <a:ea typeface="+mn-lt"/>
                <a:cs typeface="Arial"/>
              </a:rPr>
              <a:t> </a:t>
            </a:r>
            <a:r>
              <a:rPr lang="en-US" sz="2400" dirty="0" err="1">
                <a:solidFill>
                  <a:srgbClr val="C00000"/>
                </a:solidFill>
                <a:latin typeface="Arial"/>
                <a:ea typeface="+mn-lt"/>
                <a:cs typeface="Arial"/>
              </a:rPr>
              <a:t>од</a:t>
            </a:r>
            <a:r>
              <a:rPr lang="en-US" sz="2400" dirty="0">
                <a:solidFill>
                  <a:srgbClr val="C00000"/>
                </a:solidFill>
                <a:latin typeface="Arial"/>
                <a:ea typeface="+mn-lt"/>
                <a:cs typeface="Arial"/>
              </a:rPr>
              <a:t> 1:</a:t>
            </a:r>
          </a:p>
          <a:p>
            <a:pPr marL="285750" indent="-285750">
              <a:buFont typeface="Calibri"/>
              <a:buChar char="-"/>
            </a:pPr>
            <a:r>
              <a:rPr lang="en-US" sz="2400" dirty="0" err="1">
                <a:latin typeface="Arial"/>
                <a:ea typeface="+mn-lt"/>
                <a:cs typeface="Arial"/>
              </a:rPr>
              <a:t>спорије</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a:t>
            </a:r>
            <a:r>
              <a:rPr lang="en-US" sz="2400" dirty="0" err="1">
                <a:latin typeface="Arial"/>
                <a:ea typeface="+mn-lt"/>
                <a:cs typeface="Arial"/>
              </a:rPr>
              <a:t>реалног</a:t>
            </a:r>
            <a:r>
              <a:rPr lang="en-US" sz="2400" dirty="0">
                <a:latin typeface="Arial"/>
                <a:ea typeface="+mn-lt"/>
                <a:cs typeface="Arial"/>
              </a:rPr>
              <a:t> </a:t>
            </a:r>
            <a:r>
              <a:rPr lang="en-US" sz="2400" dirty="0" err="1">
                <a:latin typeface="Arial"/>
                <a:ea typeface="+mn-lt"/>
                <a:cs typeface="Arial"/>
              </a:rPr>
              <a:t>времена</a:t>
            </a:r>
            <a:endParaRPr lang="en-US" sz="2400" dirty="0">
              <a:latin typeface="Arial"/>
              <a:ea typeface="+mn-lt"/>
              <a:cs typeface="Arial"/>
            </a:endParaRPr>
          </a:p>
        </p:txBody>
      </p:sp>
    </p:spTree>
    <p:extLst>
      <p:ext uri="{BB962C8B-B14F-4D97-AF65-F5344CB8AC3E}">
        <p14:creationId xmlns:p14="http://schemas.microsoft.com/office/powerpoint/2010/main" val="2663043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7E6E8-76C7-03FA-AC46-19E753D62A3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E652B8-3BAB-07F0-3013-8E890AA4642E}"/>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896E3AC-CDA7-B198-91D8-8C4C3B5CA955}"/>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BDCF938-F199-CB9F-0753-8BE422414ECC}"/>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AEEE3C-844C-CBF2-DDBF-C22C7ED371BF}"/>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4B21990-4236-D29A-278E-A888E708AC3C}"/>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954DFC-277E-6DEC-7A85-CBFA8D43EEB2}"/>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8216E7E-7C53-A831-79E7-4C3A9912AB28}"/>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38811E-87D2-0920-6F8A-F279EDA59638}"/>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Акустичке метрике</a:t>
            </a:r>
            <a:endParaRPr lang="en-US" b="1">
              <a:solidFill>
                <a:schemeClr val="bg1"/>
              </a:solidFill>
            </a:endParaRPr>
          </a:p>
        </p:txBody>
      </p:sp>
      <p:sp>
        <p:nvSpPr>
          <p:cNvPr id="2" name="TextBox 1">
            <a:extLst>
              <a:ext uri="{FF2B5EF4-FFF2-40B4-BE49-F238E27FC236}">
                <a16:creationId xmlns:a16="http://schemas.microsoft.com/office/drawing/2014/main" id="{AD5AB6D4-4975-6884-DA42-CBCB4B868303}"/>
              </a:ext>
            </a:extLst>
          </p:cNvPr>
          <p:cNvSpPr txBox="1"/>
          <p:nvPr/>
        </p:nvSpPr>
        <p:spPr>
          <a:xfrm>
            <a:off x="714371" y="1586919"/>
            <a:ext cx="656382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ea typeface="+mn-lt"/>
                <a:cs typeface="Arial"/>
              </a:rPr>
              <a:t>Метрике</a:t>
            </a:r>
            <a:r>
              <a:rPr lang="en-US" sz="2400" dirty="0">
                <a:latin typeface="Arial"/>
                <a:ea typeface="+mn-lt"/>
                <a:cs typeface="Arial"/>
              </a:rPr>
              <a:t> </a:t>
            </a:r>
            <a:r>
              <a:rPr lang="en-US" sz="2400">
                <a:latin typeface="Arial"/>
                <a:ea typeface="+mn-lt"/>
                <a:cs typeface="Arial"/>
              </a:rPr>
              <a:t>сигнала</a:t>
            </a:r>
            <a:endParaRPr lang="en-US" sz="2400" dirty="0">
              <a:latin typeface="Arial"/>
              <a:ea typeface="+mn-lt"/>
              <a:cs typeface="Arial"/>
            </a:endParaRPr>
          </a:p>
        </p:txBody>
      </p:sp>
      <p:sp>
        <p:nvSpPr>
          <p:cNvPr id="4" name="TextBox 3">
            <a:extLst>
              <a:ext uri="{FF2B5EF4-FFF2-40B4-BE49-F238E27FC236}">
                <a16:creationId xmlns:a16="http://schemas.microsoft.com/office/drawing/2014/main" id="{6017BDA3-4416-4029-7811-DA5DA4BAB5F5}"/>
              </a:ext>
            </a:extLst>
          </p:cNvPr>
          <p:cNvSpPr txBox="1"/>
          <p:nvPr/>
        </p:nvSpPr>
        <p:spPr>
          <a:xfrm>
            <a:off x="714371" y="4902074"/>
            <a:ext cx="656382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Arial"/>
                <a:ea typeface="+mn-lt"/>
                <a:cs typeface="Arial"/>
              </a:rPr>
              <a:t>Ове </a:t>
            </a:r>
            <a:r>
              <a:rPr lang="en-US" sz="2000" dirty="0" err="1">
                <a:latin typeface="Arial"/>
                <a:ea typeface="+mn-lt"/>
                <a:cs typeface="Arial"/>
              </a:rPr>
              <a:t>мере</a:t>
            </a:r>
            <a:r>
              <a:rPr lang="en-US" sz="2000" dirty="0">
                <a:latin typeface="Arial"/>
                <a:ea typeface="+mn-lt"/>
                <a:cs typeface="Arial"/>
              </a:rPr>
              <a:t> </a:t>
            </a:r>
            <a:r>
              <a:rPr lang="en-US" sz="2000" dirty="0" err="1">
                <a:latin typeface="Arial"/>
                <a:ea typeface="+mn-lt"/>
                <a:cs typeface="Arial"/>
              </a:rPr>
              <a:t>не</a:t>
            </a:r>
            <a:r>
              <a:rPr lang="en-US" sz="2000" dirty="0">
                <a:latin typeface="Arial"/>
                <a:ea typeface="+mn-lt"/>
                <a:cs typeface="Arial"/>
              </a:rPr>
              <a:t> </a:t>
            </a:r>
            <a:r>
              <a:rPr lang="en-US" sz="2000" dirty="0" err="1">
                <a:latin typeface="Arial"/>
                <a:ea typeface="+mn-lt"/>
                <a:cs typeface="Arial"/>
              </a:rPr>
              <a:t>замењују</a:t>
            </a:r>
            <a:r>
              <a:rPr lang="en-US" sz="2000" dirty="0">
                <a:latin typeface="Arial"/>
                <a:ea typeface="+mn-lt"/>
                <a:cs typeface="Arial"/>
              </a:rPr>
              <a:t> </a:t>
            </a:r>
            <a:r>
              <a:rPr lang="en-US" sz="2000" dirty="0" err="1">
                <a:latin typeface="Arial"/>
                <a:ea typeface="+mn-lt"/>
                <a:cs typeface="Arial"/>
              </a:rPr>
              <a:t>слушање</a:t>
            </a:r>
            <a:r>
              <a:rPr lang="en-US" sz="2000" dirty="0">
                <a:latin typeface="Arial"/>
                <a:ea typeface="+mn-lt"/>
                <a:cs typeface="Arial"/>
              </a:rPr>
              <a:t>, </a:t>
            </a:r>
            <a:r>
              <a:rPr lang="en-US" sz="2000" dirty="0" err="1">
                <a:latin typeface="Arial"/>
                <a:ea typeface="+mn-lt"/>
                <a:cs typeface="Arial"/>
              </a:rPr>
              <a:t>али</a:t>
            </a:r>
            <a:r>
              <a:rPr lang="en-US" sz="2000" dirty="0">
                <a:latin typeface="Arial"/>
                <a:ea typeface="+mn-lt"/>
                <a:cs typeface="Arial"/>
              </a:rPr>
              <a:t> </a:t>
            </a:r>
            <a:r>
              <a:rPr lang="en-US" sz="2000" dirty="0" err="1">
                <a:latin typeface="Arial"/>
                <a:ea typeface="+mn-lt"/>
                <a:cs typeface="Arial"/>
              </a:rPr>
              <a:t>помажу</a:t>
            </a:r>
            <a:r>
              <a:rPr lang="en-US" sz="2000" dirty="0">
                <a:latin typeface="Arial"/>
                <a:ea typeface="+mn-lt"/>
                <a:cs typeface="Arial"/>
              </a:rPr>
              <a:t> </a:t>
            </a:r>
            <a:r>
              <a:rPr lang="en-US" sz="2000" dirty="0" err="1">
                <a:latin typeface="Arial"/>
                <a:ea typeface="+mn-lt"/>
                <a:cs typeface="Arial"/>
              </a:rPr>
              <a:t>да</a:t>
            </a:r>
            <a:r>
              <a:rPr lang="en-US" sz="2000" dirty="0">
                <a:latin typeface="Arial"/>
                <a:ea typeface="+mn-lt"/>
                <a:cs typeface="Arial"/>
              </a:rPr>
              <a:t> </a:t>
            </a:r>
            <a:r>
              <a:rPr lang="en-US" sz="2000" dirty="0" err="1">
                <a:latin typeface="Arial"/>
                <a:ea typeface="+mn-lt"/>
                <a:cs typeface="Arial"/>
              </a:rPr>
              <a:t>се</a:t>
            </a:r>
            <a:r>
              <a:rPr lang="en-US" sz="2000" dirty="0">
                <a:latin typeface="Arial"/>
                <a:ea typeface="+mn-lt"/>
                <a:cs typeface="Arial"/>
              </a:rPr>
              <a:t> </a:t>
            </a:r>
            <a:r>
              <a:rPr lang="en-US" sz="2000" dirty="0" err="1">
                <a:latin typeface="Arial"/>
                <a:ea typeface="+mn-lt"/>
                <a:cs typeface="Arial"/>
              </a:rPr>
              <a:t>разлике</a:t>
            </a:r>
            <a:r>
              <a:rPr lang="en-US" sz="2000" dirty="0">
                <a:latin typeface="Arial"/>
                <a:ea typeface="+mn-lt"/>
                <a:cs typeface="Arial"/>
              </a:rPr>
              <a:t> </a:t>
            </a:r>
            <a:r>
              <a:rPr lang="en-US" sz="2000" dirty="0" err="1">
                <a:latin typeface="Arial"/>
                <a:ea typeface="+mn-lt"/>
                <a:cs typeface="Arial"/>
              </a:rPr>
              <a:t>између</a:t>
            </a:r>
            <a:r>
              <a:rPr lang="en-US" sz="2000" dirty="0">
                <a:latin typeface="Arial"/>
                <a:ea typeface="+mn-lt"/>
                <a:cs typeface="Arial"/>
              </a:rPr>
              <a:t> </a:t>
            </a:r>
            <a:r>
              <a:rPr lang="en-US" sz="2000" dirty="0" err="1">
                <a:latin typeface="Arial"/>
                <a:ea typeface="+mn-lt"/>
                <a:cs typeface="Arial"/>
              </a:rPr>
              <a:t>примера</a:t>
            </a:r>
            <a:r>
              <a:rPr lang="en-US" sz="2000" dirty="0">
                <a:latin typeface="Arial"/>
                <a:ea typeface="+mn-lt"/>
                <a:cs typeface="Arial"/>
              </a:rPr>
              <a:t> </a:t>
            </a:r>
            <a:r>
              <a:rPr lang="en-US" sz="2000" dirty="0" err="1">
                <a:latin typeface="Arial"/>
                <a:ea typeface="+mn-lt"/>
                <a:cs typeface="Arial"/>
              </a:rPr>
              <a:t>опишу</a:t>
            </a:r>
            <a:r>
              <a:rPr lang="en-US" sz="2000" dirty="0">
                <a:latin typeface="Arial"/>
                <a:ea typeface="+mn-lt"/>
                <a:cs typeface="Arial"/>
              </a:rPr>
              <a:t> </a:t>
            </a:r>
            <a:r>
              <a:rPr lang="en-US" sz="2000" dirty="0" err="1">
                <a:latin typeface="Arial"/>
                <a:ea typeface="+mn-lt"/>
                <a:cs typeface="Arial"/>
              </a:rPr>
              <a:t>бројевима</a:t>
            </a:r>
            <a:r>
              <a:rPr lang="en-US" sz="2000" dirty="0">
                <a:latin typeface="Arial"/>
                <a:ea typeface="+mn-lt"/>
                <a:cs typeface="Arial"/>
              </a:rPr>
              <a:t>.</a:t>
            </a:r>
            <a:endParaRPr lang="en-US" sz="2000">
              <a:latin typeface="Arial"/>
              <a:cs typeface="Arial"/>
            </a:endParaRPr>
          </a:p>
        </p:txBody>
      </p:sp>
      <p:pic>
        <p:nvPicPr>
          <p:cNvPr id="5" name="Picture 4" descr="A screenshot of a computer&#10;&#10;AI-generated content may be incorrect.">
            <a:extLst>
              <a:ext uri="{FF2B5EF4-FFF2-40B4-BE49-F238E27FC236}">
                <a16:creationId xmlns:a16="http://schemas.microsoft.com/office/drawing/2014/main" id="{594EE129-CA12-C620-B774-21F68F521932}"/>
              </a:ext>
            </a:extLst>
          </p:cNvPr>
          <p:cNvPicPr>
            <a:picLocks noChangeAspect="1"/>
          </p:cNvPicPr>
          <p:nvPr/>
        </p:nvPicPr>
        <p:blipFill>
          <a:blip r:embed="rId3"/>
          <a:stretch>
            <a:fillRect/>
          </a:stretch>
        </p:blipFill>
        <p:spPr>
          <a:xfrm>
            <a:off x="528238" y="2291760"/>
            <a:ext cx="8438164" cy="1673382"/>
          </a:xfrm>
          <a:prstGeom prst="rect">
            <a:avLst/>
          </a:prstGeom>
        </p:spPr>
      </p:pic>
    </p:spTree>
    <p:extLst>
      <p:ext uri="{BB962C8B-B14F-4D97-AF65-F5344CB8AC3E}">
        <p14:creationId xmlns:p14="http://schemas.microsoft.com/office/powerpoint/2010/main" val="2761911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4F004-3152-FD84-6876-031DE51458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D133377-BB61-91F8-0687-9FDDF2B0C4FC}"/>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793A15-0C1A-BC4B-95F8-3CD7C3632BCA}"/>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DF6B901-CBEC-3AC6-DAA6-AF6117845F9C}"/>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4084C4-10EE-1801-9375-6D0247CE4A21}"/>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2D7E7B-4631-0AEA-1313-82BA28C17959}"/>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A3869E-1D98-7F07-1C48-A81302FBDD99}"/>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9B72DCCE-33A0-CF59-3415-96955A02C9D5}"/>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9F1519E-30E1-E622-414D-0EBDC47E4684}"/>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Субјективна процена</a:t>
            </a:r>
            <a:endParaRPr lang="en-US" b="1">
              <a:solidFill>
                <a:schemeClr val="bg1"/>
              </a:solidFill>
            </a:endParaRPr>
          </a:p>
        </p:txBody>
      </p:sp>
      <p:sp>
        <p:nvSpPr>
          <p:cNvPr id="2" name="TextBox 1">
            <a:extLst>
              <a:ext uri="{FF2B5EF4-FFF2-40B4-BE49-F238E27FC236}">
                <a16:creationId xmlns:a16="http://schemas.microsoft.com/office/drawing/2014/main" id="{EEBCA864-8F50-EDA9-7EBE-15D0492EA88F}"/>
              </a:ext>
            </a:extLst>
          </p:cNvPr>
          <p:cNvSpPr txBox="1"/>
          <p:nvPr/>
        </p:nvSpPr>
        <p:spPr>
          <a:xfrm>
            <a:off x="714371" y="1586919"/>
            <a:ext cx="6919021"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Шта </a:t>
            </a:r>
            <a:r>
              <a:rPr lang="en-US" sz="2400" dirty="0" err="1">
                <a:latin typeface="Arial"/>
                <a:ea typeface="+mn-lt"/>
                <a:cs typeface="Arial"/>
              </a:rPr>
              <a:t>чује</a:t>
            </a:r>
            <a:r>
              <a:rPr lang="en-US" sz="2400" dirty="0">
                <a:latin typeface="Arial"/>
                <a:ea typeface="+mn-lt"/>
                <a:cs typeface="Arial"/>
              </a:rPr>
              <a:t> </a:t>
            </a:r>
            <a:r>
              <a:rPr lang="en-US" sz="2400" dirty="0" err="1">
                <a:latin typeface="Arial"/>
                <a:ea typeface="+mn-lt"/>
                <a:cs typeface="Arial"/>
              </a:rPr>
              <a:t>слушалац</a:t>
            </a:r>
            <a:r>
              <a:rPr lang="en-US" sz="2400" dirty="0">
                <a:latin typeface="Arial"/>
                <a:ea typeface="+mn-lt"/>
                <a:cs typeface="Arial"/>
              </a:rPr>
              <a:t>?</a:t>
            </a:r>
            <a:endParaRPr lang="en-US" sz="2400">
              <a:latin typeface="Arial"/>
              <a:cs typeface="Arial"/>
            </a:endParaRPr>
          </a:p>
          <a:p>
            <a:endParaRPr lang="en-US" sz="2400" dirty="0">
              <a:latin typeface="Arial"/>
              <a:ea typeface="+mn-lt"/>
              <a:cs typeface="Arial"/>
            </a:endParaRPr>
          </a:p>
          <a:p>
            <a:r>
              <a:rPr lang="en-US" sz="2400" dirty="0" err="1">
                <a:solidFill>
                  <a:srgbClr val="C00000"/>
                </a:solidFill>
                <a:latin typeface="Arial"/>
                <a:ea typeface="+mn-lt"/>
                <a:cs typeface="Arial"/>
              </a:rPr>
              <a:t>Природност</a:t>
            </a:r>
            <a:r>
              <a:rPr lang="en-US" sz="2400" dirty="0">
                <a:solidFill>
                  <a:srgbClr val="C00000"/>
                </a:solidFill>
                <a:latin typeface="Arial"/>
                <a:ea typeface="+mn-lt"/>
                <a:cs typeface="Arial"/>
              </a:rPr>
              <a:t>:</a:t>
            </a:r>
            <a:r>
              <a:rPr lang="en-US" sz="2400" dirty="0">
                <a:latin typeface="Arial"/>
                <a:ea typeface="+mn-lt"/>
                <a:cs typeface="Arial"/>
              </a:rPr>
              <a:t> </a:t>
            </a:r>
            <a:endParaRPr lang="en-US" sz="2400">
              <a:latin typeface="Arial"/>
              <a:ea typeface="Calibri"/>
              <a:cs typeface="Arial"/>
            </a:endParaRPr>
          </a:p>
          <a:p>
            <a:pPr marL="285750" indent="-285750">
              <a:buFont typeface="Calibri"/>
              <a:buChar char="-"/>
            </a:pPr>
            <a:r>
              <a:rPr lang="en-US" sz="2400" dirty="0" err="1">
                <a:latin typeface="Arial"/>
                <a:ea typeface="+mn-lt"/>
                <a:cs typeface="Arial"/>
              </a:rPr>
              <a:t>да</a:t>
            </a:r>
            <a:r>
              <a:rPr lang="en-US" sz="2400" dirty="0">
                <a:latin typeface="Arial"/>
                <a:ea typeface="+mn-lt"/>
                <a:cs typeface="Arial"/>
              </a:rPr>
              <a:t> </a:t>
            </a:r>
            <a:r>
              <a:rPr lang="en-US" sz="2400" dirty="0" err="1">
                <a:latin typeface="Arial"/>
                <a:ea typeface="+mn-lt"/>
                <a:cs typeface="Arial"/>
              </a:rPr>
              <a:t>ли</a:t>
            </a:r>
            <a:r>
              <a:rPr lang="en-US" sz="2400" dirty="0">
                <a:latin typeface="Arial"/>
                <a:ea typeface="+mn-lt"/>
                <a:cs typeface="Arial"/>
              </a:rPr>
              <a:t> </a:t>
            </a:r>
            <a:r>
              <a:rPr lang="en-US" sz="2400" dirty="0" err="1">
                <a:latin typeface="Arial"/>
                <a:ea typeface="+mn-lt"/>
                <a:cs typeface="Arial"/>
              </a:rPr>
              <a:t>глас</a:t>
            </a:r>
            <a:r>
              <a:rPr lang="en-US" sz="2400" dirty="0">
                <a:latin typeface="Arial"/>
                <a:ea typeface="+mn-lt"/>
                <a:cs typeface="Arial"/>
              </a:rPr>
              <a:t> </a:t>
            </a:r>
            <a:r>
              <a:rPr lang="en-US" sz="2400" dirty="0" err="1">
                <a:latin typeface="Arial"/>
                <a:ea typeface="+mn-lt"/>
                <a:cs typeface="Arial"/>
              </a:rPr>
              <a:t>звучи</a:t>
            </a:r>
            <a:r>
              <a:rPr lang="en-US" sz="2400" dirty="0">
                <a:latin typeface="Arial"/>
                <a:ea typeface="+mn-lt"/>
                <a:cs typeface="Arial"/>
              </a:rPr>
              <a:t> </a:t>
            </a:r>
            <a:r>
              <a:rPr lang="en-US" sz="2400" dirty="0" err="1">
                <a:latin typeface="Arial"/>
                <a:ea typeface="+mn-lt"/>
                <a:cs typeface="Arial"/>
              </a:rPr>
              <a:t>као</a:t>
            </a:r>
            <a:r>
              <a:rPr lang="en-US" sz="2400" dirty="0">
                <a:latin typeface="Arial"/>
                <a:ea typeface="+mn-lt"/>
                <a:cs typeface="Arial"/>
              </a:rPr>
              <a:t> </a:t>
            </a:r>
            <a:r>
              <a:rPr lang="en-US" sz="2400" dirty="0" err="1">
                <a:latin typeface="Arial"/>
                <a:ea typeface="+mn-lt"/>
                <a:cs typeface="Arial"/>
              </a:rPr>
              <a:t>уверљив</a:t>
            </a:r>
            <a:r>
              <a:rPr lang="en-US" sz="2400" dirty="0">
                <a:latin typeface="Arial"/>
                <a:ea typeface="+mn-lt"/>
                <a:cs typeface="Arial"/>
              </a:rPr>
              <a:t> </a:t>
            </a:r>
            <a:r>
              <a:rPr lang="en-US" sz="2400" dirty="0" err="1">
                <a:latin typeface="Arial"/>
                <a:ea typeface="+mn-lt"/>
                <a:cs typeface="Arial"/>
              </a:rPr>
              <a:t>говор</a:t>
            </a:r>
            <a:r>
              <a:rPr lang="en-US" sz="2400" dirty="0">
                <a:latin typeface="Arial"/>
                <a:ea typeface="+mn-lt"/>
                <a:cs typeface="Arial"/>
              </a:rPr>
              <a:t>.</a:t>
            </a:r>
            <a:endParaRPr lang="en-US" sz="2400" dirty="0">
              <a:latin typeface="Arial"/>
              <a:ea typeface="Calibri" panose="020F0502020204030204"/>
              <a:cs typeface="Arial"/>
            </a:endParaRPr>
          </a:p>
          <a:p>
            <a:r>
              <a:rPr lang="en-US" sz="2400" dirty="0" err="1">
                <a:solidFill>
                  <a:srgbClr val="C00000"/>
                </a:solidFill>
                <a:latin typeface="Arial"/>
                <a:ea typeface="+mn-lt"/>
                <a:cs typeface="Arial"/>
              </a:rPr>
              <a:t>Разумљивост</a:t>
            </a:r>
            <a:r>
              <a:rPr lang="en-US" sz="2400" dirty="0">
                <a:solidFill>
                  <a:srgbClr val="C00000"/>
                </a:solidFill>
                <a:latin typeface="Arial"/>
                <a:ea typeface="+mn-lt"/>
                <a:cs typeface="Arial"/>
              </a:rPr>
              <a:t>: </a:t>
            </a:r>
          </a:p>
          <a:p>
            <a:pPr marL="285750" indent="-285750">
              <a:buFont typeface="Calibri"/>
              <a:buChar char="-"/>
            </a:pPr>
            <a:r>
              <a:rPr lang="en-US" sz="2400" dirty="0" err="1">
                <a:latin typeface="Arial"/>
                <a:ea typeface="+mn-lt"/>
                <a:cs typeface="Arial"/>
              </a:rPr>
              <a:t>да</a:t>
            </a:r>
            <a:r>
              <a:rPr lang="en-US" sz="2400" dirty="0">
                <a:latin typeface="Arial"/>
                <a:ea typeface="+mn-lt"/>
                <a:cs typeface="Arial"/>
              </a:rPr>
              <a:t> </a:t>
            </a:r>
            <a:r>
              <a:rPr lang="en-US" sz="2400" dirty="0" err="1">
                <a:latin typeface="Arial"/>
                <a:ea typeface="+mn-lt"/>
                <a:cs typeface="Arial"/>
              </a:rPr>
              <a:t>ли</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a:t>
            </a:r>
            <a:r>
              <a:rPr lang="en-US" sz="2400" dirty="0" err="1">
                <a:latin typeface="Arial"/>
                <a:ea typeface="+mn-lt"/>
                <a:cs typeface="Arial"/>
              </a:rPr>
              <a:t>задати</a:t>
            </a:r>
            <a:r>
              <a:rPr lang="en-US" sz="2400" dirty="0">
                <a:latin typeface="Arial"/>
                <a:ea typeface="+mn-lt"/>
                <a:cs typeface="Arial"/>
              </a:rPr>
              <a:t> </a:t>
            </a:r>
            <a:r>
              <a:rPr lang="en-US" sz="2400" dirty="0" err="1">
                <a:latin typeface="Arial"/>
                <a:ea typeface="+mn-lt"/>
                <a:cs typeface="Arial"/>
              </a:rPr>
              <a:t>текст</a:t>
            </a:r>
            <a:r>
              <a:rPr lang="en-US" sz="2400" dirty="0">
                <a:latin typeface="Arial"/>
                <a:ea typeface="+mn-lt"/>
                <a:cs typeface="Arial"/>
              </a:rPr>
              <a:t> </a:t>
            </a:r>
            <a:r>
              <a:rPr lang="en-US" sz="2400" dirty="0" err="1">
                <a:latin typeface="Arial"/>
                <a:ea typeface="+mn-lt"/>
                <a:cs typeface="Arial"/>
              </a:rPr>
              <a:t>лако</a:t>
            </a:r>
            <a:r>
              <a:rPr lang="en-US" sz="2400" dirty="0">
                <a:latin typeface="Arial"/>
                <a:ea typeface="+mn-lt"/>
                <a:cs typeface="Arial"/>
              </a:rPr>
              <a:t> </a:t>
            </a:r>
            <a:r>
              <a:rPr lang="en-US" sz="2400" dirty="0" err="1">
                <a:latin typeface="Arial"/>
                <a:ea typeface="+mn-lt"/>
                <a:cs typeface="Arial"/>
              </a:rPr>
              <a:t>препознати</a:t>
            </a:r>
            <a:r>
              <a:rPr lang="en-US" sz="2400" dirty="0">
                <a:latin typeface="Arial"/>
                <a:ea typeface="+mn-lt"/>
                <a:cs typeface="Arial"/>
              </a:rPr>
              <a:t>.</a:t>
            </a:r>
            <a:endParaRPr lang="en-US" sz="2400" dirty="0">
              <a:latin typeface="Arial"/>
              <a:ea typeface="Calibri" panose="020F0502020204030204"/>
              <a:cs typeface="Arial"/>
            </a:endParaRPr>
          </a:p>
          <a:p>
            <a:r>
              <a:rPr lang="en-US" sz="2400" dirty="0" err="1">
                <a:solidFill>
                  <a:srgbClr val="C00000"/>
                </a:solidFill>
                <a:latin typeface="Arial"/>
                <a:ea typeface="+mn-lt"/>
                <a:cs typeface="Arial"/>
              </a:rPr>
              <a:t>Грешке</a:t>
            </a:r>
            <a:r>
              <a:rPr lang="en-US" sz="2400" dirty="0">
                <a:solidFill>
                  <a:srgbClr val="C00000"/>
                </a:solidFill>
                <a:latin typeface="Arial"/>
                <a:ea typeface="+mn-lt"/>
                <a:cs typeface="Arial"/>
              </a:rPr>
              <a:t>: </a:t>
            </a:r>
          </a:p>
          <a:p>
            <a:pPr marL="285750" indent="-285750">
              <a:buFont typeface="Calibri"/>
              <a:buChar char="-"/>
            </a:pPr>
            <a:r>
              <a:rPr lang="en-US" sz="2400" dirty="0" err="1">
                <a:latin typeface="Arial"/>
                <a:ea typeface="+mn-lt"/>
                <a:cs typeface="Arial"/>
              </a:rPr>
              <a:t>погрешан</a:t>
            </a:r>
            <a:r>
              <a:rPr lang="en-US" sz="2400" dirty="0">
                <a:latin typeface="Arial"/>
                <a:ea typeface="+mn-lt"/>
                <a:cs typeface="Arial"/>
              </a:rPr>
              <a:t> </a:t>
            </a:r>
            <a:r>
              <a:rPr lang="en-US" sz="2400" dirty="0" err="1">
                <a:latin typeface="Arial"/>
                <a:ea typeface="+mn-lt"/>
                <a:cs typeface="Arial"/>
              </a:rPr>
              <a:t>изговор</a:t>
            </a:r>
            <a:r>
              <a:rPr lang="en-US" sz="2400" dirty="0">
                <a:latin typeface="Arial"/>
                <a:ea typeface="+mn-lt"/>
                <a:cs typeface="Arial"/>
              </a:rPr>
              <a:t>, </a:t>
            </a:r>
            <a:r>
              <a:rPr lang="en-US" sz="2400" dirty="0" err="1">
                <a:latin typeface="Arial"/>
                <a:ea typeface="+mn-lt"/>
                <a:cs typeface="Arial"/>
              </a:rPr>
              <a:t>прескакање</a:t>
            </a:r>
            <a:r>
              <a:rPr lang="en-US" sz="2400" dirty="0">
                <a:latin typeface="Arial"/>
                <a:ea typeface="+mn-lt"/>
                <a:cs typeface="Arial"/>
              </a:rPr>
              <a:t> </a:t>
            </a:r>
            <a:r>
              <a:rPr lang="en-US" sz="2400" dirty="0" err="1">
                <a:latin typeface="Arial"/>
                <a:ea typeface="+mn-lt"/>
                <a:cs typeface="Arial"/>
              </a:rPr>
              <a:t>или</a:t>
            </a:r>
            <a:r>
              <a:rPr lang="en-US" sz="2400" dirty="0">
                <a:latin typeface="Arial"/>
                <a:ea typeface="+mn-lt"/>
                <a:cs typeface="Arial"/>
              </a:rPr>
              <a:t> </a:t>
            </a:r>
            <a:r>
              <a:rPr lang="en-US" sz="2400" dirty="0" err="1">
                <a:latin typeface="Arial"/>
                <a:ea typeface="+mn-lt"/>
                <a:cs typeface="Arial"/>
              </a:rPr>
              <a:t>чудан</a:t>
            </a:r>
            <a:r>
              <a:rPr lang="en-US" sz="2400" dirty="0">
                <a:latin typeface="Arial"/>
                <a:ea typeface="+mn-lt"/>
                <a:cs typeface="Arial"/>
              </a:rPr>
              <a:t> </a:t>
            </a:r>
            <a:r>
              <a:rPr lang="en-US" sz="2400" dirty="0" err="1">
                <a:latin typeface="Arial"/>
                <a:ea typeface="+mn-lt"/>
                <a:cs typeface="Arial"/>
              </a:rPr>
              <a:t>акценат</a:t>
            </a:r>
            <a:r>
              <a:rPr lang="en-US" sz="2400" dirty="0">
                <a:latin typeface="Arial"/>
                <a:ea typeface="+mn-lt"/>
                <a:cs typeface="Arial"/>
              </a:rPr>
              <a:t>.</a:t>
            </a:r>
          </a:p>
          <a:p>
            <a:pPr marL="285750" indent="-285750">
              <a:buFont typeface="Calibri"/>
              <a:buChar char="-"/>
            </a:pPr>
            <a:endParaRPr lang="en-US" sz="2400" dirty="0">
              <a:latin typeface="Arial"/>
              <a:ea typeface="Calibri"/>
              <a:cs typeface="Arial"/>
            </a:endParaRPr>
          </a:p>
          <a:p>
            <a:r>
              <a:rPr lang="en-US" sz="2400" dirty="0" err="1">
                <a:latin typeface="Arial"/>
                <a:ea typeface="+mn-lt"/>
                <a:cs typeface="Arial"/>
              </a:rPr>
              <a:t>Ово</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a:t>
            </a:r>
            <a:r>
              <a:rPr lang="en-US" sz="2400" dirty="0" err="1">
                <a:latin typeface="Arial"/>
                <a:ea typeface="+mn-lt"/>
                <a:cs typeface="Arial"/>
              </a:rPr>
              <a:t>ограничена</a:t>
            </a:r>
            <a:r>
              <a:rPr lang="en-US" sz="2400" dirty="0">
                <a:latin typeface="Arial"/>
                <a:ea typeface="+mn-lt"/>
                <a:cs typeface="Arial"/>
              </a:rPr>
              <a:t> </a:t>
            </a:r>
            <a:r>
              <a:rPr lang="en-US" sz="2400" dirty="0" err="1">
                <a:latin typeface="Arial"/>
                <a:ea typeface="+mn-lt"/>
                <a:cs typeface="Arial"/>
              </a:rPr>
              <a:t>локална</a:t>
            </a:r>
            <a:r>
              <a:rPr lang="en-US" sz="2400" dirty="0">
                <a:latin typeface="Arial"/>
                <a:ea typeface="+mn-lt"/>
                <a:cs typeface="Arial"/>
              </a:rPr>
              <a:t> </a:t>
            </a:r>
            <a:r>
              <a:rPr lang="en-US" sz="2400" dirty="0" err="1">
                <a:latin typeface="Arial"/>
                <a:ea typeface="+mn-lt"/>
                <a:cs typeface="Arial"/>
              </a:rPr>
              <a:t>процена</a:t>
            </a:r>
            <a:r>
              <a:rPr lang="en-US" sz="2400" dirty="0">
                <a:latin typeface="Arial"/>
                <a:ea typeface="+mn-lt"/>
                <a:cs typeface="Arial"/>
              </a:rPr>
              <a:t>, </a:t>
            </a:r>
            <a:r>
              <a:rPr lang="en-US" sz="2400" dirty="0" err="1">
                <a:latin typeface="Arial"/>
                <a:ea typeface="+mn-lt"/>
                <a:cs typeface="Arial"/>
              </a:rPr>
              <a:t>није</a:t>
            </a:r>
            <a:r>
              <a:rPr lang="en-US" sz="2400" dirty="0">
                <a:latin typeface="Arial"/>
                <a:ea typeface="+mn-lt"/>
                <a:cs typeface="Arial"/>
              </a:rPr>
              <a:t> </a:t>
            </a:r>
            <a:r>
              <a:rPr lang="en-US" sz="2400" dirty="0" err="1">
                <a:latin typeface="Arial"/>
                <a:ea typeface="+mn-lt"/>
                <a:cs typeface="Arial"/>
              </a:rPr>
              <a:t>стандардизован</a:t>
            </a:r>
            <a:r>
              <a:rPr lang="en-US" sz="2400" dirty="0">
                <a:latin typeface="Arial"/>
                <a:ea typeface="+mn-lt"/>
                <a:cs typeface="Arial"/>
              </a:rPr>
              <a:t> MOS </a:t>
            </a:r>
            <a:r>
              <a:rPr lang="en-US" sz="2400" dirty="0" err="1">
                <a:latin typeface="Arial"/>
                <a:ea typeface="+mn-lt"/>
                <a:cs typeface="Arial"/>
              </a:rPr>
              <a:t>тест</a:t>
            </a:r>
            <a:r>
              <a:rPr lang="en-US" sz="2400" dirty="0">
                <a:latin typeface="Arial"/>
                <a:ea typeface="+mn-lt"/>
                <a:cs typeface="Arial"/>
              </a:rPr>
              <a:t>.</a:t>
            </a:r>
            <a:endParaRPr lang="en-US" dirty="0">
              <a:latin typeface="Arial"/>
              <a:ea typeface="+mn-lt"/>
              <a:cs typeface="Arial"/>
            </a:endParaRPr>
          </a:p>
        </p:txBody>
      </p:sp>
    </p:spTree>
    <p:extLst>
      <p:ext uri="{BB962C8B-B14F-4D97-AF65-F5344CB8AC3E}">
        <p14:creationId xmlns:p14="http://schemas.microsoft.com/office/powerpoint/2010/main" val="3752570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DDBC-7B02-E2B8-A851-17B13EE67FD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73ADB90-1DD9-030E-F391-4D24241D0646}"/>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51150E-D6FA-82DD-9B54-45C61352BD78}"/>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F47304D-9EF4-ED8E-FFD0-0990D0608D1C}"/>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C040CE-AE78-D93D-729C-98843E387B6A}"/>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F9FB8C-2C33-B16F-777E-32B1D3B04EF6}"/>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76FF0E7-EEE0-B7D0-7B2A-5F1E9BDC7E4E}"/>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F531C1CB-BF6C-3E3B-E20E-BF0BA4B80562}"/>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80535C8-DCF1-60F8-69CF-F599C0A18133}"/>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Подаци</a:t>
            </a:r>
            <a:endParaRPr lang="en-US" b="1">
              <a:solidFill>
                <a:schemeClr val="bg1"/>
              </a:solidFill>
            </a:endParaRPr>
          </a:p>
        </p:txBody>
      </p:sp>
      <p:sp>
        <p:nvSpPr>
          <p:cNvPr id="2" name="TextBox 1">
            <a:extLst>
              <a:ext uri="{FF2B5EF4-FFF2-40B4-BE49-F238E27FC236}">
                <a16:creationId xmlns:a16="http://schemas.microsoft.com/office/drawing/2014/main" id="{AD719790-DECF-56D0-7F3E-CE78DF3F29AE}"/>
              </a:ext>
            </a:extLst>
          </p:cNvPr>
          <p:cNvSpPr txBox="1"/>
          <p:nvPr/>
        </p:nvSpPr>
        <p:spPr>
          <a:xfrm>
            <a:off x="714371" y="1618795"/>
            <a:ext cx="680062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Коришћени</a:t>
            </a:r>
            <a:r>
              <a:rPr lang="en-US" sz="2400" dirty="0">
                <a:latin typeface="Arial"/>
                <a:ea typeface="+mn-lt"/>
                <a:cs typeface="Arial"/>
              </a:rPr>
              <a:t> </a:t>
            </a:r>
            <a:r>
              <a:rPr lang="en-US" sz="2400" dirty="0" err="1">
                <a:latin typeface="Arial"/>
                <a:ea typeface="+mn-lt"/>
                <a:cs typeface="Arial"/>
              </a:rPr>
              <a:t>текстови</a:t>
            </a:r>
            <a:r>
              <a:rPr lang="en-US" sz="2400" dirty="0">
                <a:latin typeface="Arial"/>
                <a:ea typeface="+mn-lt"/>
                <a:cs typeface="Arial"/>
              </a:rPr>
              <a:t>:</a:t>
            </a:r>
          </a:p>
        </p:txBody>
      </p:sp>
      <p:sp>
        <p:nvSpPr>
          <p:cNvPr id="4" name="TextBox 3">
            <a:extLst>
              <a:ext uri="{FF2B5EF4-FFF2-40B4-BE49-F238E27FC236}">
                <a16:creationId xmlns:a16="http://schemas.microsoft.com/office/drawing/2014/main" id="{CA17B8F2-BBF0-A6AD-F4C1-D71DB03CE613}"/>
              </a:ext>
            </a:extLst>
          </p:cNvPr>
          <p:cNvSpPr txBox="1"/>
          <p:nvPr/>
        </p:nvSpPr>
        <p:spPr>
          <a:xfrm>
            <a:off x="714371" y="4341958"/>
            <a:ext cx="701920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Текстови</a:t>
            </a:r>
            <a:r>
              <a:rPr lang="en-US" sz="2400" dirty="0">
                <a:latin typeface="Arial"/>
                <a:ea typeface="+mn-lt"/>
                <a:cs typeface="Arial"/>
              </a:rPr>
              <a:t> </a:t>
            </a:r>
            <a:r>
              <a:rPr lang="en-US" sz="2400" dirty="0" err="1">
                <a:latin typeface="Arial"/>
                <a:ea typeface="+mn-lt"/>
                <a:cs typeface="Arial"/>
              </a:rPr>
              <a:t>су</a:t>
            </a:r>
            <a:r>
              <a:rPr lang="en-US" sz="2400" dirty="0">
                <a:latin typeface="Arial"/>
                <a:ea typeface="+mn-lt"/>
                <a:cs typeface="Arial"/>
              </a:rPr>
              <a:t> </a:t>
            </a:r>
            <a:r>
              <a:rPr lang="en-US" sz="2400" dirty="0" err="1">
                <a:latin typeface="Arial"/>
                <a:ea typeface="+mn-lt"/>
                <a:cs typeface="Arial"/>
              </a:rPr>
              <a:t>изабрани</a:t>
            </a:r>
            <a:r>
              <a:rPr lang="en-US" sz="2400" dirty="0">
                <a:latin typeface="Arial"/>
                <a:ea typeface="+mn-lt"/>
                <a:cs typeface="Arial"/>
              </a:rPr>
              <a:t> </a:t>
            </a:r>
            <a:r>
              <a:rPr lang="en-US" sz="2400" dirty="0" err="1">
                <a:latin typeface="Arial"/>
                <a:ea typeface="+mn-lt"/>
                <a:cs typeface="Arial"/>
              </a:rPr>
              <a:t>тако</a:t>
            </a:r>
            <a:r>
              <a:rPr lang="en-US" sz="2400" dirty="0">
                <a:latin typeface="Arial"/>
                <a:ea typeface="+mn-lt"/>
                <a:cs typeface="Arial"/>
              </a:rPr>
              <a:t> </a:t>
            </a:r>
            <a:r>
              <a:rPr lang="en-US" sz="2400" dirty="0" err="1">
                <a:latin typeface="Arial"/>
                <a:ea typeface="+mn-lt"/>
                <a:cs typeface="Arial"/>
              </a:rPr>
              <a:t>да</a:t>
            </a:r>
            <a:r>
              <a:rPr lang="en-US" sz="2400" dirty="0">
                <a:latin typeface="Arial"/>
                <a:ea typeface="+mn-lt"/>
                <a:cs typeface="Arial"/>
              </a:rPr>
              <a:t> </a:t>
            </a:r>
            <a:r>
              <a:rPr lang="en-US" sz="2400" dirty="0" err="1">
                <a:latin typeface="Arial"/>
                <a:ea typeface="+mn-lt"/>
                <a:cs typeface="Arial"/>
              </a:rPr>
              <a:t>сваки</a:t>
            </a:r>
            <a:r>
              <a:rPr lang="en-US" sz="2400" dirty="0">
                <a:latin typeface="Arial"/>
                <a:ea typeface="+mn-lt"/>
                <a:cs typeface="Arial"/>
              </a:rPr>
              <a:t> </a:t>
            </a:r>
            <a:r>
              <a:rPr lang="en-US" sz="2400" dirty="0" err="1">
                <a:latin typeface="Arial"/>
                <a:ea typeface="+mn-lt"/>
                <a:cs typeface="Arial"/>
              </a:rPr>
              <a:t>тестира</a:t>
            </a:r>
            <a:r>
              <a:rPr lang="en-US" sz="2400" dirty="0">
                <a:latin typeface="Arial"/>
                <a:ea typeface="+mn-lt"/>
                <a:cs typeface="Arial"/>
              </a:rPr>
              <a:t> </a:t>
            </a:r>
            <a:r>
              <a:rPr lang="en-US" sz="2400" dirty="0" err="1">
                <a:latin typeface="Arial"/>
                <a:ea typeface="+mn-lt"/>
                <a:cs typeface="Arial"/>
              </a:rPr>
              <a:t>једну</a:t>
            </a:r>
            <a:r>
              <a:rPr lang="en-US" sz="2400" dirty="0">
                <a:latin typeface="Arial"/>
                <a:ea typeface="+mn-lt"/>
                <a:cs typeface="Arial"/>
              </a:rPr>
              <a:t> </a:t>
            </a:r>
            <a:r>
              <a:rPr lang="en-US" sz="2400" dirty="0" err="1">
                <a:latin typeface="Arial"/>
                <a:ea typeface="+mn-lt"/>
                <a:cs typeface="Arial"/>
              </a:rPr>
              <a:t>практичну</a:t>
            </a:r>
            <a:r>
              <a:rPr lang="en-US" sz="2400" dirty="0">
                <a:latin typeface="Arial"/>
                <a:ea typeface="+mn-lt"/>
                <a:cs typeface="Arial"/>
              </a:rPr>
              <a:t> </a:t>
            </a:r>
            <a:r>
              <a:rPr lang="en-US" sz="2400" dirty="0" err="1">
                <a:latin typeface="Arial"/>
                <a:ea typeface="+mn-lt"/>
                <a:cs typeface="Arial"/>
              </a:rPr>
              <a:t>слабост</a:t>
            </a:r>
            <a:r>
              <a:rPr lang="en-US" sz="2400" dirty="0">
                <a:latin typeface="Arial"/>
                <a:ea typeface="+mn-lt"/>
                <a:cs typeface="Arial"/>
              </a:rPr>
              <a:t> </a:t>
            </a:r>
            <a:r>
              <a:rPr lang="en-US" sz="2400" dirty="0" err="1">
                <a:latin typeface="Arial"/>
                <a:ea typeface="+mn-lt"/>
                <a:cs typeface="Arial"/>
              </a:rPr>
              <a:t>или</a:t>
            </a:r>
            <a:r>
              <a:rPr lang="en-US" sz="2400" dirty="0">
                <a:latin typeface="Arial"/>
                <a:ea typeface="+mn-lt"/>
                <a:cs typeface="Arial"/>
              </a:rPr>
              <a:t> </a:t>
            </a:r>
            <a:r>
              <a:rPr lang="en-US" sz="2400" dirty="0" err="1">
                <a:latin typeface="Arial"/>
                <a:ea typeface="+mn-lt"/>
                <a:cs typeface="Arial"/>
              </a:rPr>
              <a:t>особину</a:t>
            </a:r>
            <a:r>
              <a:rPr lang="en-US" sz="2400" dirty="0">
                <a:latin typeface="Arial"/>
                <a:ea typeface="+mn-lt"/>
                <a:cs typeface="Arial"/>
              </a:rPr>
              <a:t> </a:t>
            </a:r>
            <a:r>
              <a:rPr lang="en-US" sz="2400" dirty="0" err="1">
                <a:latin typeface="Arial"/>
                <a:ea typeface="+mn-lt"/>
                <a:cs typeface="Arial"/>
              </a:rPr>
              <a:t>модела</a:t>
            </a:r>
            <a:r>
              <a:rPr lang="en-US" sz="2400" dirty="0">
                <a:latin typeface="Arial"/>
                <a:ea typeface="+mn-lt"/>
                <a:cs typeface="Arial"/>
              </a:rPr>
              <a:t>.</a:t>
            </a:r>
            <a:endParaRPr lang="en-US" dirty="0">
              <a:latin typeface="Arial"/>
              <a:cs typeface="Arial"/>
            </a:endParaRPr>
          </a:p>
        </p:txBody>
      </p:sp>
      <p:pic>
        <p:nvPicPr>
          <p:cNvPr id="5" name="Picture 4" descr="A close up of a screen&#10;&#10;AI-generated content may be incorrect.">
            <a:extLst>
              <a:ext uri="{FF2B5EF4-FFF2-40B4-BE49-F238E27FC236}">
                <a16:creationId xmlns:a16="http://schemas.microsoft.com/office/drawing/2014/main" id="{CBA65760-B7C9-11D9-7C66-FD02344EF5FD}"/>
              </a:ext>
            </a:extLst>
          </p:cNvPr>
          <p:cNvPicPr>
            <a:picLocks noChangeAspect="1"/>
          </p:cNvPicPr>
          <p:nvPr/>
        </p:nvPicPr>
        <p:blipFill>
          <a:blip r:embed="rId3"/>
          <a:stretch>
            <a:fillRect/>
          </a:stretch>
        </p:blipFill>
        <p:spPr>
          <a:xfrm>
            <a:off x="619314" y="2377707"/>
            <a:ext cx="8415395" cy="1542470"/>
          </a:xfrm>
          <a:prstGeom prst="rect">
            <a:avLst/>
          </a:prstGeom>
        </p:spPr>
      </p:pic>
    </p:spTree>
    <p:extLst>
      <p:ext uri="{BB962C8B-B14F-4D97-AF65-F5344CB8AC3E}">
        <p14:creationId xmlns:p14="http://schemas.microsoft.com/office/powerpoint/2010/main" val="2273663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4903-02FF-359B-87C2-1F34B9160DF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14B8A7A-936B-A2E7-75FD-D1BE93016724}"/>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AAF5D9B-650E-402D-9D01-0B298910EB25}"/>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1EF77BF-49C5-B319-A286-F44E48F3B625}"/>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D3C0E83-B678-163E-0ABF-810347B5A89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512FDBF-CD2D-4DC3-5C01-B5BABD4F92D7}"/>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1D08BD-9C5D-7AC7-250C-1F2B7B766424}"/>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B789829-94FB-DA09-5E44-A7C4544CE506}"/>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26F7343-E53B-2F69-8914-BCE049F5995A}"/>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Протокол синтезе</a:t>
            </a:r>
            <a:endParaRPr lang="en-US" b="1">
              <a:solidFill>
                <a:schemeClr val="bg1"/>
              </a:solidFill>
            </a:endParaRPr>
          </a:p>
        </p:txBody>
      </p:sp>
      <p:sp>
        <p:nvSpPr>
          <p:cNvPr id="2" name="TextBox 1">
            <a:extLst>
              <a:ext uri="{FF2B5EF4-FFF2-40B4-BE49-F238E27FC236}">
                <a16:creationId xmlns:a16="http://schemas.microsoft.com/office/drawing/2014/main" id="{AE74AB2C-B442-C9BD-D318-D4131701F608}"/>
              </a:ext>
            </a:extLst>
          </p:cNvPr>
          <p:cNvSpPr txBox="1"/>
          <p:nvPr/>
        </p:nvSpPr>
        <p:spPr>
          <a:xfrm>
            <a:off x="714371" y="1586919"/>
            <a:ext cx="61539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Експериментални</a:t>
            </a:r>
            <a:r>
              <a:rPr lang="en-US" sz="2400" dirty="0">
                <a:latin typeface="Arial"/>
                <a:ea typeface="+mn-lt"/>
                <a:cs typeface="Arial"/>
              </a:rPr>
              <a:t> </a:t>
            </a:r>
            <a:r>
              <a:rPr lang="en-US" sz="2400" dirty="0" err="1">
                <a:latin typeface="Arial"/>
                <a:ea typeface="+mn-lt"/>
                <a:cs typeface="Arial"/>
              </a:rPr>
              <a:t>ток</a:t>
            </a:r>
            <a:r>
              <a:rPr lang="en-US" sz="2400" dirty="0">
                <a:latin typeface="Arial"/>
                <a:ea typeface="+mn-lt"/>
                <a:cs typeface="Arial"/>
              </a:rPr>
              <a:t> </a:t>
            </a:r>
            <a:r>
              <a:rPr lang="en-US" sz="2400" dirty="0" err="1">
                <a:latin typeface="Arial"/>
                <a:ea typeface="+mn-lt"/>
                <a:cs typeface="Arial"/>
              </a:rPr>
              <a:t>ChatTTS</a:t>
            </a:r>
            <a:r>
              <a:rPr lang="en-US" sz="2400" dirty="0">
                <a:latin typeface="Arial"/>
                <a:ea typeface="+mn-lt"/>
                <a:cs typeface="Arial"/>
              </a:rPr>
              <a:t> </a:t>
            </a:r>
            <a:r>
              <a:rPr lang="en-US" sz="2400" dirty="0" err="1">
                <a:latin typeface="Arial"/>
                <a:ea typeface="+mn-lt"/>
                <a:cs typeface="Arial"/>
              </a:rPr>
              <a:t>анализе</a:t>
            </a:r>
            <a:endParaRPr lang="en-US" sz="2400">
              <a:latin typeface="Arial"/>
              <a:cs typeface="Arial"/>
            </a:endParaRPr>
          </a:p>
        </p:txBody>
      </p:sp>
      <p:pic>
        <p:nvPicPr>
          <p:cNvPr id="5" name="Picture 4" descr="A blue rectangle with black text&#10;&#10;AI-generated content may be incorrect.">
            <a:extLst>
              <a:ext uri="{FF2B5EF4-FFF2-40B4-BE49-F238E27FC236}">
                <a16:creationId xmlns:a16="http://schemas.microsoft.com/office/drawing/2014/main" id="{02E7668A-BFBE-1FE8-6232-14B3855BB8BC}"/>
              </a:ext>
            </a:extLst>
          </p:cNvPr>
          <p:cNvPicPr>
            <a:picLocks noChangeAspect="1"/>
          </p:cNvPicPr>
          <p:nvPr/>
        </p:nvPicPr>
        <p:blipFill>
          <a:blip r:embed="rId3"/>
          <a:stretch>
            <a:fillRect/>
          </a:stretch>
        </p:blipFill>
        <p:spPr>
          <a:xfrm>
            <a:off x="500916" y="2061459"/>
            <a:ext cx="8319765" cy="1146040"/>
          </a:xfrm>
          <a:prstGeom prst="rect">
            <a:avLst/>
          </a:prstGeom>
        </p:spPr>
      </p:pic>
      <p:sp>
        <p:nvSpPr>
          <p:cNvPr id="4" name="TextBox 3">
            <a:extLst>
              <a:ext uri="{FF2B5EF4-FFF2-40B4-BE49-F238E27FC236}">
                <a16:creationId xmlns:a16="http://schemas.microsoft.com/office/drawing/2014/main" id="{BF7C057F-47D1-2971-B005-03B64006163F}"/>
              </a:ext>
            </a:extLst>
          </p:cNvPr>
          <p:cNvSpPr txBox="1"/>
          <p:nvPr/>
        </p:nvSpPr>
        <p:spPr>
          <a:xfrm>
            <a:off x="663863" y="3301999"/>
            <a:ext cx="782320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chemeClr val="accent1">
                    <a:lumMod val="76000"/>
                  </a:schemeClr>
                </a:solidFill>
                <a:latin typeface="Arial"/>
                <a:ea typeface="+mn-lt"/>
                <a:cs typeface="Arial"/>
              </a:rPr>
              <a:t>Текстуални </a:t>
            </a:r>
            <a:r>
              <a:rPr lang="en-US" sz="2000" dirty="0" err="1">
                <a:solidFill>
                  <a:schemeClr val="accent1">
                    <a:lumMod val="76000"/>
                  </a:schemeClr>
                </a:solidFill>
                <a:latin typeface="Arial"/>
                <a:ea typeface="+mn-lt"/>
                <a:cs typeface="Arial"/>
              </a:rPr>
              <a:t>манифест</a:t>
            </a:r>
            <a:r>
              <a:rPr lang="en-US" sz="2000" dirty="0">
                <a:solidFill>
                  <a:schemeClr val="accent1">
                    <a:lumMod val="76000"/>
                  </a:schemeClr>
                </a:solidFill>
                <a:latin typeface="Arial"/>
                <a:ea typeface="+mn-lt"/>
                <a:cs typeface="Arial"/>
              </a:rPr>
              <a:t> </a:t>
            </a:r>
            <a:endParaRPr lang="en-US" sz="2000">
              <a:solidFill>
                <a:schemeClr val="accent1">
                  <a:lumMod val="76000"/>
                </a:schemeClr>
              </a:solidFill>
              <a:latin typeface="Arial"/>
              <a:cs typeface="Arial"/>
            </a:endParaRPr>
          </a:p>
          <a:p>
            <a:pPr marL="342900" indent="-342900">
              <a:buFont typeface="Calibri"/>
              <a:buChar char="-"/>
            </a:pPr>
            <a:r>
              <a:rPr lang="en-US" sz="2000" dirty="0" err="1">
                <a:latin typeface="Arial"/>
                <a:ea typeface="+mn-lt"/>
                <a:cs typeface="Arial"/>
              </a:rPr>
              <a:t>Скуп</a:t>
            </a:r>
            <a:r>
              <a:rPr lang="en-US" sz="2000" dirty="0">
                <a:latin typeface="Arial"/>
                <a:ea typeface="+mn-lt"/>
                <a:cs typeface="Arial"/>
              </a:rPr>
              <a:t> </a:t>
            </a:r>
            <a:r>
              <a:rPr lang="en-US" sz="2000" dirty="0" err="1">
                <a:latin typeface="Arial"/>
                <a:ea typeface="+mn-lt"/>
                <a:cs typeface="Arial"/>
              </a:rPr>
              <a:t>припремљених</a:t>
            </a:r>
            <a:r>
              <a:rPr lang="en-US" sz="2000" dirty="0">
                <a:latin typeface="Arial"/>
                <a:ea typeface="+mn-lt"/>
                <a:cs typeface="Arial"/>
              </a:rPr>
              <a:t> </a:t>
            </a:r>
            <a:r>
              <a:rPr lang="en-US" sz="2000" dirty="0" err="1">
                <a:latin typeface="Arial"/>
                <a:ea typeface="+mn-lt"/>
                <a:cs typeface="Arial"/>
              </a:rPr>
              <a:t>реченица</a:t>
            </a:r>
            <a:r>
              <a:rPr lang="en-US" sz="2000" dirty="0">
                <a:latin typeface="Arial"/>
                <a:ea typeface="+mn-lt"/>
                <a:cs typeface="Arial"/>
              </a:rPr>
              <a:t> и </a:t>
            </a:r>
            <a:r>
              <a:rPr lang="en-US" sz="2000" dirty="0" err="1">
                <a:latin typeface="Arial"/>
                <a:ea typeface="+mn-lt"/>
                <a:cs typeface="Arial"/>
              </a:rPr>
              <a:t>метаподатака</a:t>
            </a:r>
            <a:r>
              <a:rPr lang="en-US" sz="2000" dirty="0">
                <a:latin typeface="Arial"/>
                <a:ea typeface="+mn-lt"/>
                <a:cs typeface="Arial"/>
              </a:rPr>
              <a:t>. </a:t>
            </a:r>
          </a:p>
          <a:p>
            <a:r>
              <a:rPr lang="en-US" sz="2000" dirty="0" err="1">
                <a:solidFill>
                  <a:schemeClr val="accent1">
                    <a:lumMod val="76000"/>
                  </a:schemeClr>
                </a:solidFill>
                <a:latin typeface="Arial"/>
                <a:ea typeface="+mn-lt"/>
                <a:cs typeface="Arial"/>
              </a:rPr>
              <a:t>ChatTTS</a:t>
            </a:r>
            <a:r>
              <a:rPr lang="en-US" sz="2000" dirty="0">
                <a:solidFill>
                  <a:schemeClr val="accent1">
                    <a:lumMod val="76000"/>
                  </a:schemeClr>
                </a:solidFill>
                <a:latin typeface="Arial"/>
                <a:ea typeface="+mn-lt"/>
                <a:cs typeface="Arial"/>
              </a:rPr>
              <a:t> </a:t>
            </a:r>
            <a:r>
              <a:rPr lang="en-US" sz="2000" dirty="0" err="1">
                <a:solidFill>
                  <a:schemeClr val="accent1">
                    <a:lumMod val="76000"/>
                  </a:schemeClr>
                </a:solidFill>
                <a:latin typeface="Arial"/>
                <a:ea typeface="+mn-lt"/>
                <a:cs typeface="Arial"/>
              </a:rPr>
              <a:t>модел</a:t>
            </a:r>
            <a:r>
              <a:rPr lang="en-US" sz="2000" dirty="0">
                <a:solidFill>
                  <a:schemeClr val="accent1">
                    <a:lumMod val="76000"/>
                  </a:schemeClr>
                </a:solidFill>
                <a:latin typeface="Arial"/>
                <a:ea typeface="+mn-lt"/>
                <a:cs typeface="Arial"/>
              </a:rPr>
              <a:t> </a:t>
            </a:r>
          </a:p>
          <a:p>
            <a:pPr marL="342900" indent="-342900">
              <a:buFont typeface="Calibri"/>
              <a:buChar char="-"/>
            </a:pPr>
            <a:r>
              <a:rPr lang="en-US" sz="2000" dirty="0">
                <a:latin typeface="Arial"/>
                <a:ea typeface="+mn-lt"/>
                <a:cs typeface="Arial"/>
              </a:rPr>
              <a:t>Синтеза </a:t>
            </a:r>
            <a:r>
              <a:rPr lang="en-US" sz="2000" dirty="0" err="1">
                <a:latin typeface="Arial"/>
                <a:ea typeface="+mn-lt"/>
                <a:cs typeface="Arial"/>
              </a:rPr>
              <a:t>говора</a:t>
            </a:r>
            <a:r>
              <a:rPr lang="en-US" sz="2000" dirty="0">
                <a:latin typeface="Arial"/>
                <a:ea typeface="+mn-lt"/>
                <a:cs typeface="Arial"/>
              </a:rPr>
              <a:t> </a:t>
            </a:r>
            <a:r>
              <a:rPr lang="en-US" sz="2000" dirty="0" err="1">
                <a:latin typeface="Arial"/>
                <a:ea typeface="+mn-lt"/>
                <a:cs typeface="Arial"/>
              </a:rPr>
              <a:t>за</a:t>
            </a:r>
            <a:r>
              <a:rPr lang="en-US" sz="2000" dirty="0">
                <a:latin typeface="Arial"/>
                <a:ea typeface="+mn-lt"/>
                <a:cs typeface="Arial"/>
              </a:rPr>
              <a:t> </a:t>
            </a:r>
            <a:r>
              <a:rPr lang="en-US" sz="2000" dirty="0" err="1">
                <a:latin typeface="Arial"/>
                <a:ea typeface="+mn-lt"/>
                <a:cs typeface="Arial"/>
              </a:rPr>
              <a:t>сваки</a:t>
            </a:r>
            <a:r>
              <a:rPr lang="en-US" sz="2000" dirty="0">
                <a:latin typeface="Arial"/>
                <a:ea typeface="+mn-lt"/>
                <a:cs typeface="Arial"/>
              </a:rPr>
              <a:t> </a:t>
            </a:r>
            <a:r>
              <a:rPr lang="en-US" sz="2000" dirty="0" err="1">
                <a:latin typeface="Arial"/>
                <a:ea typeface="+mn-lt"/>
                <a:cs typeface="Arial"/>
              </a:rPr>
              <a:t>улазни</a:t>
            </a:r>
            <a:r>
              <a:rPr lang="en-US" sz="2000" dirty="0">
                <a:latin typeface="Arial"/>
                <a:ea typeface="+mn-lt"/>
                <a:cs typeface="Arial"/>
              </a:rPr>
              <a:t> </a:t>
            </a:r>
            <a:r>
              <a:rPr lang="en-US" sz="2000" dirty="0" err="1">
                <a:latin typeface="Arial"/>
                <a:ea typeface="+mn-lt"/>
                <a:cs typeface="Arial"/>
              </a:rPr>
              <a:t>пример</a:t>
            </a:r>
            <a:r>
              <a:rPr lang="en-US" sz="2000" dirty="0">
                <a:latin typeface="Arial"/>
                <a:ea typeface="+mn-lt"/>
                <a:cs typeface="Arial"/>
              </a:rPr>
              <a:t>. </a:t>
            </a:r>
          </a:p>
          <a:p>
            <a:r>
              <a:rPr lang="en-US" sz="2000" dirty="0" err="1">
                <a:solidFill>
                  <a:schemeClr val="accent1">
                    <a:lumMod val="76000"/>
                  </a:schemeClr>
                </a:solidFill>
                <a:latin typeface="Arial"/>
                <a:ea typeface="+mn-lt"/>
                <a:cs typeface="Arial"/>
              </a:rPr>
              <a:t>Генерисани</a:t>
            </a:r>
            <a:r>
              <a:rPr lang="en-US" sz="2000" dirty="0">
                <a:solidFill>
                  <a:schemeClr val="accent1">
                    <a:lumMod val="76000"/>
                  </a:schemeClr>
                </a:solidFill>
                <a:latin typeface="Arial"/>
                <a:ea typeface="+mn-lt"/>
                <a:cs typeface="Arial"/>
              </a:rPr>
              <a:t> WAV </a:t>
            </a:r>
            <a:r>
              <a:rPr lang="en-US" sz="2000" dirty="0" err="1">
                <a:solidFill>
                  <a:schemeClr val="accent1">
                    <a:lumMod val="76000"/>
                  </a:schemeClr>
                </a:solidFill>
                <a:latin typeface="Arial"/>
                <a:ea typeface="+mn-lt"/>
                <a:cs typeface="Arial"/>
              </a:rPr>
              <a:t>фајлови</a:t>
            </a:r>
            <a:r>
              <a:rPr lang="en-US" sz="2000" dirty="0">
                <a:solidFill>
                  <a:schemeClr val="accent1">
                    <a:lumMod val="76000"/>
                  </a:schemeClr>
                </a:solidFill>
                <a:latin typeface="Arial"/>
                <a:ea typeface="+mn-lt"/>
                <a:cs typeface="Arial"/>
              </a:rPr>
              <a:t> </a:t>
            </a:r>
          </a:p>
          <a:p>
            <a:pPr marL="342900" indent="-342900">
              <a:buFont typeface="Calibri"/>
              <a:buChar char="-"/>
            </a:pPr>
            <a:r>
              <a:rPr lang="en-US" sz="2000" dirty="0">
                <a:latin typeface="Arial"/>
                <a:ea typeface="+mn-lt"/>
                <a:cs typeface="Arial"/>
              </a:rPr>
              <a:t>Аудио </a:t>
            </a:r>
            <a:r>
              <a:rPr lang="en-US" sz="2000" dirty="0" err="1">
                <a:latin typeface="Arial"/>
                <a:ea typeface="+mn-lt"/>
                <a:cs typeface="Arial"/>
              </a:rPr>
              <a:t>излази</a:t>
            </a:r>
            <a:r>
              <a:rPr lang="en-US" sz="2000" dirty="0">
                <a:latin typeface="Arial"/>
                <a:ea typeface="+mn-lt"/>
                <a:cs typeface="Arial"/>
              </a:rPr>
              <a:t> </a:t>
            </a:r>
            <a:r>
              <a:rPr lang="en-US" sz="2000" dirty="0" err="1">
                <a:latin typeface="Arial"/>
                <a:ea typeface="+mn-lt"/>
                <a:cs typeface="Arial"/>
              </a:rPr>
              <a:t>који</a:t>
            </a:r>
            <a:r>
              <a:rPr lang="en-US" sz="2000" dirty="0">
                <a:latin typeface="Arial"/>
                <a:ea typeface="+mn-lt"/>
                <a:cs typeface="Arial"/>
              </a:rPr>
              <a:t> </a:t>
            </a:r>
            <a:r>
              <a:rPr lang="en-US" sz="2000" dirty="0" err="1">
                <a:latin typeface="Arial"/>
                <a:ea typeface="+mn-lt"/>
                <a:cs typeface="Arial"/>
              </a:rPr>
              <a:t>се</a:t>
            </a:r>
            <a:r>
              <a:rPr lang="en-US" sz="2000" dirty="0">
                <a:latin typeface="Arial"/>
                <a:ea typeface="+mn-lt"/>
                <a:cs typeface="Arial"/>
              </a:rPr>
              <a:t> </a:t>
            </a:r>
            <a:r>
              <a:rPr lang="en-US" sz="2000" dirty="0" err="1">
                <a:latin typeface="Arial"/>
                <a:ea typeface="+mn-lt"/>
                <a:cs typeface="Arial"/>
              </a:rPr>
              <a:t>даље</a:t>
            </a:r>
            <a:r>
              <a:rPr lang="en-US" sz="2000" dirty="0">
                <a:latin typeface="Arial"/>
                <a:ea typeface="+mn-lt"/>
                <a:cs typeface="Arial"/>
              </a:rPr>
              <a:t> </a:t>
            </a:r>
            <a:r>
              <a:rPr lang="en-US" sz="2000" dirty="0" err="1">
                <a:latin typeface="Arial"/>
                <a:ea typeface="+mn-lt"/>
                <a:cs typeface="Arial"/>
              </a:rPr>
              <a:t>анализирају</a:t>
            </a:r>
            <a:r>
              <a:rPr lang="en-US" sz="2000" dirty="0">
                <a:latin typeface="Arial"/>
                <a:ea typeface="+mn-lt"/>
                <a:cs typeface="Arial"/>
              </a:rPr>
              <a:t>. </a:t>
            </a:r>
          </a:p>
          <a:p>
            <a:r>
              <a:rPr lang="en-US" sz="2000" dirty="0">
                <a:solidFill>
                  <a:schemeClr val="accent1">
                    <a:lumMod val="76000"/>
                  </a:schemeClr>
                </a:solidFill>
                <a:latin typeface="Arial"/>
                <a:ea typeface="+mn-lt"/>
                <a:cs typeface="Arial"/>
              </a:rPr>
              <a:t>Мерење </a:t>
            </a:r>
            <a:r>
              <a:rPr lang="en-US" sz="2000" dirty="0" err="1">
                <a:solidFill>
                  <a:schemeClr val="accent1">
                    <a:lumMod val="76000"/>
                  </a:schemeClr>
                </a:solidFill>
                <a:latin typeface="Arial"/>
                <a:ea typeface="+mn-lt"/>
                <a:cs typeface="Arial"/>
              </a:rPr>
              <a:t>карактеристика</a:t>
            </a:r>
            <a:r>
              <a:rPr lang="en-US" sz="2000" dirty="0">
                <a:solidFill>
                  <a:schemeClr val="accent1">
                    <a:lumMod val="76000"/>
                  </a:schemeClr>
                </a:solidFill>
                <a:latin typeface="Arial"/>
                <a:ea typeface="+mn-lt"/>
                <a:cs typeface="Arial"/>
              </a:rPr>
              <a:t> </a:t>
            </a:r>
          </a:p>
          <a:p>
            <a:pPr marL="342900" indent="-342900">
              <a:buFont typeface="Calibri"/>
              <a:buChar char="-"/>
            </a:pPr>
            <a:r>
              <a:rPr lang="en-US" sz="2000" dirty="0" err="1">
                <a:latin typeface="Arial"/>
                <a:ea typeface="+mn-lt"/>
                <a:cs typeface="Arial"/>
              </a:rPr>
              <a:t>Трајање</a:t>
            </a:r>
            <a:r>
              <a:rPr lang="en-US" sz="2000" dirty="0">
                <a:latin typeface="Arial"/>
                <a:ea typeface="+mn-lt"/>
                <a:cs typeface="Arial"/>
              </a:rPr>
              <a:t>, </a:t>
            </a:r>
            <a:r>
              <a:rPr lang="en-US" sz="2000" dirty="0" err="1">
                <a:latin typeface="Arial"/>
                <a:ea typeface="+mn-lt"/>
                <a:cs typeface="Arial"/>
              </a:rPr>
              <a:t>време</a:t>
            </a:r>
            <a:r>
              <a:rPr lang="en-US" sz="2000" dirty="0">
                <a:latin typeface="Arial"/>
                <a:ea typeface="+mn-lt"/>
                <a:cs typeface="Arial"/>
              </a:rPr>
              <a:t> </a:t>
            </a:r>
            <a:r>
              <a:rPr lang="en-US" sz="2000" dirty="0" err="1">
                <a:latin typeface="Arial"/>
                <a:ea typeface="+mn-lt"/>
                <a:cs typeface="Arial"/>
              </a:rPr>
              <a:t>синтезе</a:t>
            </a:r>
            <a:r>
              <a:rPr lang="en-US" sz="2000" dirty="0">
                <a:latin typeface="Arial"/>
                <a:ea typeface="+mn-lt"/>
                <a:cs typeface="Arial"/>
              </a:rPr>
              <a:t>, RTF, pitch и </a:t>
            </a:r>
            <a:r>
              <a:rPr lang="en-US" sz="2000" dirty="0" err="1">
                <a:latin typeface="Arial"/>
                <a:ea typeface="+mn-lt"/>
                <a:cs typeface="Arial"/>
              </a:rPr>
              <a:t>енергија</a:t>
            </a:r>
            <a:r>
              <a:rPr lang="en-US" sz="2000" dirty="0">
                <a:latin typeface="Arial"/>
                <a:ea typeface="+mn-lt"/>
                <a:cs typeface="Arial"/>
              </a:rPr>
              <a:t>. </a:t>
            </a:r>
          </a:p>
          <a:p>
            <a:r>
              <a:rPr lang="en-US" sz="2000" dirty="0" err="1">
                <a:solidFill>
                  <a:schemeClr val="accent1">
                    <a:lumMod val="76000"/>
                  </a:schemeClr>
                </a:solidFill>
                <a:latin typeface="Arial"/>
                <a:ea typeface="+mn-lt"/>
                <a:cs typeface="Arial"/>
              </a:rPr>
              <a:t>Табеле</a:t>
            </a:r>
            <a:r>
              <a:rPr lang="en-US" sz="2000" dirty="0">
                <a:solidFill>
                  <a:schemeClr val="accent1">
                    <a:lumMod val="76000"/>
                  </a:schemeClr>
                </a:solidFill>
                <a:latin typeface="Arial"/>
                <a:ea typeface="+mn-lt"/>
                <a:cs typeface="Arial"/>
              </a:rPr>
              <a:t> и </a:t>
            </a:r>
            <a:r>
              <a:rPr lang="en-US" sz="2000" dirty="0" err="1">
                <a:solidFill>
                  <a:schemeClr val="accent1">
                    <a:lumMod val="76000"/>
                  </a:schemeClr>
                </a:solidFill>
                <a:latin typeface="Arial"/>
                <a:ea typeface="+mn-lt"/>
                <a:cs typeface="Arial"/>
              </a:rPr>
              <a:t>графици</a:t>
            </a:r>
            <a:r>
              <a:rPr lang="en-US" sz="2000" dirty="0">
                <a:solidFill>
                  <a:schemeClr val="accent1">
                    <a:lumMod val="76000"/>
                  </a:schemeClr>
                </a:solidFill>
                <a:latin typeface="Arial"/>
                <a:ea typeface="+mn-lt"/>
                <a:cs typeface="Arial"/>
              </a:rPr>
              <a:t> </a:t>
            </a:r>
          </a:p>
          <a:p>
            <a:pPr marL="342900" indent="-342900">
              <a:buFont typeface="Calibri"/>
              <a:buChar char="-"/>
            </a:pPr>
            <a:r>
              <a:rPr lang="en-US" sz="2000" dirty="0">
                <a:latin typeface="Arial"/>
                <a:ea typeface="+mn-lt"/>
                <a:cs typeface="Arial"/>
              </a:rPr>
              <a:t>Сажет </a:t>
            </a:r>
            <a:r>
              <a:rPr lang="en-US" sz="2000" dirty="0" err="1">
                <a:latin typeface="Arial"/>
                <a:ea typeface="+mn-lt"/>
                <a:cs typeface="Arial"/>
              </a:rPr>
              <a:t>приказ</a:t>
            </a:r>
            <a:r>
              <a:rPr lang="en-US" sz="2000" dirty="0">
                <a:latin typeface="Arial"/>
                <a:ea typeface="+mn-lt"/>
                <a:cs typeface="Arial"/>
              </a:rPr>
              <a:t> </a:t>
            </a:r>
            <a:r>
              <a:rPr lang="en-US" sz="2000" dirty="0" err="1">
                <a:latin typeface="Arial"/>
                <a:ea typeface="+mn-lt"/>
                <a:cs typeface="Arial"/>
              </a:rPr>
              <a:t>резултата</a:t>
            </a:r>
            <a:r>
              <a:rPr lang="en-US" sz="2000" dirty="0">
                <a:latin typeface="Arial"/>
                <a:ea typeface="+mn-lt"/>
                <a:cs typeface="Arial"/>
              </a:rPr>
              <a:t> и </a:t>
            </a:r>
            <a:r>
              <a:rPr lang="en-US" sz="2000" dirty="0" err="1">
                <a:latin typeface="Arial"/>
                <a:ea typeface="+mn-lt"/>
                <a:cs typeface="Arial"/>
              </a:rPr>
              <a:t>поређења</a:t>
            </a:r>
            <a:r>
              <a:rPr lang="en-US" sz="2000" dirty="0">
                <a:latin typeface="Arial"/>
                <a:ea typeface="+mn-lt"/>
                <a:cs typeface="Arial"/>
              </a:rPr>
              <a:t>.</a:t>
            </a:r>
            <a:endParaRPr lang="en-US" sz="2000">
              <a:latin typeface="Arial"/>
              <a:ea typeface="Calibri"/>
              <a:cs typeface="Arial"/>
            </a:endParaRPr>
          </a:p>
        </p:txBody>
      </p:sp>
    </p:spTree>
    <p:extLst>
      <p:ext uri="{BB962C8B-B14F-4D97-AF65-F5344CB8AC3E}">
        <p14:creationId xmlns:p14="http://schemas.microsoft.com/office/powerpoint/2010/main" val="808174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759E7-8551-AF02-2281-F3140543E4F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956006-AE57-71DF-6D11-C4B16AF48CF1}"/>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B168DE8-9468-BFA3-1E71-DDE065DAC639}"/>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C4EFF03-A6D2-AB44-9669-FC9E77413510}"/>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81807C3-8279-BE8A-6270-CC45F1150385}"/>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977748-583D-93FB-63BF-782B28C848F4}"/>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D1257B-BB6D-B13A-4EEF-1927725DD6C9}"/>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7F440A98-77DC-87DE-B3D1-33F8CAF93DF7}"/>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6E79440-0F23-9F76-F7C1-720437AAAC97}"/>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Пројектни задатак</a:t>
            </a:r>
            <a:endParaRPr lang="en-US" b="1">
              <a:solidFill>
                <a:schemeClr val="bg1"/>
              </a:solidFill>
            </a:endParaRPr>
          </a:p>
        </p:txBody>
      </p:sp>
      <p:sp>
        <p:nvSpPr>
          <p:cNvPr id="2" name="TextBox 1">
            <a:extLst>
              <a:ext uri="{FF2B5EF4-FFF2-40B4-BE49-F238E27FC236}">
                <a16:creationId xmlns:a16="http://schemas.microsoft.com/office/drawing/2014/main" id="{C6FFBD4C-E883-1C27-5115-35950211A261}"/>
              </a:ext>
            </a:extLst>
          </p:cNvPr>
          <p:cNvSpPr txBox="1"/>
          <p:nvPr/>
        </p:nvSpPr>
        <p:spPr>
          <a:xfrm>
            <a:off x="714371" y="1586919"/>
            <a:ext cx="628604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err="1">
                <a:latin typeface="Arial"/>
                <a:ea typeface="+mn-lt"/>
                <a:cs typeface="Arial"/>
              </a:rPr>
              <a:t>Како</a:t>
            </a:r>
            <a:r>
              <a:rPr lang="en-US" sz="2400" dirty="0">
                <a:latin typeface="Arial"/>
                <a:ea typeface="+mn-lt"/>
                <a:cs typeface="Arial"/>
              </a:rPr>
              <a:t> </a:t>
            </a:r>
            <a:r>
              <a:rPr lang="en-US" sz="2400" dirty="0" err="1">
                <a:latin typeface="Arial"/>
                <a:ea typeface="+mn-lt"/>
                <a:cs typeface="Arial"/>
              </a:rPr>
              <a:t>је</a:t>
            </a:r>
            <a:r>
              <a:rPr lang="en-US" sz="2400" dirty="0">
                <a:latin typeface="Arial"/>
                <a:ea typeface="+mn-lt"/>
                <a:cs typeface="Arial"/>
              </a:rPr>
              <a:t> </a:t>
            </a:r>
            <a:r>
              <a:rPr lang="en-US" sz="2400" dirty="0" err="1">
                <a:latin typeface="Arial"/>
                <a:ea typeface="+mn-lt"/>
                <a:cs typeface="Arial"/>
              </a:rPr>
              <a:t>код</a:t>
            </a:r>
            <a:r>
              <a:rPr lang="en-US" sz="2400" dirty="0">
                <a:latin typeface="Arial"/>
                <a:ea typeface="+mn-lt"/>
                <a:cs typeface="Arial"/>
              </a:rPr>
              <a:t> </a:t>
            </a:r>
            <a:r>
              <a:rPr lang="en-US" sz="2400" dirty="0" err="1">
                <a:latin typeface="Arial"/>
                <a:ea typeface="+mn-lt"/>
                <a:cs typeface="Arial"/>
              </a:rPr>
              <a:t>организован</a:t>
            </a:r>
            <a:r>
              <a:rPr lang="en-US" sz="2400" dirty="0">
                <a:latin typeface="Arial"/>
                <a:ea typeface="+mn-lt"/>
                <a:cs typeface="Arial"/>
              </a:rPr>
              <a:t>?</a:t>
            </a:r>
            <a:endParaRPr lang="en-US" sz="2400">
              <a:latin typeface="Arial"/>
              <a:cs typeface="Arial"/>
            </a:endParaRPr>
          </a:p>
        </p:txBody>
      </p:sp>
      <p:pic>
        <p:nvPicPr>
          <p:cNvPr id="4" name="Picture 3" descr="A white rectangular object with blue text&#10;&#10;AI-generated content may be incorrect.">
            <a:extLst>
              <a:ext uri="{FF2B5EF4-FFF2-40B4-BE49-F238E27FC236}">
                <a16:creationId xmlns:a16="http://schemas.microsoft.com/office/drawing/2014/main" id="{365A8FD7-86E0-F171-398A-BE6844B6A5D9}"/>
              </a:ext>
            </a:extLst>
          </p:cNvPr>
          <p:cNvPicPr>
            <a:picLocks noChangeAspect="1"/>
          </p:cNvPicPr>
          <p:nvPr/>
        </p:nvPicPr>
        <p:blipFill>
          <a:blip r:embed="rId3"/>
          <a:stretch>
            <a:fillRect/>
          </a:stretch>
        </p:blipFill>
        <p:spPr>
          <a:xfrm>
            <a:off x="502227" y="2207936"/>
            <a:ext cx="7666182" cy="2470992"/>
          </a:xfrm>
          <a:prstGeom prst="rect">
            <a:avLst/>
          </a:prstGeom>
        </p:spPr>
      </p:pic>
      <p:pic>
        <p:nvPicPr>
          <p:cNvPr id="5" name="Picture 4" descr="A white rectangle with black text&#10;&#10;AI-generated content may be incorrect.">
            <a:extLst>
              <a:ext uri="{FF2B5EF4-FFF2-40B4-BE49-F238E27FC236}">
                <a16:creationId xmlns:a16="http://schemas.microsoft.com/office/drawing/2014/main" id="{CA916E1B-23E1-9F1C-61B6-00A940C1A786}"/>
              </a:ext>
            </a:extLst>
          </p:cNvPr>
          <p:cNvPicPr>
            <a:picLocks noChangeAspect="1"/>
          </p:cNvPicPr>
          <p:nvPr/>
        </p:nvPicPr>
        <p:blipFill>
          <a:blip r:embed="rId4"/>
          <a:stretch>
            <a:fillRect/>
          </a:stretch>
        </p:blipFill>
        <p:spPr>
          <a:xfrm>
            <a:off x="594590" y="4683167"/>
            <a:ext cx="7487228" cy="937983"/>
          </a:xfrm>
          <a:prstGeom prst="rect">
            <a:avLst/>
          </a:prstGeom>
        </p:spPr>
      </p:pic>
    </p:spTree>
    <p:extLst>
      <p:ext uri="{BB962C8B-B14F-4D97-AF65-F5344CB8AC3E}">
        <p14:creationId xmlns:p14="http://schemas.microsoft.com/office/powerpoint/2010/main" val="2074528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7AEB1-F257-FB3A-42AC-7AC00A47290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70C3FB7-87E4-5714-1775-CDCBE2B4CA34}"/>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4B9144-CBCA-51EC-DD94-A75F0346FA28}"/>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1B6D514-7BD0-6EBE-72EE-B22B62BF4211}"/>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94EE7CA-CA92-8ED6-92F2-FBC5BBB95743}"/>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71D39F-D23F-FF30-9C53-2BE4A51CFCE7}"/>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535BB41-A029-F5FC-A4AE-5EDFD6D8A515}"/>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DE01E846-F837-EEB8-46E7-717214FA8865}"/>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AB5FC4C-99AE-F153-44BE-64C5CA2C4D18}"/>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Учитавање и синтеза</a:t>
            </a:r>
            <a:endParaRPr lang="en-US" b="1">
              <a:solidFill>
                <a:schemeClr val="bg1"/>
              </a:solidFill>
            </a:endParaRPr>
          </a:p>
        </p:txBody>
      </p:sp>
      <p:pic>
        <p:nvPicPr>
          <p:cNvPr id="4" name="Picture 3" descr="A white background with blue text&#10;&#10;AI-generated content may be incorrect.">
            <a:extLst>
              <a:ext uri="{FF2B5EF4-FFF2-40B4-BE49-F238E27FC236}">
                <a16:creationId xmlns:a16="http://schemas.microsoft.com/office/drawing/2014/main" id="{82605E35-CFD3-63CE-B867-4F4ADA09A59E}"/>
              </a:ext>
            </a:extLst>
          </p:cNvPr>
          <p:cNvPicPr>
            <a:picLocks noChangeAspect="1"/>
          </p:cNvPicPr>
          <p:nvPr/>
        </p:nvPicPr>
        <p:blipFill>
          <a:blip r:embed="rId3"/>
          <a:stretch>
            <a:fillRect/>
          </a:stretch>
        </p:blipFill>
        <p:spPr>
          <a:xfrm>
            <a:off x="502227" y="1488080"/>
            <a:ext cx="6777182" cy="2646475"/>
          </a:xfrm>
          <a:prstGeom prst="rect">
            <a:avLst/>
          </a:prstGeom>
        </p:spPr>
      </p:pic>
      <p:pic>
        <p:nvPicPr>
          <p:cNvPr id="5" name="Picture 4" descr="A white paper with blue text&#10;&#10;AI-generated content may be incorrect.">
            <a:extLst>
              <a:ext uri="{FF2B5EF4-FFF2-40B4-BE49-F238E27FC236}">
                <a16:creationId xmlns:a16="http://schemas.microsoft.com/office/drawing/2014/main" id="{644A9931-6670-C419-8D98-DB1C13E98944}"/>
              </a:ext>
            </a:extLst>
          </p:cNvPr>
          <p:cNvPicPr>
            <a:picLocks noChangeAspect="1"/>
          </p:cNvPicPr>
          <p:nvPr/>
        </p:nvPicPr>
        <p:blipFill>
          <a:blip r:embed="rId4"/>
          <a:stretch>
            <a:fillRect/>
          </a:stretch>
        </p:blipFill>
        <p:spPr>
          <a:xfrm>
            <a:off x="2164772" y="4183303"/>
            <a:ext cx="6800273" cy="2422622"/>
          </a:xfrm>
          <a:prstGeom prst="rect">
            <a:avLst/>
          </a:prstGeom>
        </p:spPr>
      </p:pic>
    </p:spTree>
    <p:extLst>
      <p:ext uri="{BB962C8B-B14F-4D97-AF65-F5344CB8AC3E}">
        <p14:creationId xmlns:p14="http://schemas.microsoft.com/office/powerpoint/2010/main" val="4045540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73795-144F-0DA0-7B73-06F46EEEDD4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6BEAA92-AA3D-8E4C-EDF8-32041E28A4D5}"/>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13CF6E7-62A4-B500-01CB-BBA22B67C131}"/>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26E6E01-0FA8-8281-540F-D94EF0709711}"/>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42E21C-D4E0-0102-18F3-F35EFF88EAD5}"/>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B0FE7B-06D4-529A-B68D-1FD3091FE371}"/>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5CBA5F-4E36-2B35-3C8E-AD76CF40FF67}"/>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20DA8A71-80C4-8CB5-2EF7-419D9F9C1724}"/>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33D560-E945-0FC0-832E-1655FBCC1BB7}"/>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Од WAV-а до табеле</a:t>
            </a:r>
            <a:endParaRPr lang="en-US" b="1">
              <a:solidFill>
                <a:schemeClr val="bg1"/>
              </a:solidFill>
            </a:endParaRPr>
          </a:p>
        </p:txBody>
      </p:sp>
      <p:pic>
        <p:nvPicPr>
          <p:cNvPr id="4" name="Picture 3">
            <a:extLst>
              <a:ext uri="{FF2B5EF4-FFF2-40B4-BE49-F238E27FC236}">
                <a16:creationId xmlns:a16="http://schemas.microsoft.com/office/drawing/2014/main" id="{F639ABD5-5CD0-7432-A285-C3256FD5085D}"/>
              </a:ext>
            </a:extLst>
          </p:cNvPr>
          <p:cNvPicPr>
            <a:picLocks noChangeAspect="1"/>
          </p:cNvPicPr>
          <p:nvPr/>
        </p:nvPicPr>
        <p:blipFill>
          <a:blip r:embed="rId3"/>
          <a:stretch>
            <a:fillRect/>
          </a:stretch>
        </p:blipFill>
        <p:spPr>
          <a:xfrm>
            <a:off x="502227" y="1486397"/>
            <a:ext cx="7262091" cy="2130296"/>
          </a:xfrm>
          <a:prstGeom prst="rect">
            <a:avLst/>
          </a:prstGeom>
        </p:spPr>
      </p:pic>
      <p:pic>
        <p:nvPicPr>
          <p:cNvPr id="5" name="Picture 4" descr="A blue and white screen with text&#10;&#10;AI-generated content may be incorrect.">
            <a:extLst>
              <a:ext uri="{FF2B5EF4-FFF2-40B4-BE49-F238E27FC236}">
                <a16:creationId xmlns:a16="http://schemas.microsoft.com/office/drawing/2014/main" id="{3D37F5C4-0A81-D20B-C342-C69E5C3B6584}"/>
              </a:ext>
            </a:extLst>
          </p:cNvPr>
          <p:cNvPicPr>
            <a:picLocks noChangeAspect="1"/>
          </p:cNvPicPr>
          <p:nvPr/>
        </p:nvPicPr>
        <p:blipFill>
          <a:blip r:embed="rId4"/>
          <a:stretch>
            <a:fillRect/>
          </a:stretch>
        </p:blipFill>
        <p:spPr>
          <a:xfrm>
            <a:off x="2534226" y="3668772"/>
            <a:ext cx="6430819" cy="2285592"/>
          </a:xfrm>
          <a:prstGeom prst="rect">
            <a:avLst/>
          </a:prstGeom>
        </p:spPr>
      </p:pic>
    </p:spTree>
    <p:extLst>
      <p:ext uri="{BB962C8B-B14F-4D97-AF65-F5344CB8AC3E}">
        <p14:creationId xmlns:p14="http://schemas.microsoft.com/office/powerpoint/2010/main" val="2224286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E77AA-7134-2666-9DE1-98913025A60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5572A23-DDE0-37A8-3142-DDD649DBA1DD}"/>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F843EFB-8558-09A1-6888-C8267F3538F2}"/>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83EE13E-C6E2-85C8-0D23-A8A05FA3E27D}"/>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A9A0122-767E-21EB-251F-FA42C0DA16B0}"/>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512A5BD-598F-CDE9-6594-7ACC46B90319}"/>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62DA26-501B-6EFC-73F6-0CA328941208}"/>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5C96A9D5-9126-3748-86B1-D6668560035F}"/>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A8FAC9-52B6-C5AF-B045-0593EA221DEF}"/>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Илустрација сигнала</a:t>
            </a:r>
            <a:endParaRPr lang="en-US" b="1">
              <a:solidFill>
                <a:schemeClr val="bg1"/>
              </a:solidFill>
            </a:endParaRPr>
          </a:p>
        </p:txBody>
      </p:sp>
      <p:sp>
        <p:nvSpPr>
          <p:cNvPr id="2" name="TextBox 1">
            <a:extLst>
              <a:ext uri="{FF2B5EF4-FFF2-40B4-BE49-F238E27FC236}">
                <a16:creationId xmlns:a16="http://schemas.microsoft.com/office/drawing/2014/main" id="{C5D20A61-10A8-9A50-18AF-812F84FED065}"/>
              </a:ext>
            </a:extLst>
          </p:cNvPr>
          <p:cNvSpPr txBox="1"/>
          <p:nvPr/>
        </p:nvSpPr>
        <p:spPr>
          <a:xfrm>
            <a:off x="655172" y="1486736"/>
            <a:ext cx="605380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Приказ </a:t>
            </a:r>
            <a:r>
              <a:rPr lang="en-US" sz="2400" dirty="0" err="1">
                <a:latin typeface="Arial"/>
                <a:ea typeface="+mn-lt"/>
                <a:cs typeface="Arial"/>
              </a:rPr>
              <a:t>аудио-сигнала</a:t>
            </a:r>
            <a:endParaRPr lang="en-US" sz="2400" dirty="0">
              <a:latin typeface="Arial"/>
              <a:ea typeface="+mn-lt"/>
              <a:cs typeface="Arial"/>
            </a:endParaRPr>
          </a:p>
        </p:txBody>
      </p:sp>
      <p:pic>
        <p:nvPicPr>
          <p:cNvPr id="4" name="Picture 3">
            <a:extLst>
              <a:ext uri="{FF2B5EF4-FFF2-40B4-BE49-F238E27FC236}">
                <a16:creationId xmlns:a16="http://schemas.microsoft.com/office/drawing/2014/main" id="{91090732-B4A3-743D-8EEF-10019474DC54}"/>
              </a:ext>
            </a:extLst>
          </p:cNvPr>
          <p:cNvPicPr>
            <a:picLocks noChangeAspect="1"/>
          </p:cNvPicPr>
          <p:nvPr/>
        </p:nvPicPr>
        <p:blipFill>
          <a:blip r:embed="rId3"/>
          <a:stretch>
            <a:fillRect/>
          </a:stretch>
        </p:blipFill>
        <p:spPr>
          <a:xfrm>
            <a:off x="500916" y="2064732"/>
            <a:ext cx="8397180" cy="2723982"/>
          </a:xfrm>
          <a:prstGeom prst="rect">
            <a:avLst/>
          </a:prstGeom>
        </p:spPr>
      </p:pic>
    </p:spTree>
    <p:extLst>
      <p:ext uri="{BB962C8B-B14F-4D97-AF65-F5344CB8AC3E}">
        <p14:creationId xmlns:p14="http://schemas.microsoft.com/office/powerpoint/2010/main" val="2794259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4F6B3-8305-A849-B772-BFEFBE34869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58ADFA6-E2D4-AC98-AA8E-7BBA33998A0F}"/>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91C5EBA-9977-CFC6-FDE6-3EF1CA017F4A}"/>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B6AC3F4-7D19-7880-287F-AA2CFD459ED6}"/>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A50B4CE-E02E-F847-2DB6-3991064034BB}"/>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F455C2-87B4-8682-D390-A0F3D18A066D}"/>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2C6013-BC86-921D-7295-E97C56F91F1E}"/>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E0B978FB-8ADE-0047-F0AF-961350B776DB}"/>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98D495B-6A7E-949D-DBA2-AE1022F6CA79}"/>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Резултати</a:t>
            </a:r>
            <a:endParaRPr lang="en-US" b="1">
              <a:solidFill>
                <a:schemeClr val="bg1"/>
              </a:solidFill>
            </a:endParaRPr>
          </a:p>
        </p:txBody>
      </p:sp>
      <p:sp>
        <p:nvSpPr>
          <p:cNvPr id="2" name="TextBox 1">
            <a:extLst>
              <a:ext uri="{FF2B5EF4-FFF2-40B4-BE49-F238E27FC236}">
                <a16:creationId xmlns:a16="http://schemas.microsoft.com/office/drawing/2014/main" id="{9D581B75-9A1B-ABEE-BAC8-CC767DBCA084}"/>
              </a:ext>
            </a:extLst>
          </p:cNvPr>
          <p:cNvSpPr txBox="1"/>
          <p:nvPr/>
        </p:nvSpPr>
        <p:spPr>
          <a:xfrm>
            <a:off x="723479" y="1486736"/>
            <a:ext cx="538894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Arial"/>
                <a:ea typeface="+mn-lt"/>
                <a:cs typeface="Arial"/>
              </a:rPr>
              <a:t>Дужина </a:t>
            </a:r>
            <a:r>
              <a:rPr lang="en-US" sz="2400" dirty="0" err="1">
                <a:latin typeface="Arial"/>
                <a:ea typeface="+mn-lt"/>
                <a:cs typeface="Arial"/>
              </a:rPr>
              <a:t>текста</a:t>
            </a:r>
            <a:r>
              <a:rPr lang="en-US" sz="2400" dirty="0">
                <a:latin typeface="Arial"/>
                <a:ea typeface="+mn-lt"/>
                <a:cs typeface="Arial"/>
              </a:rPr>
              <a:t> и </a:t>
            </a:r>
            <a:r>
              <a:rPr lang="en-US" sz="2400" dirty="0" err="1">
                <a:latin typeface="Arial"/>
                <a:ea typeface="+mn-lt"/>
                <a:cs typeface="Arial"/>
              </a:rPr>
              <a:t>време</a:t>
            </a:r>
            <a:endParaRPr lang="en-US" sz="2400">
              <a:latin typeface="Arial"/>
              <a:cs typeface="Arial"/>
            </a:endParaRPr>
          </a:p>
        </p:txBody>
      </p:sp>
      <p:pic>
        <p:nvPicPr>
          <p:cNvPr id="4" name="Picture 3">
            <a:extLst>
              <a:ext uri="{FF2B5EF4-FFF2-40B4-BE49-F238E27FC236}">
                <a16:creationId xmlns:a16="http://schemas.microsoft.com/office/drawing/2014/main" id="{57E95894-0B57-C21D-6D16-719384E49ACD}"/>
              </a:ext>
            </a:extLst>
          </p:cNvPr>
          <p:cNvPicPr>
            <a:picLocks noChangeAspect="1"/>
          </p:cNvPicPr>
          <p:nvPr/>
        </p:nvPicPr>
        <p:blipFill>
          <a:blip r:embed="rId3"/>
          <a:stretch>
            <a:fillRect/>
          </a:stretch>
        </p:blipFill>
        <p:spPr>
          <a:xfrm>
            <a:off x="724052" y="2031765"/>
            <a:ext cx="6744155" cy="3605047"/>
          </a:xfrm>
          <a:prstGeom prst="rect">
            <a:avLst/>
          </a:prstGeom>
        </p:spPr>
      </p:pic>
      <p:sp>
        <p:nvSpPr>
          <p:cNvPr id="5" name="TextBox 4">
            <a:extLst>
              <a:ext uri="{FF2B5EF4-FFF2-40B4-BE49-F238E27FC236}">
                <a16:creationId xmlns:a16="http://schemas.microsoft.com/office/drawing/2014/main" id="{8A564828-8C2A-94B4-8D0A-01FAF8D8C808}"/>
              </a:ext>
            </a:extLst>
          </p:cNvPr>
          <p:cNvSpPr txBox="1"/>
          <p:nvPr/>
        </p:nvSpPr>
        <p:spPr>
          <a:xfrm>
            <a:off x="724793" y="5808978"/>
            <a:ext cx="689169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Arial"/>
                <a:ea typeface="+mn-lt"/>
                <a:cs typeface="Arial"/>
              </a:rPr>
              <a:t>Дужи </a:t>
            </a:r>
            <a:r>
              <a:rPr lang="en-US" dirty="0" err="1">
                <a:latin typeface="Arial"/>
                <a:ea typeface="+mn-lt"/>
                <a:cs typeface="Arial"/>
              </a:rPr>
              <a:t>текст</a:t>
            </a:r>
            <a:r>
              <a:rPr lang="en-US" dirty="0">
                <a:latin typeface="Arial"/>
                <a:ea typeface="+mn-lt"/>
                <a:cs typeface="Arial"/>
              </a:rPr>
              <a:t> </a:t>
            </a:r>
            <a:r>
              <a:rPr lang="en-US" dirty="0" err="1">
                <a:latin typeface="Arial"/>
                <a:ea typeface="+mn-lt"/>
                <a:cs typeface="Arial"/>
              </a:rPr>
              <a:t>очекивано</a:t>
            </a:r>
            <a:r>
              <a:rPr lang="en-US" dirty="0">
                <a:latin typeface="Arial"/>
                <a:ea typeface="+mn-lt"/>
                <a:cs typeface="Arial"/>
              </a:rPr>
              <a:t> </a:t>
            </a:r>
            <a:r>
              <a:rPr lang="en-US" dirty="0" err="1">
                <a:latin typeface="Arial"/>
                <a:ea typeface="+mn-lt"/>
                <a:cs typeface="Arial"/>
              </a:rPr>
              <a:t>тражи</a:t>
            </a:r>
            <a:r>
              <a:rPr lang="en-US" dirty="0">
                <a:latin typeface="Arial"/>
                <a:ea typeface="+mn-lt"/>
                <a:cs typeface="Arial"/>
              </a:rPr>
              <a:t> </a:t>
            </a:r>
            <a:r>
              <a:rPr lang="en-US" dirty="0" err="1">
                <a:latin typeface="Arial"/>
                <a:ea typeface="+mn-lt"/>
                <a:cs typeface="Arial"/>
              </a:rPr>
              <a:t>више</a:t>
            </a:r>
            <a:r>
              <a:rPr lang="en-US" dirty="0">
                <a:latin typeface="Arial"/>
                <a:ea typeface="+mn-lt"/>
                <a:cs typeface="Arial"/>
              </a:rPr>
              <a:t> </a:t>
            </a:r>
            <a:r>
              <a:rPr lang="en-US" dirty="0" err="1">
                <a:latin typeface="Arial"/>
                <a:ea typeface="+mn-lt"/>
                <a:cs typeface="Arial"/>
              </a:rPr>
              <a:t>времена</a:t>
            </a:r>
            <a:r>
              <a:rPr lang="en-US" dirty="0">
                <a:latin typeface="Arial"/>
                <a:ea typeface="+mn-lt"/>
                <a:cs typeface="Arial"/>
              </a:rPr>
              <a:t>, </a:t>
            </a:r>
            <a:r>
              <a:rPr lang="en-US" dirty="0" err="1">
                <a:latin typeface="Arial"/>
                <a:ea typeface="+mn-lt"/>
                <a:cs typeface="Arial"/>
              </a:rPr>
              <a:t>али</a:t>
            </a:r>
            <a:r>
              <a:rPr lang="en-US" dirty="0">
                <a:latin typeface="Arial"/>
                <a:ea typeface="+mn-lt"/>
                <a:cs typeface="Arial"/>
              </a:rPr>
              <a:t> </a:t>
            </a:r>
            <a:r>
              <a:rPr lang="en-US" dirty="0" err="1">
                <a:latin typeface="Arial"/>
                <a:ea typeface="+mn-lt"/>
                <a:cs typeface="Arial"/>
              </a:rPr>
              <a:t>је</a:t>
            </a:r>
            <a:r>
              <a:rPr lang="en-US" dirty="0">
                <a:latin typeface="Arial"/>
                <a:ea typeface="+mn-lt"/>
                <a:cs typeface="Arial"/>
              </a:rPr>
              <a:t> </a:t>
            </a:r>
            <a:r>
              <a:rPr lang="en-US" dirty="0" err="1">
                <a:latin typeface="Arial"/>
                <a:ea typeface="+mn-lt"/>
                <a:cs typeface="Arial"/>
              </a:rPr>
              <a:t>корисно</a:t>
            </a:r>
            <a:r>
              <a:rPr lang="en-US" dirty="0">
                <a:latin typeface="Arial"/>
                <a:ea typeface="+mn-lt"/>
                <a:cs typeface="Arial"/>
              </a:rPr>
              <a:t> </a:t>
            </a:r>
            <a:r>
              <a:rPr lang="en-US" dirty="0" err="1">
                <a:latin typeface="Arial"/>
                <a:ea typeface="+mn-lt"/>
                <a:cs typeface="Arial"/>
              </a:rPr>
              <a:t>видети</a:t>
            </a:r>
            <a:r>
              <a:rPr lang="en-US" dirty="0">
                <a:latin typeface="Arial"/>
                <a:ea typeface="+mn-lt"/>
                <a:cs typeface="Arial"/>
              </a:rPr>
              <a:t> </a:t>
            </a:r>
            <a:r>
              <a:rPr lang="en-US" dirty="0" err="1">
                <a:latin typeface="Arial"/>
                <a:ea typeface="+mn-lt"/>
                <a:cs typeface="Arial"/>
              </a:rPr>
              <a:t>колико</a:t>
            </a:r>
            <a:r>
              <a:rPr lang="en-US" dirty="0">
                <a:latin typeface="Arial"/>
                <a:ea typeface="+mn-lt"/>
                <a:cs typeface="Arial"/>
              </a:rPr>
              <a:t> </a:t>
            </a:r>
            <a:r>
              <a:rPr lang="en-US" dirty="0" err="1">
                <a:latin typeface="Arial"/>
                <a:ea typeface="+mn-lt"/>
                <a:cs typeface="Arial"/>
              </a:rPr>
              <a:t>то</a:t>
            </a:r>
            <a:r>
              <a:rPr lang="en-US" dirty="0">
                <a:latin typeface="Arial"/>
                <a:ea typeface="+mn-lt"/>
                <a:cs typeface="Arial"/>
              </a:rPr>
              <a:t> </a:t>
            </a:r>
            <a:r>
              <a:rPr lang="en-US" dirty="0" err="1">
                <a:latin typeface="Arial"/>
                <a:ea typeface="+mn-lt"/>
                <a:cs typeface="Arial"/>
              </a:rPr>
              <a:t>износи</a:t>
            </a:r>
            <a:r>
              <a:rPr lang="en-US" dirty="0">
                <a:latin typeface="Arial"/>
                <a:ea typeface="+mn-lt"/>
                <a:cs typeface="Arial"/>
              </a:rPr>
              <a:t> у </a:t>
            </a:r>
            <a:r>
              <a:rPr lang="en-US" dirty="0" err="1">
                <a:latin typeface="Arial"/>
                <a:ea typeface="+mn-lt"/>
                <a:cs typeface="Arial"/>
              </a:rPr>
              <a:t>пракси</a:t>
            </a:r>
            <a:r>
              <a:rPr lang="en-US" dirty="0">
                <a:latin typeface="Arial"/>
                <a:ea typeface="+mn-lt"/>
                <a:cs typeface="Arial"/>
              </a:rPr>
              <a:t>.</a:t>
            </a:r>
          </a:p>
        </p:txBody>
      </p:sp>
    </p:spTree>
    <p:extLst>
      <p:ext uri="{BB962C8B-B14F-4D97-AF65-F5344CB8AC3E}">
        <p14:creationId xmlns:p14="http://schemas.microsoft.com/office/powerpoint/2010/main" val="1383127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108CC-0691-40A2-91E6-6DB7D89034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080B96-4D46-51C4-E5C1-576EB853E026}"/>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BAC1827-4EBE-9058-24CA-96011E434E45}"/>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E2A0C18-B8CA-AABA-5C8E-69ACD310D8F0}"/>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8B56E77-3910-EF61-D77C-18291E45ED66}"/>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0E03E3E-018B-B1A3-31F3-93DBCEA59902}"/>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0F00CF8-222B-94D5-70B9-B1D8196F983F}"/>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BAC1C49C-0A0F-8183-1AC5-DCDDF84ED247}"/>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54FDC6-4756-DD5F-5158-ED5EC7E9748C}"/>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RTF на CPU-у</a:t>
            </a:r>
            <a:endParaRPr lang="en-US" b="1">
              <a:solidFill>
                <a:schemeClr val="bg1"/>
              </a:solidFill>
            </a:endParaRPr>
          </a:p>
        </p:txBody>
      </p:sp>
      <p:sp>
        <p:nvSpPr>
          <p:cNvPr id="2" name="TextBox 1">
            <a:extLst>
              <a:ext uri="{FF2B5EF4-FFF2-40B4-BE49-F238E27FC236}">
                <a16:creationId xmlns:a16="http://schemas.microsoft.com/office/drawing/2014/main" id="{746E5B2C-A37C-7416-405C-A6563353402D}"/>
              </a:ext>
            </a:extLst>
          </p:cNvPr>
          <p:cNvSpPr txBox="1"/>
          <p:nvPr/>
        </p:nvSpPr>
        <p:spPr>
          <a:xfrm>
            <a:off x="720143" y="1586919"/>
            <a:ext cx="495415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Arial"/>
                <a:ea typeface="Calibri"/>
                <a:cs typeface="Arial"/>
              </a:rPr>
              <a:t>RTF (Real-time factor)</a:t>
            </a:r>
          </a:p>
        </p:txBody>
      </p:sp>
      <p:pic>
        <p:nvPicPr>
          <p:cNvPr id="4" name="Picture 3" descr="A graph with blue and white bars&#10;&#10;AI-generated content may be incorrect.">
            <a:extLst>
              <a:ext uri="{FF2B5EF4-FFF2-40B4-BE49-F238E27FC236}">
                <a16:creationId xmlns:a16="http://schemas.microsoft.com/office/drawing/2014/main" id="{E512F7B1-3153-FDDA-6B7B-EA967400AFA4}"/>
              </a:ext>
            </a:extLst>
          </p:cNvPr>
          <p:cNvPicPr>
            <a:picLocks noChangeAspect="1"/>
          </p:cNvPicPr>
          <p:nvPr/>
        </p:nvPicPr>
        <p:blipFill>
          <a:blip r:embed="rId3"/>
          <a:stretch>
            <a:fillRect/>
          </a:stretch>
        </p:blipFill>
        <p:spPr>
          <a:xfrm>
            <a:off x="728605" y="2346355"/>
            <a:ext cx="7577499" cy="4077879"/>
          </a:xfrm>
          <a:prstGeom prst="rect">
            <a:avLst/>
          </a:prstGeom>
        </p:spPr>
      </p:pic>
    </p:spTree>
    <p:extLst>
      <p:ext uri="{BB962C8B-B14F-4D97-AF65-F5344CB8AC3E}">
        <p14:creationId xmlns:p14="http://schemas.microsoft.com/office/powerpoint/2010/main" val="574646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9642-3D96-AEEB-EF67-C71DBC65AE5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D98F162-CC1E-4D64-A5AE-89A8E184DC31}"/>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670DEC9-4161-734A-E9F0-8F35FAF0B157}"/>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3A1C067-ACB0-3784-6445-DDD21E8B6D8B}"/>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E98FB81-B6EF-A847-B099-4E6BE3975C92}"/>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38CA2F-E30C-FA93-3D10-217EACB1761A}"/>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0D569D-45DC-5B05-C4F6-2DAD72B2C76B}"/>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300AA9FE-62A4-4626-FB8D-CDBADCFA3677}"/>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BF0A12B-43EF-C1BD-F63C-80A5C83692A5}"/>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Како стил мења сигнал</a:t>
            </a:r>
            <a:endParaRPr lang="en-US" b="1">
              <a:solidFill>
                <a:schemeClr val="bg1"/>
              </a:solidFill>
            </a:endParaRPr>
          </a:p>
        </p:txBody>
      </p:sp>
      <p:sp>
        <p:nvSpPr>
          <p:cNvPr id="2" name="TextBox 1">
            <a:extLst>
              <a:ext uri="{FF2B5EF4-FFF2-40B4-BE49-F238E27FC236}">
                <a16:creationId xmlns:a16="http://schemas.microsoft.com/office/drawing/2014/main" id="{BE0C9DAD-EBCE-5212-C540-53286054B4C2}"/>
              </a:ext>
            </a:extLst>
          </p:cNvPr>
          <p:cNvSpPr txBox="1"/>
          <p:nvPr/>
        </p:nvSpPr>
        <p:spPr>
          <a:xfrm>
            <a:off x="702826" y="1540737"/>
            <a:ext cx="53062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r-Latn-RS" sz="2400">
                <a:solidFill>
                  <a:srgbClr val="1E1C11"/>
                </a:solidFill>
                <a:latin typeface="Arial"/>
                <a:ea typeface="Calibri"/>
                <a:cs typeface="Arial"/>
              </a:rPr>
              <a:t>Pitch и RMS вредности</a:t>
            </a:r>
            <a:endParaRPr lang="en-US" sz="2400">
              <a:latin typeface="Arial"/>
              <a:cs typeface="Arial"/>
            </a:endParaRPr>
          </a:p>
        </p:txBody>
      </p:sp>
      <p:pic>
        <p:nvPicPr>
          <p:cNvPr id="4" name="Picture 3">
            <a:extLst>
              <a:ext uri="{FF2B5EF4-FFF2-40B4-BE49-F238E27FC236}">
                <a16:creationId xmlns:a16="http://schemas.microsoft.com/office/drawing/2014/main" id="{803EB6B9-8E2B-D0B8-49BB-0F41D326CF73}"/>
              </a:ext>
            </a:extLst>
          </p:cNvPr>
          <p:cNvPicPr>
            <a:picLocks noChangeAspect="1"/>
          </p:cNvPicPr>
          <p:nvPr/>
        </p:nvPicPr>
        <p:blipFill>
          <a:blip r:embed="rId3"/>
          <a:stretch>
            <a:fillRect/>
          </a:stretch>
        </p:blipFill>
        <p:spPr>
          <a:xfrm>
            <a:off x="610207" y="2343426"/>
            <a:ext cx="8070733" cy="3208007"/>
          </a:xfrm>
          <a:prstGeom prst="rect">
            <a:avLst/>
          </a:prstGeom>
        </p:spPr>
      </p:pic>
    </p:spTree>
    <p:extLst>
      <p:ext uri="{BB962C8B-B14F-4D97-AF65-F5344CB8AC3E}">
        <p14:creationId xmlns:p14="http://schemas.microsoft.com/office/powerpoint/2010/main" val="2661447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FB60E-4805-9CC3-2284-8E791A58839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8DB3F6-159A-539D-D61C-47831A3A4EBC}"/>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C5515EF-1916-9F16-59F0-4CCB03EC4AC0}"/>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D416FB7-75A1-C1D1-683C-16F749A1BF10}"/>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0B943C9-24C4-ED53-A2DA-E17A9C084DFC}"/>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0F7CDA4-3625-E107-170E-DF1D16AC6B56}"/>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C39C858-370A-C3BB-7F62-79052CE33E7A}"/>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F41674D0-D070-2750-199A-4369EE4202E3}"/>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509E185-2907-4F8D-DA7F-D8238919BD1A}"/>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defRPr/>
            </a:pPr>
            <a:r>
              <a:rPr lang="sr-Cyrl-RS" sz="3600" b="1">
                <a:solidFill>
                  <a:schemeClr val="bg1"/>
                </a:solidFill>
                <a:effectLst>
                  <a:outerShdw blurRad="38100" dist="38100" dir="2700000" algn="tl">
                    <a:srgbClr val="000000">
                      <a:alpha val="43137"/>
                    </a:srgbClr>
                  </a:outerShdw>
                </a:effectLst>
                <a:latin typeface="Arial"/>
                <a:cs typeface="Arial"/>
              </a:rPr>
              <a:t>Језичко ограничење</a:t>
            </a:r>
            <a:endParaRPr lang="en-US" b="1">
              <a:solidFill>
                <a:schemeClr val="bg1"/>
              </a:solidFill>
            </a:endParaRPr>
          </a:p>
        </p:txBody>
      </p:sp>
      <p:sp>
        <p:nvSpPr>
          <p:cNvPr id="2" name="TextBox 1">
            <a:extLst>
              <a:ext uri="{FF2B5EF4-FFF2-40B4-BE49-F238E27FC236}">
                <a16:creationId xmlns:a16="http://schemas.microsoft.com/office/drawing/2014/main" id="{B840966E-D614-3A05-7DD7-83000E9E0DC1}"/>
              </a:ext>
            </a:extLst>
          </p:cNvPr>
          <p:cNvSpPr txBox="1"/>
          <p:nvPr/>
        </p:nvSpPr>
        <p:spPr>
          <a:xfrm>
            <a:off x="714371" y="1586919"/>
            <a:ext cx="659114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err="1">
                <a:solidFill>
                  <a:srgbClr val="C00000"/>
                </a:solidFill>
                <a:latin typeface="Arial"/>
                <a:ea typeface="+mn-lt"/>
                <a:cs typeface="Arial"/>
              </a:rPr>
              <a:t>Енглески</a:t>
            </a:r>
            <a:endParaRPr lang="en-US" sz="2400" dirty="0">
              <a:solidFill>
                <a:srgbClr val="C00000"/>
              </a:solidFill>
              <a:latin typeface="Arial"/>
              <a:ea typeface="+mn-lt"/>
              <a:cs typeface="Arial"/>
            </a:endParaRPr>
          </a:p>
          <a:p>
            <a:pPr marL="285750" indent="-285750">
              <a:buFont typeface="Calibri"/>
              <a:buChar char="-"/>
            </a:pPr>
            <a:r>
              <a:rPr lang="en-US" sz="2400" dirty="0" err="1">
                <a:latin typeface="Arial"/>
                <a:ea typeface="+mn-lt"/>
                <a:cs typeface="Arial"/>
              </a:rPr>
              <a:t>Природност</a:t>
            </a:r>
            <a:r>
              <a:rPr lang="en-US" sz="2400" dirty="0">
                <a:latin typeface="Arial"/>
                <a:ea typeface="+mn-lt"/>
                <a:cs typeface="Arial"/>
              </a:rPr>
              <a:t> 4–5</a:t>
            </a:r>
          </a:p>
          <a:p>
            <a:pPr marL="285750" indent="-285750">
              <a:buFont typeface="Calibri"/>
              <a:buChar char="-"/>
            </a:pPr>
            <a:r>
              <a:rPr lang="en-US" sz="2400" dirty="0" err="1">
                <a:latin typeface="Arial"/>
                <a:ea typeface="+mn-lt"/>
                <a:cs typeface="Arial"/>
              </a:rPr>
              <a:t>Разумљивост</a:t>
            </a:r>
            <a:r>
              <a:rPr lang="en-US" sz="2400" dirty="0">
                <a:latin typeface="Arial"/>
                <a:ea typeface="+mn-lt"/>
                <a:cs typeface="Arial"/>
              </a:rPr>
              <a:t> 5</a:t>
            </a:r>
          </a:p>
          <a:p>
            <a:pPr marL="285750" indent="-285750">
              <a:buFont typeface="Calibri"/>
              <a:buChar char="-"/>
            </a:pPr>
            <a:r>
              <a:rPr lang="en-US" sz="2400" dirty="0">
                <a:latin typeface="Arial"/>
                <a:ea typeface="+mn-lt"/>
                <a:cs typeface="Arial"/>
              </a:rPr>
              <a:t>0 </a:t>
            </a:r>
            <a:r>
              <a:rPr lang="en-US" sz="2400" dirty="0" err="1">
                <a:latin typeface="Arial"/>
                <a:ea typeface="+mn-lt"/>
                <a:cs typeface="Arial"/>
              </a:rPr>
              <a:t>грешака</a:t>
            </a:r>
            <a:endParaRPr lang="en-US" sz="2400" dirty="0">
              <a:latin typeface="Arial"/>
              <a:ea typeface="+mn-lt"/>
              <a:cs typeface="Arial"/>
            </a:endParaRPr>
          </a:p>
          <a:p>
            <a:r>
              <a:rPr lang="en-US" sz="2400" dirty="0" err="1">
                <a:solidFill>
                  <a:srgbClr val="C00000"/>
                </a:solidFill>
                <a:latin typeface="Arial"/>
                <a:ea typeface="+mn-lt"/>
                <a:cs typeface="Arial"/>
              </a:rPr>
              <a:t>Српски</a:t>
            </a:r>
            <a:endParaRPr lang="en-US" sz="2400" dirty="0">
              <a:solidFill>
                <a:srgbClr val="C00000"/>
              </a:solidFill>
              <a:latin typeface="Arial"/>
              <a:ea typeface="+mn-lt"/>
              <a:cs typeface="Arial"/>
            </a:endParaRPr>
          </a:p>
          <a:p>
            <a:pPr marL="285750" indent="-285750">
              <a:buFont typeface="Calibri"/>
              <a:buChar char="-"/>
            </a:pPr>
            <a:r>
              <a:rPr lang="en-US" sz="2400" dirty="0" err="1">
                <a:latin typeface="Arial"/>
                <a:ea typeface="+mn-lt"/>
                <a:cs typeface="Arial"/>
              </a:rPr>
              <a:t>Природност</a:t>
            </a:r>
            <a:r>
              <a:rPr lang="en-US" sz="2400" dirty="0">
                <a:latin typeface="Arial"/>
                <a:ea typeface="+mn-lt"/>
                <a:cs typeface="Arial"/>
              </a:rPr>
              <a:t> 3</a:t>
            </a:r>
          </a:p>
          <a:p>
            <a:pPr marL="285750" indent="-285750">
              <a:buFont typeface="Calibri"/>
              <a:buChar char="-"/>
            </a:pPr>
            <a:r>
              <a:rPr lang="en-US" sz="2400" dirty="0" err="1">
                <a:latin typeface="Arial"/>
                <a:ea typeface="+mn-lt"/>
                <a:cs typeface="Arial"/>
              </a:rPr>
              <a:t>Разумљивост</a:t>
            </a:r>
            <a:r>
              <a:rPr lang="en-US" sz="2400" dirty="0">
                <a:latin typeface="Arial"/>
                <a:ea typeface="+mn-lt"/>
                <a:cs typeface="Arial"/>
              </a:rPr>
              <a:t> 2</a:t>
            </a:r>
          </a:p>
          <a:p>
            <a:pPr marL="285750" indent="-285750">
              <a:buFont typeface="Calibri"/>
              <a:buChar char="-"/>
            </a:pPr>
            <a:r>
              <a:rPr lang="en-US" sz="2400" dirty="0">
                <a:latin typeface="Arial"/>
                <a:ea typeface="+mn-lt"/>
                <a:cs typeface="Arial"/>
              </a:rPr>
              <a:t>4 </a:t>
            </a:r>
            <a:r>
              <a:rPr lang="en-US" sz="2400" dirty="0" err="1">
                <a:latin typeface="Arial"/>
                <a:ea typeface="+mn-lt"/>
                <a:cs typeface="Arial"/>
              </a:rPr>
              <a:t>грешке</a:t>
            </a:r>
            <a:endParaRPr lang="en-US" sz="2400" dirty="0">
              <a:latin typeface="Arial"/>
              <a:ea typeface="+mn-lt"/>
              <a:cs typeface="Arial"/>
            </a:endParaRPr>
          </a:p>
          <a:p>
            <a:r>
              <a:rPr lang="en-US" sz="2400" dirty="0" err="1">
                <a:solidFill>
                  <a:srgbClr val="C00000"/>
                </a:solidFill>
                <a:latin typeface="Arial"/>
                <a:ea typeface="+mn-lt"/>
                <a:cs typeface="Arial"/>
              </a:rPr>
              <a:t>Мешовити</a:t>
            </a:r>
            <a:endParaRPr lang="en-US" sz="2400" dirty="0">
              <a:solidFill>
                <a:srgbClr val="C00000"/>
              </a:solidFill>
              <a:latin typeface="Arial"/>
              <a:ea typeface="+mn-lt"/>
              <a:cs typeface="Arial"/>
            </a:endParaRPr>
          </a:p>
          <a:p>
            <a:pPr marL="285750" indent="-285750">
              <a:buFont typeface="Calibri"/>
              <a:buChar char="-"/>
            </a:pPr>
            <a:r>
              <a:rPr lang="en-US" sz="2400" dirty="0" err="1">
                <a:latin typeface="Arial"/>
                <a:ea typeface="+mn-lt"/>
                <a:cs typeface="Arial"/>
              </a:rPr>
              <a:t>Природност</a:t>
            </a:r>
            <a:r>
              <a:rPr lang="en-US" sz="2400" dirty="0">
                <a:latin typeface="Arial"/>
                <a:ea typeface="+mn-lt"/>
                <a:cs typeface="Arial"/>
              </a:rPr>
              <a:t> 3</a:t>
            </a:r>
          </a:p>
          <a:p>
            <a:pPr marL="285750" indent="-285750">
              <a:buFont typeface="Calibri"/>
              <a:buChar char="-"/>
            </a:pPr>
            <a:r>
              <a:rPr lang="en-US" sz="2400" dirty="0" err="1">
                <a:latin typeface="Arial"/>
                <a:ea typeface="+mn-lt"/>
                <a:cs typeface="Arial"/>
              </a:rPr>
              <a:t>Разумљивост</a:t>
            </a:r>
            <a:r>
              <a:rPr lang="en-US" sz="2400" dirty="0">
                <a:latin typeface="Arial"/>
                <a:ea typeface="+mn-lt"/>
                <a:cs typeface="Arial"/>
              </a:rPr>
              <a:t> 2</a:t>
            </a:r>
          </a:p>
          <a:p>
            <a:pPr marL="285750" indent="-285750">
              <a:buFont typeface="Calibri"/>
              <a:buChar char="-"/>
            </a:pPr>
            <a:r>
              <a:rPr lang="en-US" sz="2400" dirty="0">
                <a:latin typeface="Arial"/>
                <a:ea typeface="+mn-lt"/>
                <a:cs typeface="Arial"/>
              </a:rPr>
              <a:t>4 </a:t>
            </a:r>
            <a:r>
              <a:rPr lang="en-US" sz="2400" dirty="0" err="1">
                <a:latin typeface="Arial"/>
                <a:ea typeface="+mn-lt"/>
                <a:cs typeface="Arial"/>
              </a:rPr>
              <a:t>грешке</a:t>
            </a:r>
            <a:endParaRPr lang="en-US" sz="2400">
              <a:latin typeface="Arial"/>
              <a:ea typeface="Calibri"/>
              <a:cs typeface="Arial"/>
            </a:endParaRPr>
          </a:p>
        </p:txBody>
      </p:sp>
    </p:spTree>
    <p:extLst>
      <p:ext uri="{BB962C8B-B14F-4D97-AF65-F5344CB8AC3E}">
        <p14:creationId xmlns:p14="http://schemas.microsoft.com/office/powerpoint/2010/main" val="8131201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470A3-7145-FD79-86F0-1EF2160989D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05B0F03-6CB0-2459-1FDF-10684246E85D}"/>
              </a:ext>
            </a:extLst>
          </p:cNvPr>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1AED45C-B9D6-2E03-7D74-37F9DC46A07E}"/>
              </a:ext>
            </a:extLst>
          </p:cNvPr>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A4BEE9B-06C8-BE12-DB08-653CE7597B93}"/>
              </a:ext>
            </a:extLst>
          </p:cNvPr>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E1B7BF0-F7B6-D91F-5B1D-419E3C7A8C5F}"/>
              </a:ext>
            </a:extLst>
          </p:cNvPr>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8FF3222-C86E-2F17-37CB-58F26B14B97E}"/>
              </a:ext>
            </a:extLst>
          </p:cNvPr>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9DD6537-7918-FB38-1723-F14AAA19B894}"/>
              </a:ext>
            </a:extLst>
          </p:cNvPr>
          <p:cNvSpPr/>
          <p:nvPr/>
        </p:nvSpPr>
        <p:spPr>
          <a:xfrm>
            <a:off x="72255" y="1196752"/>
            <a:ext cx="8892233" cy="577850"/>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marL="355600" algn="just" defTabSz="457152" hangingPunct="1">
              <a:lnSpc>
                <a:spcPct val="150000"/>
              </a:lnSpc>
              <a:defRPr/>
            </a:pPr>
            <a:endParaRPr lang="sr-Cyrl-RS" sz="2400" dirty="0"/>
          </a:p>
        </p:txBody>
      </p:sp>
      <p:sp>
        <p:nvSpPr>
          <p:cNvPr id="15" name="Rectangle 14">
            <a:extLst>
              <a:ext uri="{FF2B5EF4-FFF2-40B4-BE49-F238E27FC236}">
                <a16:creationId xmlns:a16="http://schemas.microsoft.com/office/drawing/2014/main" id="{89B1BDCA-AD0F-19E0-E50C-3FEA72391427}"/>
              </a:ext>
            </a:extLst>
          </p:cNvPr>
          <p:cNvSpPr/>
          <p:nvPr/>
        </p:nvSpPr>
        <p:spPr>
          <a:xfrm>
            <a:off x="-464"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9C9A3AC-7CEC-F471-0708-8754670EB9AA}"/>
              </a:ext>
            </a:extLst>
          </p:cNvPr>
          <p:cNvSpPr/>
          <p:nvPr/>
        </p:nvSpPr>
        <p:spPr>
          <a:xfrm>
            <a:off x="502576" y="438622"/>
            <a:ext cx="6624736" cy="607539"/>
          </a:xfrm>
          <a:prstGeom prst="rect">
            <a:avLst/>
          </a:prstGeom>
        </p:spPr>
        <p:txBody>
          <a:bodyPr wrap="square" lIns="91440" tIns="45720" rIns="91440" bIns="45720" anchor="t">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None/>
              <a:defRPr/>
            </a:pPr>
            <a:r>
              <a:rPr lang="sr-Cyrl-RS" sz="3600" b="1">
                <a:solidFill>
                  <a:schemeClr val="bg1"/>
                </a:solidFill>
                <a:effectLst>
                  <a:outerShdw blurRad="38100" dist="38100" dir="2700000" algn="tl">
                    <a:srgbClr val="000000">
                      <a:alpha val="43137"/>
                    </a:srgbClr>
                  </a:outerShdw>
                </a:effectLst>
                <a:latin typeface="Arial"/>
                <a:cs typeface="Arial"/>
              </a:rPr>
              <a:t>Закључак</a:t>
            </a:r>
            <a:endParaRPr lang="en-US" b="1">
              <a:solidFill>
                <a:schemeClr val="bg1"/>
              </a:solidFill>
            </a:endParaRPr>
          </a:p>
        </p:txBody>
      </p:sp>
      <p:sp>
        <p:nvSpPr>
          <p:cNvPr id="2" name="TextBox 1">
            <a:extLst>
              <a:ext uri="{FF2B5EF4-FFF2-40B4-BE49-F238E27FC236}">
                <a16:creationId xmlns:a16="http://schemas.microsoft.com/office/drawing/2014/main" id="{F92D49DE-B876-0FD7-1EC4-CA87339103F9}"/>
              </a:ext>
            </a:extLst>
          </p:cNvPr>
          <p:cNvSpPr txBox="1"/>
          <p:nvPr/>
        </p:nvSpPr>
        <p:spPr>
          <a:xfrm>
            <a:off x="714371" y="1586919"/>
            <a:ext cx="6700439"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err="1">
                <a:solidFill>
                  <a:schemeClr val="accent6">
                    <a:lumMod val="76000"/>
                  </a:schemeClr>
                </a:solidFill>
                <a:latin typeface="Arial"/>
                <a:ea typeface="+mn-lt"/>
                <a:cs typeface="Arial"/>
              </a:rPr>
              <a:t>Успешно</a:t>
            </a:r>
            <a:endParaRPr lang="en-US" sz="2400" dirty="0">
              <a:solidFill>
                <a:schemeClr val="accent6">
                  <a:lumMod val="76000"/>
                </a:schemeClr>
              </a:solidFill>
              <a:latin typeface="Arial"/>
              <a:ea typeface="+mn-lt"/>
              <a:cs typeface="Arial"/>
            </a:endParaRPr>
          </a:p>
          <a:p>
            <a:pPr marL="285750" indent="-285750">
              <a:buFont typeface="Calibri"/>
              <a:buChar char="-"/>
            </a:pPr>
            <a:r>
              <a:rPr lang="en-US" sz="2400" dirty="0" err="1">
                <a:latin typeface="Arial"/>
                <a:ea typeface="+mn-lt"/>
                <a:cs typeface="Arial"/>
              </a:rPr>
              <a:t>Генерисано</a:t>
            </a:r>
            <a:r>
              <a:rPr lang="en-US" sz="2400" dirty="0">
                <a:latin typeface="Arial"/>
                <a:ea typeface="+mn-lt"/>
                <a:cs typeface="Arial"/>
              </a:rPr>
              <a:t> </a:t>
            </a:r>
            <a:r>
              <a:rPr lang="en-US" sz="2400" dirty="0" err="1">
                <a:latin typeface="Arial"/>
                <a:ea typeface="+mn-lt"/>
                <a:cs typeface="Arial"/>
              </a:rPr>
              <a:t>свих</a:t>
            </a:r>
            <a:r>
              <a:rPr lang="en-US" sz="2400" dirty="0">
                <a:latin typeface="Arial"/>
                <a:ea typeface="+mn-lt"/>
                <a:cs typeface="Arial"/>
              </a:rPr>
              <a:t> 10 WAV </a:t>
            </a:r>
            <a:r>
              <a:rPr lang="en-US" sz="2400" dirty="0" err="1">
                <a:latin typeface="Arial"/>
                <a:ea typeface="+mn-lt"/>
                <a:cs typeface="Arial"/>
              </a:rPr>
              <a:t>примера</a:t>
            </a:r>
            <a:r>
              <a:rPr lang="en-US" sz="2400" dirty="0">
                <a:latin typeface="Arial"/>
                <a:ea typeface="+mn-lt"/>
                <a:cs typeface="Arial"/>
              </a:rPr>
              <a:t>.</a:t>
            </a:r>
          </a:p>
          <a:p>
            <a:r>
              <a:rPr lang="en-US" sz="2400" dirty="0" err="1">
                <a:solidFill>
                  <a:schemeClr val="accent4">
                    <a:lumMod val="76000"/>
                  </a:schemeClr>
                </a:solidFill>
                <a:latin typeface="Arial"/>
                <a:ea typeface="+mn-lt"/>
                <a:cs typeface="Arial"/>
              </a:rPr>
              <a:t>Споро</a:t>
            </a:r>
            <a:endParaRPr lang="en-US" sz="2400" dirty="0">
              <a:solidFill>
                <a:schemeClr val="accent4">
                  <a:lumMod val="76000"/>
                </a:schemeClr>
              </a:solidFill>
              <a:latin typeface="Arial"/>
              <a:ea typeface="+mn-lt"/>
              <a:cs typeface="Arial"/>
            </a:endParaRPr>
          </a:p>
          <a:p>
            <a:pPr marL="285750" indent="-285750">
              <a:buFont typeface="Calibri"/>
              <a:buChar char="-"/>
            </a:pPr>
            <a:r>
              <a:rPr lang="en-US" sz="2400" dirty="0">
                <a:latin typeface="Arial"/>
                <a:ea typeface="+mn-lt"/>
                <a:cs typeface="Arial"/>
              </a:rPr>
              <a:t>CPU RTF </a:t>
            </a:r>
            <a:r>
              <a:rPr lang="en-US" sz="2400" dirty="0" err="1">
                <a:latin typeface="Arial"/>
                <a:ea typeface="+mn-lt"/>
                <a:cs typeface="Arial"/>
              </a:rPr>
              <a:t>је</a:t>
            </a:r>
            <a:r>
              <a:rPr lang="en-US" sz="2400" dirty="0">
                <a:latin typeface="Arial"/>
                <a:ea typeface="+mn-lt"/>
                <a:cs typeface="Arial"/>
              </a:rPr>
              <a:t> у </a:t>
            </a:r>
            <a:r>
              <a:rPr lang="en-US" sz="2400" dirty="0" err="1">
                <a:latin typeface="Arial"/>
                <a:ea typeface="+mn-lt"/>
                <a:cs typeface="Arial"/>
              </a:rPr>
              <a:t>свим</a:t>
            </a:r>
            <a:r>
              <a:rPr lang="en-US" sz="2400" dirty="0">
                <a:latin typeface="Arial"/>
                <a:ea typeface="+mn-lt"/>
                <a:cs typeface="Arial"/>
              </a:rPr>
              <a:t> </a:t>
            </a:r>
            <a:r>
              <a:rPr lang="en-US" sz="2400" dirty="0" err="1">
                <a:latin typeface="Arial"/>
                <a:ea typeface="+mn-lt"/>
                <a:cs typeface="Arial"/>
              </a:rPr>
              <a:t>случајевима</a:t>
            </a:r>
            <a:r>
              <a:rPr lang="en-US" sz="2400" dirty="0">
                <a:latin typeface="Arial"/>
                <a:ea typeface="+mn-lt"/>
                <a:cs typeface="Arial"/>
              </a:rPr>
              <a:t> </a:t>
            </a:r>
            <a:r>
              <a:rPr lang="en-US" sz="2400" dirty="0" err="1">
                <a:latin typeface="Arial"/>
                <a:ea typeface="+mn-lt"/>
                <a:cs typeface="Arial"/>
              </a:rPr>
              <a:t>већи</a:t>
            </a:r>
            <a:r>
              <a:rPr lang="en-US" sz="2400" dirty="0">
                <a:latin typeface="Arial"/>
                <a:ea typeface="+mn-lt"/>
                <a:cs typeface="Arial"/>
              </a:rPr>
              <a:t> </a:t>
            </a:r>
            <a:r>
              <a:rPr lang="en-US" sz="2400" dirty="0" err="1">
                <a:latin typeface="Arial"/>
                <a:ea typeface="+mn-lt"/>
                <a:cs typeface="Arial"/>
              </a:rPr>
              <a:t>од</a:t>
            </a:r>
            <a:r>
              <a:rPr lang="en-US" sz="2400" dirty="0">
                <a:latin typeface="Arial"/>
                <a:ea typeface="+mn-lt"/>
                <a:cs typeface="Arial"/>
              </a:rPr>
              <a:t> 1.</a:t>
            </a:r>
          </a:p>
          <a:p>
            <a:r>
              <a:rPr lang="en-US" sz="2400" dirty="0" err="1">
                <a:solidFill>
                  <a:schemeClr val="accent4">
                    <a:lumMod val="76000"/>
                  </a:schemeClr>
                </a:solidFill>
                <a:latin typeface="Arial"/>
                <a:ea typeface="+mn-lt"/>
                <a:cs typeface="Arial"/>
              </a:rPr>
              <a:t>Језик</a:t>
            </a:r>
            <a:endParaRPr lang="en-US" sz="2400" dirty="0">
              <a:solidFill>
                <a:schemeClr val="accent4">
                  <a:lumMod val="76000"/>
                </a:schemeClr>
              </a:solidFill>
              <a:latin typeface="Arial"/>
              <a:ea typeface="+mn-lt"/>
              <a:cs typeface="Arial"/>
            </a:endParaRPr>
          </a:p>
          <a:p>
            <a:pPr marL="285750" indent="-285750">
              <a:buFont typeface="Calibri"/>
              <a:buChar char="-"/>
            </a:pPr>
            <a:r>
              <a:rPr lang="en-US" sz="2400" dirty="0" err="1">
                <a:latin typeface="Arial"/>
                <a:ea typeface="+mn-lt"/>
                <a:cs typeface="Arial"/>
              </a:rPr>
              <a:t>Српски</a:t>
            </a:r>
            <a:r>
              <a:rPr lang="en-US" sz="2400" dirty="0">
                <a:latin typeface="Arial"/>
                <a:ea typeface="+mn-lt"/>
                <a:cs typeface="Arial"/>
              </a:rPr>
              <a:t> и </a:t>
            </a:r>
            <a:r>
              <a:rPr lang="en-US" sz="2400" dirty="0" err="1">
                <a:latin typeface="Arial"/>
                <a:ea typeface="+mn-lt"/>
                <a:cs typeface="Arial"/>
              </a:rPr>
              <a:t>мешовити</a:t>
            </a:r>
            <a:r>
              <a:rPr lang="en-US" sz="2400" dirty="0">
                <a:latin typeface="Arial"/>
                <a:ea typeface="+mn-lt"/>
                <a:cs typeface="Arial"/>
              </a:rPr>
              <a:t> </a:t>
            </a:r>
            <a:r>
              <a:rPr lang="en-US" sz="2400" dirty="0" err="1">
                <a:latin typeface="Arial"/>
                <a:ea typeface="+mn-lt"/>
                <a:cs typeface="Arial"/>
              </a:rPr>
              <a:t>текст</a:t>
            </a:r>
            <a:r>
              <a:rPr lang="en-US" sz="2400" dirty="0">
                <a:latin typeface="Arial"/>
                <a:ea typeface="+mn-lt"/>
                <a:cs typeface="Arial"/>
              </a:rPr>
              <a:t> </a:t>
            </a:r>
            <a:r>
              <a:rPr lang="en-US" sz="2400" dirty="0" err="1">
                <a:latin typeface="Arial"/>
                <a:ea typeface="+mn-lt"/>
                <a:cs typeface="Arial"/>
              </a:rPr>
              <a:t>су</a:t>
            </a:r>
            <a:r>
              <a:rPr lang="en-US" sz="2400" dirty="0">
                <a:latin typeface="Arial"/>
                <a:ea typeface="+mn-lt"/>
                <a:cs typeface="Arial"/>
              </a:rPr>
              <a:t> </a:t>
            </a:r>
            <a:r>
              <a:rPr lang="en-US" sz="2400" dirty="0" err="1">
                <a:latin typeface="Arial"/>
                <a:ea typeface="+mn-lt"/>
                <a:cs typeface="Arial"/>
              </a:rPr>
              <a:t>главно</a:t>
            </a:r>
            <a:r>
              <a:rPr lang="en-US" sz="2400" dirty="0">
                <a:latin typeface="Arial"/>
                <a:ea typeface="+mn-lt"/>
                <a:cs typeface="Arial"/>
              </a:rPr>
              <a:t> </a:t>
            </a:r>
            <a:r>
              <a:rPr lang="en-US" sz="2400" dirty="0" err="1">
                <a:latin typeface="Arial"/>
                <a:ea typeface="+mn-lt"/>
                <a:cs typeface="Arial"/>
              </a:rPr>
              <a:t>ограничење</a:t>
            </a:r>
            <a:r>
              <a:rPr lang="en-US" sz="2400" dirty="0">
                <a:latin typeface="Arial"/>
                <a:ea typeface="+mn-lt"/>
                <a:cs typeface="Arial"/>
              </a:rPr>
              <a:t>.</a:t>
            </a:r>
            <a:endParaRPr lang="en-US" sz="2400">
              <a:latin typeface="Arial"/>
              <a:ea typeface="Calibri"/>
              <a:cs typeface="Arial"/>
            </a:endParaRPr>
          </a:p>
        </p:txBody>
      </p:sp>
    </p:spTree>
    <p:extLst>
      <p:ext uri="{BB962C8B-B14F-4D97-AF65-F5344CB8AC3E}">
        <p14:creationId xmlns:p14="http://schemas.microsoft.com/office/powerpoint/2010/main" val="1635143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88032"/>
            <a:ext cx="7127776" cy="908720"/>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0" y="1196752"/>
            <a:ext cx="395536" cy="100811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0" y="5589240"/>
            <a:ext cx="395536" cy="1268760"/>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4221088"/>
            <a:ext cx="395536" cy="1368152"/>
          </a:xfrm>
          <a:prstGeom prst="rect">
            <a:avLst/>
          </a:prstGeom>
          <a:solidFill>
            <a:srgbClr val="339966"/>
          </a:solidFill>
          <a:ln>
            <a:solidFill>
              <a:srgbClr val="3399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2204864"/>
            <a:ext cx="395536" cy="2016224"/>
          </a:xfrm>
          <a:prstGeom prst="rect">
            <a:avLst/>
          </a:prstGeom>
          <a:solidFill>
            <a:srgbClr val="003300"/>
          </a:solidFill>
          <a:ln>
            <a:solidFill>
              <a:srgbClr val="00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64" y="0"/>
            <a:ext cx="396000" cy="284400"/>
          </a:xfrm>
          <a:prstGeom prst="rect">
            <a:avLst/>
          </a:prstGeom>
          <a:solidFill>
            <a:schemeClr val="tx2">
              <a:lumMod val="5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445197"/>
            <a:ext cx="5292080" cy="607539"/>
          </a:xfrm>
          <a:prstGeom prst="rect">
            <a:avLst/>
          </a:prstGeom>
        </p:spPr>
        <p:txBody>
          <a:bodyPr wrap="square">
            <a:spAutoFit/>
          </a:bodyPr>
          <a:lstStyle>
            <a:defPPr>
              <a:defRPr lang="en-GB"/>
            </a:defPPr>
            <a:lvl1pPr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1pPr>
            <a:lvl2pPr marL="741363" indent="-28416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2pPr>
            <a:lvl3pPr marL="11414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3pPr>
            <a:lvl4pPr marL="15986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4pPr>
            <a:lvl5pPr marL="2055813" indent="-227013" algn="l" defTabSz="455613" rtl="0" fontAlgn="base" hangingPunct="0">
              <a:lnSpc>
                <a:spcPct val="93000"/>
              </a:lnSpc>
              <a:spcBef>
                <a:spcPct val="0"/>
              </a:spcBef>
              <a:spcAft>
                <a:spcPct val="0"/>
              </a:spcAft>
              <a:buClr>
                <a:srgbClr val="000000"/>
              </a:buClr>
              <a:buSzPct val="100000"/>
              <a:buFont typeface="Times New Roman" pitchFamily="16" charset="0"/>
              <a:defRPr kern="1200">
                <a:solidFill>
                  <a:schemeClr val="tx1"/>
                </a:solidFill>
                <a:latin typeface="Arial" charset="0"/>
                <a:ea typeface="WenQuanYi Zen Hei" charset="0"/>
                <a:cs typeface="WenQuanYi Zen Hei" charset="0"/>
              </a:defRPr>
            </a:lvl5pPr>
            <a:lvl6pPr marL="2286000" algn="l" defTabSz="914400" rtl="0" eaLnBrk="1" latinLnBrk="0" hangingPunct="1">
              <a:defRPr kern="1200">
                <a:solidFill>
                  <a:schemeClr val="tx1"/>
                </a:solidFill>
                <a:latin typeface="Arial" charset="0"/>
                <a:ea typeface="WenQuanYi Zen Hei" charset="0"/>
                <a:cs typeface="WenQuanYi Zen Hei" charset="0"/>
              </a:defRPr>
            </a:lvl6pPr>
            <a:lvl7pPr marL="2743200" algn="l" defTabSz="914400" rtl="0" eaLnBrk="1" latinLnBrk="0" hangingPunct="1">
              <a:defRPr kern="1200">
                <a:solidFill>
                  <a:schemeClr val="tx1"/>
                </a:solidFill>
                <a:latin typeface="Arial" charset="0"/>
                <a:ea typeface="WenQuanYi Zen Hei" charset="0"/>
                <a:cs typeface="WenQuanYi Zen Hei" charset="0"/>
              </a:defRPr>
            </a:lvl7pPr>
            <a:lvl8pPr marL="3200400" algn="l" defTabSz="914400" rtl="0" eaLnBrk="1" latinLnBrk="0" hangingPunct="1">
              <a:defRPr kern="1200">
                <a:solidFill>
                  <a:schemeClr val="tx1"/>
                </a:solidFill>
                <a:latin typeface="Arial" charset="0"/>
                <a:ea typeface="WenQuanYi Zen Hei" charset="0"/>
                <a:cs typeface="WenQuanYi Zen Hei" charset="0"/>
              </a:defRPr>
            </a:lvl8pPr>
            <a:lvl9pPr marL="3657600" algn="l" defTabSz="914400" rtl="0" eaLnBrk="1" latinLnBrk="0" hangingPunct="1">
              <a:defRPr kern="1200">
                <a:solidFill>
                  <a:schemeClr val="tx1"/>
                </a:solidFill>
                <a:latin typeface="Arial" charset="0"/>
                <a:ea typeface="WenQuanYi Zen Hei" charset="0"/>
                <a:cs typeface="WenQuanYi Zen Hei" charset="0"/>
              </a:defRPr>
            </a:lvl9pPr>
          </a:lstStyle>
          <a:p>
            <a:pPr algn="ctr" defTabSz="457152">
              <a:buFont typeface="Times New Roman" pitchFamily="18" charset="0"/>
              <a:buNone/>
              <a:defRPr/>
            </a:pPr>
            <a:endParaRPr lang="en-GB" sz="3600" b="1" dirty="0">
              <a:solidFill>
                <a:schemeClr val="bg1"/>
              </a:solidFill>
              <a:effectLst>
                <a:outerShdw blurRad="38100" dist="38100" dir="2700000" algn="tl">
                  <a:srgbClr val="000000">
                    <a:alpha val="43137"/>
                  </a:srgbClr>
                </a:outerShdw>
              </a:effectLst>
            </a:endParaRPr>
          </a:p>
        </p:txBody>
      </p:sp>
      <p:pic>
        <p:nvPicPr>
          <p:cNvPr id="11" name="Picture 2" descr="Hvala na pažnji - Minđuše(Nausnice)">
            <a:extLst>
              <a:ext uri="{FF2B5EF4-FFF2-40B4-BE49-F238E27FC236}">
                <a16:creationId xmlns:a16="http://schemas.microsoft.com/office/drawing/2014/main" id="{C4015D04-06C6-481D-BE30-7B7DD94D10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22" y="1214041"/>
            <a:ext cx="7185156" cy="5394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7191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a01557c2-69c9-45ef-934d-ac831d30c76a" xsi:nil="true"/>
    <lcf76f155ced4ddcb4097134ff3c332f xmlns="665fbea9-7029-4f57-b1f8-90dd317467d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5B39425E223BB488DBD11C1820B9B3A" ma:contentTypeVersion="13" ma:contentTypeDescription="Create a new document." ma:contentTypeScope="" ma:versionID="c3c49bf9b49e7cc9fac6ef3d34d3830c">
  <xsd:schema xmlns:xsd="http://www.w3.org/2001/XMLSchema" xmlns:xs="http://www.w3.org/2001/XMLSchema" xmlns:p="http://schemas.microsoft.com/office/2006/metadata/properties" xmlns:ns2="665fbea9-7029-4f57-b1f8-90dd317467d5" xmlns:ns3="a01557c2-69c9-45ef-934d-ac831d30c76a" targetNamespace="http://schemas.microsoft.com/office/2006/metadata/properties" ma:root="true" ma:fieldsID="0fb6887f4a9fa09750db520e4e37d290" ns2:_="" ns3:_="">
    <xsd:import namespace="665fbea9-7029-4f57-b1f8-90dd317467d5"/>
    <xsd:import namespace="a01557c2-69c9-45ef-934d-ac831d30c76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fbea9-7029-4f57-b1f8-90dd317467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7af6a092-5060-4be4-85e7-89201abfb91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1557c2-69c9-45ef-934d-ac831d30c76a"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633a5e8d-ef6b-479b-b541-508b52766956}" ma:internalName="TaxCatchAll" ma:showField="CatchAllData" ma:web="a01557c2-69c9-45ef-934d-ac831d30c76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85D39A2-EFD4-43DE-8959-26D876CD8F0D}">
  <ds:schemaRefs>
    <ds:schemaRef ds:uri="http://schemas.microsoft.com/sharepoint/v3/contenttype/forms"/>
  </ds:schemaRefs>
</ds:datastoreItem>
</file>

<file path=customXml/itemProps2.xml><?xml version="1.0" encoding="utf-8"?>
<ds:datastoreItem xmlns:ds="http://schemas.openxmlformats.org/officeDocument/2006/customXml" ds:itemID="{99634095-88A5-4F7F-AC33-0A63FF3A4490}">
  <ds:schemaRefs>
    <ds:schemaRef ds:uri="http://schemas.microsoft.com/office/2006/metadata/properties"/>
    <ds:schemaRef ds:uri="http://schemas.microsoft.com/office/infopath/2007/PartnerControls"/>
    <ds:schemaRef ds:uri="a01557c2-69c9-45ef-934d-ac831d30c76a"/>
    <ds:schemaRef ds:uri="665fbea9-7029-4f57-b1f8-90dd317467d5"/>
  </ds:schemaRefs>
</ds:datastoreItem>
</file>

<file path=customXml/itemProps3.xml><?xml version="1.0" encoding="utf-8"?>
<ds:datastoreItem xmlns:ds="http://schemas.openxmlformats.org/officeDocument/2006/customXml" ds:itemID="{2B9E2ECD-EC47-43C9-9D49-628E970BBF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fbea9-7029-4f57-b1f8-90dd317467d5"/>
    <ds:schemaRef ds:uri="a01557c2-69c9-45ef-934d-ac831d30c76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13695</TotalTime>
  <Words>121</Words>
  <Application>Microsoft Office PowerPoint</Application>
  <PresentationFormat>On-screen Show (4:3)</PresentationFormat>
  <Paragraphs>31</Paragraphs>
  <Slides>34</Slides>
  <Notes>34</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dc:creator>
  <cp:lastModifiedBy>Jelena</cp:lastModifiedBy>
  <cp:revision>1018</cp:revision>
  <dcterms:created xsi:type="dcterms:W3CDTF">2019-01-09T23:12:31Z</dcterms:created>
  <dcterms:modified xsi:type="dcterms:W3CDTF">2026-07-08T20:46:01Z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0x010100D5B39425E223BB488DBD11C1820B9B3A</vt:lpwstr>
  </property>
</Properties>
</file>